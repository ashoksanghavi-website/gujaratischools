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2" r:id="rId2"/>
    <p:sldId id="257" r:id="rId3"/>
    <p:sldId id="258" r:id="rId4"/>
    <p:sldId id="259" r:id="rId5"/>
    <p:sldId id="265" r:id="rId6"/>
    <p:sldId id="260" r:id="rId7"/>
    <p:sldId id="263" r:id="rId8"/>
    <p:sldId id="264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8" autoAdjust="0"/>
  </p:normalViewPr>
  <p:slideViewPr>
    <p:cSldViewPr>
      <p:cViewPr varScale="1">
        <p:scale>
          <a:sx n="101" d="100"/>
          <a:sy n="101" d="100"/>
        </p:scale>
        <p:origin x="-26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49F5A8-E18A-45AD-AEE0-65562E12C405}" type="datetimeFigureOut">
              <a:rPr lang="en-GB" smtClean="0"/>
              <a:t>25/10/2018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DC90B-E2AD-480F-AF42-99E4E84373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1394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46416-80FE-44B6-A0F4-20438F023EEA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1466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FAAAF34-5978-4D8E-9239-DC830A153525}" type="datetimeFigureOut">
              <a:rPr lang="en-GB" smtClean="0"/>
              <a:t>25/10/2018</a:t>
            </a:fld>
            <a:endParaRPr lang="en-GB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3F4DA03-C8FB-424B-8577-156B4EE27DF7}" type="slidenum">
              <a:rPr lang="en-GB" smtClean="0"/>
              <a:t>‹#›</a:t>
            </a:fld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FAAAF34-5978-4D8E-9239-DC830A153525}" type="datetimeFigureOut">
              <a:rPr lang="en-GB" smtClean="0"/>
              <a:t>25/10/2018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3F4DA03-C8FB-424B-8577-156B4EE27DF7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FAAAF34-5978-4D8E-9239-DC830A153525}" type="datetimeFigureOut">
              <a:rPr lang="en-GB" smtClean="0"/>
              <a:t>25/10/2018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3F4DA03-C8FB-424B-8577-156B4EE27DF7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FAAAF34-5978-4D8E-9239-DC830A153525}" type="datetimeFigureOut">
              <a:rPr lang="en-GB" smtClean="0"/>
              <a:t>25/10/2018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3F4DA03-C8FB-424B-8577-156B4EE27DF7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FAAAF34-5978-4D8E-9239-DC830A153525}" type="datetimeFigureOut">
              <a:rPr lang="en-GB" smtClean="0"/>
              <a:t>25/10/2018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3F4DA03-C8FB-424B-8577-156B4EE27DF7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FAAAF34-5978-4D8E-9239-DC830A153525}" type="datetimeFigureOut">
              <a:rPr lang="en-GB" smtClean="0"/>
              <a:t>25/10/2018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3F4DA03-C8FB-424B-8577-156B4EE27DF7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FAAAF34-5978-4D8E-9239-DC830A153525}" type="datetimeFigureOut">
              <a:rPr lang="en-GB" smtClean="0"/>
              <a:t>25/10/2018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3F4DA03-C8FB-424B-8577-156B4EE27DF7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FAAAF34-5978-4D8E-9239-DC830A153525}" type="datetimeFigureOut">
              <a:rPr lang="en-GB" smtClean="0"/>
              <a:t>25/10/2018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3F4DA03-C8FB-424B-8577-156B4EE27DF7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FAAAF34-5978-4D8E-9239-DC830A153525}" type="datetimeFigureOut">
              <a:rPr lang="en-GB" smtClean="0"/>
              <a:t>25/10/2018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3F4DA03-C8FB-424B-8577-156B4EE27DF7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FAAAF34-5978-4D8E-9239-DC830A153525}" type="datetimeFigureOut">
              <a:rPr lang="en-GB" smtClean="0"/>
              <a:t>25/10/2018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3F4DA03-C8FB-424B-8577-156B4EE27DF7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FAAAF34-5978-4D8E-9239-DC830A153525}" type="datetimeFigureOut">
              <a:rPr lang="en-GB" smtClean="0"/>
              <a:t>25/10/2018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3F4DA03-C8FB-424B-8577-156B4EE27DF7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6FAAAF34-5978-4D8E-9239-DC830A153525}" type="datetimeFigureOut">
              <a:rPr lang="en-GB" smtClean="0"/>
              <a:t>25/10/2018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GB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23F4DA03-C8FB-424B-8577-156B4EE27DF7}" type="slidenum">
              <a:rPr lang="en-GB" smtClean="0"/>
              <a:t>‹#›</a:t>
            </a:fld>
            <a:endParaRPr lang="en-GB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3608" y="404664"/>
            <a:ext cx="7848872" cy="4752528"/>
          </a:xfrm>
        </p:spPr>
        <p:txBody>
          <a:bodyPr>
            <a:normAutofit/>
          </a:bodyPr>
          <a:lstStyle/>
          <a:p>
            <a:pPr algn="ctr"/>
            <a:r>
              <a:rPr lang="en-GB" sz="2000" b="1" dirty="0" smtClean="0">
                <a:solidFill>
                  <a:srgbClr val="C00000"/>
                </a:solidFill>
              </a:rPr>
              <a:t>Consortium </a:t>
            </a:r>
            <a:r>
              <a:rPr lang="en-GB" sz="2000" b="1" dirty="0" smtClean="0">
                <a:solidFill>
                  <a:srgbClr val="C00000"/>
                </a:solidFill>
              </a:rPr>
              <a:t>of Gujarati Schools</a:t>
            </a:r>
            <a:r>
              <a:rPr lang="en-GB" dirty="0"/>
              <a:t/>
            </a:r>
            <a:br>
              <a:rPr lang="en-GB" dirty="0"/>
            </a:br>
            <a:r>
              <a:rPr lang="en-GB" b="1" dirty="0" smtClean="0">
                <a:solidFill>
                  <a:srgbClr val="C00000"/>
                </a:solidFill>
              </a:rPr>
              <a:t/>
            </a:r>
            <a:br>
              <a:rPr lang="en-GB" b="1" dirty="0" smtClean="0">
                <a:solidFill>
                  <a:srgbClr val="C00000"/>
                </a:solidFill>
              </a:rPr>
            </a:br>
            <a:r>
              <a:rPr lang="en-GB" sz="3600" b="1" dirty="0">
                <a:solidFill>
                  <a:srgbClr val="C00000"/>
                </a:solidFill>
              </a:rPr>
              <a:t>Leading, Learning &amp; Teaching</a:t>
            </a:r>
            <a:r>
              <a:rPr lang="en-GB" sz="27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27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7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27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/>
              <a:t/>
            </a:r>
            <a:br>
              <a:rPr lang="en-GB" dirty="0"/>
            </a:br>
            <a:r>
              <a:rPr lang="en-GB" sz="3100" dirty="0" smtClean="0"/>
              <a:t/>
            </a:r>
            <a:br>
              <a:rPr lang="en-GB" sz="3100" dirty="0" smtClean="0"/>
            </a:br>
            <a:endParaRPr lang="en-GB" sz="31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5616" y="3501008"/>
            <a:ext cx="7560840" cy="2376264"/>
          </a:xfrm>
        </p:spPr>
        <p:txBody>
          <a:bodyPr>
            <a:normAutofit fontScale="32500" lnSpcReduction="20000"/>
          </a:bodyPr>
          <a:lstStyle/>
          <a:p>
            <a:endParaRPr lang="en-GB" dirty="0" smtClean="0"/>
          </a:p>
          <a:p>
            <a:pPr algn="ctr"/>
            <a:endParaRPr lang="en-GB" sz="4300" b="1" u="sng" dirty="0" smtClean="0">
              <a:solidFill>
                <a:srgbClr val="FF0000"/>
              </a:solidFill>
            </a:endParaRPr>
          </a:p>
          <a:p>
            <a:pPr algn="ctr"/>
            <a:endParaRPr lang="en-GB" sz="9000" b="1" u="sng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GB" sz="9000" b="1" u="sng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GB" sz="5200" b="1" u="sng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GB" sz="3300" b="1" u="sng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GB" sz="2400" b="1" dirty="0" smtClean="0">
                <a:solidFill>
                  <a:srgbClr val="FF0000"/>
                </a:solidFill>
              </a:rPr>
              <a:t>		</a:t>
            </a:r>
            <a:r>
              <a:rPr lang="en-GB" sz="80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Jayantbhai  Tanna</a:t>
            </a:r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275432" y="91440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550862" y="5877272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3704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/>
            </a:r>
            <a:br>
              <a:rPr lang="en-GB" dirty="0" smtClean="0"/>
            </a:br>
            <a:r>
              <a:rPr lang="en-GB" sz="4000" dirty="0" smtClean="0">
                <a:solidFill>
                  <a:srgbClr val="C00000"/>
                </a:solidFill>
              </a:rPr>
              <a:t>Key tasks for Leaders</a:t>
            </a:r>
            <a:br>
              <a:rPr lang="en-GB" sz="4000" dirty="0" smtClean="0">
                <a:solidFill>
                  <a:srgbClr val="C00000"/>
                </a:solidFill>
              </a:rPr>
            </a:br>
            <a:endParaRPr lang="en-GB" sz="40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96646" indent="-514350">
              <a:buFont typeface="+mj-lt"/>
              <a:buAutoNum type="arabicPeriod"/>
            </a:pPr>
            <a:r>
              <a:rPr lang="en-GB" dirty="0" smtClean="0">
                <a:solidFill>
                  <a:srgbClr val="C00000"/>
                </a:solidFill>
              </a:rPr>
              <a:t>Raising </a:t>
            </a:r>
            <a:r>
              <a:rPr lang="en-GB" dirty="0">
                <a:solidFill>
                  <a:srgbClr val="C00000"/>
                </a:solidFill>
              </a:rPr>
              <a:t>the quality of teaching and learning and for pupils’ achievement. </a:t>
            </a:r>
          </a:p>
          <a:p>
            <a:pPr marL="596646" indent="-514350">
              <a:buFont typeface="+mj-lt"/>
              <a:buAutoNum type="arabicPeriod"/>
            </a:pPr>
            <a:r>
              <a:rPr lang="en-GB" dirty="0">
                <a:solidFill>
                  <a:srgbClr val="C00000"/>
                </a:solidFill>
              </a:rPr>
              <a:t>Creating a successful learning culture for pupils to become effective, enthusiastic, independent learners.</a:t>
            </a:r>
          </a:p>
          <a:p>
            <a:pPr marL="596646" indent="-514350">
              <a:buFont typeface="+mj-lt"/>
              <a:buAutoNum type="arabicPeriod"/>
            </a:pPr>
            <a:r>
              <a:rPr lang="en-GB" dirty="0" smtClean="0">
                <a:solidFill>
                  <a:srgbClr val="C00000"/>
                </a:solidFill>
              </a:rPr>
              <a:t>Monitoring and evaluating the effectiveness of learning outcomes. </a:t>
            </a:r>
          </a:p>
          <a:p>
            <a:pPr marL="82296" indent="0">
              <a:buNone/>
            </a:pPr>
            <a:endParaRPr lang="en-GB" dirty="0"/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-180528" y="404664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703262" y="6029672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387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C00000"/>
                </a:solidFill>
              </a:rPr>
              <a:t>Key actions 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GB" sz="2400" dirty="0" smtClean="0">
                <a:solidFill>
                  <a:srgbClr val="C00000"/>
                </a:solidFill>
              </a:rPr>
              <a:t>Ensure </a:t>
            </a:r>
            <a:r>
              <a:rPr lang="en-GB" sz="2400" dirty="0">
                <a:solidFill>
                  <a:srgbClr val="C00000"/>
                </a:solidFill>
              </a:rPr>
              <a:t>a culture and ethos of challenge and </a:t>
            </a:r>
            <a:r>
              <a:rPr lang="en-GB" sz="2400" dirty="0" smtClean="0">
                <a:solidFill>
                  <a:srgbClr val="C00000"/>
                </a:solidFill>
              </a:rPr>
              <a:t>support</a:t>
            </a:r>
            <a:endParaRPr lang="en-GB" sz="2400" dirty="0">
              <a:solidFill>
                <a:srgbClr val="C00000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GB" sz="2400" dirty="0" smtClean="0">
                <a:solidFill>
                  <a:srgbClr val="C00000"/>
                </a:solidFill>
              </a:rPr>
              <a:t>Demonstrate high </a:t>
            </a:r>
            <a:r>
              <a:rPr lang="en-GB" sz="2400" dirty="0">
                <a:solidFill>
                  <a:srgbClr val="C00000"/>
                </a:solidFill>
              </a:rPr>
              <a:t>expectations </a:t>
            </a:r>
            <a:r>
              <a:rPr lang="en-GB" sz="2400" dirty="0" smtClean="0">
                <a:solidFill>
                  <a:srgbClr val="C00000"/>
                </a:solidFill>
              </a:rPr>
              <a:t>for all</a:t>
            </a:r>
            <a:endParaRPr lang="en-GB" sz="2400" dirty="0">
              <a:solidFill>
                <a:srgbClr val="C00000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GB" sz="2400" dirty="0" smtClean="0">
                <a:solidFill>
                  <a:srgbClr val="C00000"/>
                </a:solidFill>
              </a:rPr>
              <a:t>Ensure high </a:t>
            </a:r>
            <a:r>
              <a:rPr lang="en-GB" sz="2400" dirty="0">
                <a:solidFill>
                  <a:srgbClr val="C00000"/>
                </a:solidFill>
              </a:rPr>
              <a:t>standards of behaviour and attendance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sz="2400" dirty="0" smtClean="0">
                <a:solidFill>
                  <a:srgbClr val="C00000"/>
                </a:solidFill>
              </a:rPr>
              <a:t>Implement a curriculum </a:t>
            </a:r>
            <a:r>
              <a:rPr lang="en-GB" sz="2400" dirty="0">
                <a:solidFill>
                  <a:srgbClr val="C00000"/>
                </a:solidFill>
              </a:rPr>
              <a:t>and </a:t>
            </a:r>
            <a:r>
              <a:rPr lang="en-GB" sz="2400" dirty="0" smtClean="0">
                <a:solidFill>
                  <a:srgbClr val="C00000"/>
                </a:solidFill>
              </a:rPr>
              <a:t>an assessment framework that progresses in all years</a:t>
            </a:r>
            <a:endParaRPr lang="en-GB" sz="2400" dirty="0">
              <a:solidFill>
                <a:srgbClr val="C00000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GB" sz="2400" dirty="0" smtClean="0">
                <a:solidFill>
                  <a:srgbClr val="C00000"/>
                </a:solidFill>
              </a:rPr>
              <a:t>Monitor, evaluate </a:t>
            </a:r>
            <a:r>
              <a:rPr lang="en-GB" sz="2400" dirty="0">
                <a:solidFill>
                  <a:srgbClr val="C00000"/>
                </a:solidFill>
              </a:rPr>
              <a:t>and </a:t>
            </a:r>
            <a:r>
              <a:rPr lang="en-GB" sz="2400" dirty="0" smtClean="0">
                <a:solidFill>
                  <a:srgbClr val="C00000"/>
                </a:solidFill>
              </a:rPr>
              <a:t>review </a:t>
            </a:r>
            <a:r>
              <a:rPr lang="en-GB" sz="2400" dirty="0">
                <a:solidFill>
                  <a:srgbClr val="C00000"/>
                </a:solidFill>
              </a:rPr>
              <a:t>classroom practice and </a:t>
            </a:r>
            <a:r>
              <a:rPr lang="en-GB" sz="2400" dirty="0" smtClean="0">
                <a:solidFill>
                  <a:srgbClr val="C00000"/>
                </a:solidFill>
              </a:rPr>
              <a:t>promote </a:t>
            </a:r>
            <a:r>
              <a:rPr lang="en-GB" sz="2400" dirty="0">
                <a:solidFill>
                  <a:srgbClr val="C00000"/>
                </a:solidFill>
              </a:rPr>
              <a:t>improvement strategies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sz="2400" dirty="0" smtClean="0">
                <a:solidFill>
                  <a:srgbClr val="C00000"/>
                </a:solidFill>
              </a:rPr>
              <a:t>Challenge </a:t>
            </a:r>
            <a:r>
              <a:rPr lang="en-GB" sz="2400" dirty="0">
                <a:solidFill>
                  <a:srgbClr val="C00000"/>
                </a:solidFill>
              </a:rPr>
              <a:t>underperformance </a:t>
            </a:r>
            <a:r>
              <a:rPr lang="en-GB" sz="2400" dirty="0" smtClean="0">
                <a:solidFill>
                  <a:srgbClr val="C00000"/>
                </a:solidFill>
              </a:rPr>
              <a:t>and ensure </a:t>
            </a:r>
            <a:r>
              <a:rPr lang="en-GB" sz="2400" dirty="0">
                <a:solidFill>
                  <a:srgbClr val="C00000"/>
                </a:solidFill>
              </a:rPr>
              <a:t>effective corrective action and follow-up</a:t>
            </a:r>
          </a:p>
          <a:p>
            <a:endParaRPr lang="en-GB" dirty="0"/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703262" y="404664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703262" y="6381328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128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 smtClean="0">
                <a:solidFill>
                  <a:srgbClr val="C00000"/>
                </a:solidFill>
              </a:rPr>
              <a:t>Ensuring Efficiency and Respect</a:t>
            </a:r>
            <a:endParaRPr lang="en-GB" sz="40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96646" lvl="0" indent="-514350">
              <a:buFont typeface="+mj-lt"/>
              <a:buAutoNum type="arabicPeriod"/>
            </a:pPr>
            <a:r>
              <a:rPr lang="en-GB" sz="2600" dirty="0" smtClean="0">
                <a:solidFill>
                  <a:srgbClr val="C00000"/>
                </a:solidFill>
              </a:rPr>
              <a:t>Treat teachers, parents and pupils fairly</a:t>
            </a:r>
            <a:r>
              <a:rPr lang="en-GB" sz="2600" dirty="0">
                <a:solidFill>
                  <a:srgbClr val="C00000"/>
                </a:solidFill>
              </a:rPr>
              <a:t>, </a:t>
            </a:r>
            <a:r>
              <a:rPr lang="en-GB" sz="2600" dirty="0" smtClean="0">
                <a:solidFill>
                  <a:srgbClr val="C00000"/>
                </a:solidFill>
              </a:rPr>
              <a:t>with </a:t>
            </a:r>
            <a:r>
              <a:rPr lang="en-GB" sz="2600" dirty="0">
                <a:solidFill>
                  <a:srgbClr val="C00000"/>
                </a:solidFill>
              </a:rPr>
              <a:t>dignity and </a:t>
            </a:r>
            <a:r>
              <a:rPr lang="en-GB" sz="2600" dirty="0" smtClean="0">
                <a:solidFill>
                  <a:srgbClr val="C00000"/>
                </a:solidFill>
              </a:rPr>
              <a:t>respect</a:t>
            </a:r>
          </a:p>
          <a:p>
            <a:pPr marL="596646" lvl="0" indent="-514350">
              <a:buFont typeface="+mj-lt"/>
              <a:buAutoNum type="arabicPeriod"/>
            </a:pPr>
            <a:r>
              <a:rPr lang="en-GB" sz="2600" dirty="0" smtClean="0">
                <a:solidFill>
                  <a:srgbClr val="C00000"/>
                </a:solidFill>
              </a:rPr>
              <a:t>Build </a:t>
            </a:r>
            <a:r>
              <a:rPr lang="en-GB" sz="2600" dirty="0">
                <a:solidFill>
                  <a:srgbClr val="C00000"/>
                </a:solidFill>
              </a:rPr>
              <a:t>a collaborative learning culture within the school </a:t>
            </a:r>
            <a:endParaRPr lang="en-GB" sz="2600" dirty="0" smtClean="0">
              <a:solidFill>
                <a:srgbClr val="C00000"/>
              </a:solidFill>
            </a:endParaRPr>
          </a:p>
          <a:p>
            <a:pPr marL="596646" lvl="0" indent="-514350">
              <a:buFont typeface="+mj-lt"/>
              <a:buAutoNum type="arabicPeriod"/>
            </a:pPr>
            <a:r>
              <a:rPr lang="en-GB" sz="2600" dirty="0" smtClean="0">
                <a:solidFill>
                  <a:srgbClr val="C00000"/>
                </a:solidFill>
              </a:rPr>
              <a:t>Develop </a:t>
            </a:r>
            <a:r>
              <a:rPr lang="en-GB" sz="2600" dirty="0">
                <a:solidFill>
                  <a:srgbClr val="C00000"/>
                </a:solidFill>
              </a:rPr>
              <a:t>and </a:t>
            </a:r>
            <a:r>
              <a:rPr lang="en-GB" sz="2600" dirty="0" smtClean="0">
                <a:solidFill>
                  <a:srgbClr val="C00000"/>
                </a:solidFill>
              </a:rPr>
              <a:t>maintain </a:t>
            </a:r>
            <a:r>
              <a:rPr lang="en-GB" sz="2600" dirty="0">
                <a:solidFill>
                  <a:srgbClr val="C00000"/>
                </a:solidFill>
              </a:rPr>
              <a:t>effective </a:t>
            </a:r>
            <a:r>
              <a:rPr lang="en-GB" sz="2600" dirty="0" smtClean="0">
                <a:solidFill>
                  <a:srgbClr val="C00000"/>
                </a:solidFill>
              </a:rPr>
              <a:t>procedures </a:t>
            </a:r>
            <a:r>
              <a:rPr lang="en-GB" sz="2600" dirty="0">
                <a:solidFill>
                  <a:srgbClr val="C00000"/>
                </a:solidFill>
              </a:rPr>
              <a:t>for staff induction, </a:t>
            </a:r>
            <a:r>
              <a:rPr lang="en-GB" sz="2600" dirty="0" smtClean="0">
                <a:solidFill>
                  <a:srgbClr val="C00000"/>
                </a:solidFill>
              </a:rPr>
              <a:t>training and performance</a:t>
            </a:r>
            <a:endParaRPr lang="en-GB" sz="2600" dirty="0">
              <a:solidFill>
                <a:srgbClr val="C00000"/>
              </a:solidFill>
            </a:endParaRPr>
          </a:p>
          <a:p>
            <a:pPr marL="596646" lvl="0" indent="-514350">
              <a:buFont typeface="+mj-lt"/>
              <a:buAutoNum type="arabicPeriod"/>
            </a:pPr>
            <a:r>
              <a:rPr lang="en-GB" sz="2600" dirty="0" smtClean="0">
                <a:solidFill>
                  <a:srgbClr val="C00000"/>
                </a:solidFill>
              </a:rPr>
              <a:t>Ensure </a:t>
            </a:r>
            <a:r>
              <a:rPr lang="en-GB" sz="2600" dirty="0">
                <a:solidFill>
                  <a:srgbClr val="C00000"/>
                </a:solidFill>
              </a:rPr>
              <a:t>effective planning,  support and evaluation of work undertaken by </a:t>
            </a:r>
            <a:r>
              <a:rPr lang="en-GB" sz="2600" dirty="0" smtClean="0">
                <a:solidFill>
                  <a:srgbClr val="C00000"/>
                </a:solidFill>
              </a:rPr>
              <a:t>teachers and helpers </a:t>
            </a:r>
            <a:endParaRPr lang="en-GB" sz="2600" dirty="0">
              <a:solidFill>
                <a:srgbClr val="C00000"/>
              </a:solidFill>
            </a:endParaRPr>
          </a:p>
          <a:p>
            <a:pPr marL="596646" lvl="0" indent="-514350">
              <a:buFont typeface="+mj-lt"/>
              <a:buAutoNum type="arabicPeriod"/>
            </a:pPr>
            <a:r>
              <a:rPr lang="en-GB" sz="2600" dirty="0" smtClean="0">
                <a:solidFill>
                  <a:srgbClr val="C00000"/>
                </a:solidFill>
              </a:rPr>
              <a:t>Acknowledge and celebrate </a:t>
            </a:r>
            <a:r>
              <a:rPr lang="en-GB" sz="2600" dirty="0">
                <a:solidFill>
                  <a:srgbClr val="C00000"/>
                </a:solidFill>
              </a:rPr>
              <a:t>the achievements of </a:t>
            </a:r>
            <a:r>
              <a:rPr lang="en-GB" sz="2600" dirty="0" smtClean="0">
                <a:solidFill>
                  <a:srgbClr val="C00000"/>
                </a:solidFill>
              </a:rPr>
              <a:t>pupils and teachers</a:t>
            </a:r>
            <a:endParaRPr lang="en-GB" sz="2600" dirty="0">
              <a:solidFill>
                <a:srgbClr val="C00000"/>
              </a:solidFill>
            </a:endParaRPr>
          </a:p>
          <a:p>
            <a:pPr marL="596646" lvl="0" indent="-514350">
              <a:buFont typeface="+mj-lt"/>
              <a:buAutoNum type="arabicPeriod"/>
            </a:pPr>
            <a:r>
              <a:rPr lang="en-GB" sz="2600" dirty="0" smtClean="0">
                <a:solidFill>
                  <a:srgbClr val="C00000"/>
                </a:solidFill>
              </a:rPr>
              <a:t>Regularly review </a:t>
            </a:r>
            <a:r>
              <a:rPr lang="en-GB" sz="2600" dirty="0">
                <a:solidFill>
                  <a:srgbClr val="C00000"/>
                </a:solidFill>
              </a:rPr>
              <a:t>own practice, </a:t>
            </a:r>
            <a:r>
              <a:rPr lang="en-GB" sz="2600" dirty="0" smtClean="0">
                <a:solidFill>
                  <a:srgbClr val="C00000"/>
                </a:solidFill>
              </a:rPr>
              <a:t>set </a:t>
            </a:r>
            <a:r>
              <a:rPr lang="en-GB" sz="2600" dirty="0">
                <a:solidFill>
                  <a:srgbClr val="C00000"/>
                </a:solidFill>
              </a:rPr>
              <a:t>personal targets and </a:t>
            </a:r>
            <a:r>
              <a:rPr lang="en-GB" sz="2600" dirty="0" smtClean="0">
                <a:solidFill>
                  <a:srgbClr val="C00000"/>
                </a:solidFill>
              </a:rPr>
              <a:t>take </a:t>
            </a:r>
            <a:r>
              <a:rPr lang="en-GB" sz="2600" dirty="0">
                <a:solidFill>
                  <a:srgbClr val="C00000"/>
                </a:solidFill>
              </a:rPr>
              <a:t>responsibility for own personal development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1115616" y="476672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703262" y="630932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211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648" y="332656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/>
              <a:t/>
            </a:r>
            <a:br>
              <a:rPr lang="en-GB" b="1" dirty="0"/>
            </a:br>
            <a:r>
              <a:rPr lang="en-GB" sz="3600" dirty="0" smtClean="0">
                <a:solidFill>
                  <a:srgbClr val="C00000"/>
                </a:solidFill>
                <a:effectLst/>
              </a:rPr>
              <a:t>OCR Report – </a:t>
            </a:r>
            <a:r>
              <a:rPr lang="en-GB" sz="3600" dirty="0">
                <a:solidFill>
                  <a:srgbClr val="C00000"/>
                </a:solidFill>
                <a:effectLst/>
              </a:rPr>
              <a:t>June </a:t>
            </a:r>
            <a:r>
              <a:rPr lang="en-GB" sz="3600" dirty="0" smtClean="0">
                <a:solidFill>
                  <a:srgbClr val="C00000"/>
                </a:solidFill>
                <a:effectLst/>
              </a:rPr>
              <a:t>2016 - Writing </a:t>
            </a:r>
            <a:r>
              <a:rPr lang="en-GB" sz="3600" dirty="0">
                <a:solidFill>
                  <a:srgbClr val="C00000"/>
                </a:solidFill>
              </a:rPr>
              <a:t/>
            </a:r>
            <a:br>
              <a:rPr lang="en-GB" sz="3600" dirty="0">
                <a:solidFill>
                  <a:srgbClr val="C00000"/>
                </a:solidFill>
              </a:rPr>
            </a:br>
            <a:r>
              <a:rPr lang="en-GB" sz="3600" dirty="0">
                <a:solidFill>
                  <a:srgbClr val="FF0000"/>
                </a:solidFill>
                <a:effectLst/>
              </a:rPr>
              <a:t/>
            </a:r>
            <a:br>
              <a:rPr lang="en-GB" sz="3600" dirty="0">
                <a:solidFill>
                  <a:srgbClr val="FF0000"/>
                </a:solidFill>
                <a:effectLst/>
              </a:rPr>
            </a:br>
            <a:endParaRPr lang="en-GB" sz="3600" dirty="0">
              <a:solidFill>
                <a:srgbClr val="FF0000"/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lang="en-GB" sz="2800" dirty="0" smtClean="0">
              <a:solidFill>
                <a:srgbClr val="C00000"/>
              </a:solidFill>
            </a:endParaRPr>
          </a:p>
          <a:p>
            <a:pPr lvl="0"/>
            <a:r>
              <a:rPr lang="en-GB" sz="2800" dirty="0" smtClean="0">
                <a:solidFill>
                  <a:srgbClr val="C00000"/>
                </a:solidFill>
              </a:rPr>
              <a:t>This </a:t>
            </a:r>
            <a:r>
              <a:rPr lang="en-GB" sz="2800" dirty="0">
                <a:solidFill>
                  <a:srgbClr val="C00000"/>
                </a:solidFill>
              </a:rPr>
              <a:t>year an improvement in sentence structure was </a:t>
            </a:r>
            <a:r>
              <a:rPr lang="en-GB" sz="2800" dirty="0" smtClean="0">
                <a:solidFill>
                  <a:srgbClr val="C00000"/>
                </a:solidFill>
              </a:rPr>
              <a:t>noticeable.</a:t>
            </a:r>
          </a:p>
          <a:p>
            <a:pPr lvl="0"/>
            <a:r>
              <a:rPr lang="en-GB" sz="2800" dirty="0" smtClean="0">
                <a:solidFill>
                  <a:srgbClr val="C00000"/>
                </a:solidFill>
              </a:rPr>
              <a:t> </a:t>
            </a:r>
            <a:r>
              <a:rPr lang="en-GB" sz="2800" dirty="0">
                <a:solidFill>
                  <a:srgbClr val="C00000"/>
                </a:solidFill>
              </a:rPr>
              <a:t>However, most common errors were noticeable with the usage of “I” in different cases. For example, candidates often used “</a:t>
            </a:r>
            <a:r>
              <a:rPr lang="gu-IN" sz="2800" dirty="0">
                <a:solidFill>
                  <a:srgbClr val="C00000"/>
                </a:solidFill>
              </a:rPr>
              <a:t>મે</a:t>
            </a:r>
            <a:r>
              <a:rPr lang="en-GB" sz="2800" dirty="0">
                <a:solidFill>
                  <a:srgbClr val="C00000"/>
                </a:solidFill>
              </a:rPr>
              <a:t>” instead of “</a:t>
            </a:r>
            <a:r>
              <a:rPr lang="gu-IN" sz="2800" dirty="0">
                <a:solidFill>
                  <a:srgbClr val="C00000"/>
                </a:solidFill>
              </a:rPr>
              <a:t>હું</a:t>
            </a:r>
            <a:r>
              <a:rPr lang="en-GB" sz="2800" dirty="0">
                <a:solidFill>
                  <a:srgbClr val="C00000"/>
                </a:solidFill>
              </a:rPr>
              <a:t>” and</a:t>
            </a:r>
            <a:r>
              <a:rPr lang="gu-IN" sz="2800" dirty="0">
                <a:solidFill>
                  <a:srgbClr val="C00000"/>
                </a:solidFill>
              </a:rPr>
              <a:t> </a:t>
            </a:r>
            <a:r>
              <a:rPr lang="en-GB" sz="2800" dirty="0">
                <a:solidFill>
                  <a:srgbClr val="C00000"/>
                </a:solidFill>
              </a:rPr>
              <a:t>vice versa. </a:t>
            </a:r>
            <a:endParaRPr lang="en-GB" sz="2800" dirty="0" smtClean="0">
              <a:solidFill>
                <a:srgbClr val="C00000"/>
              </a:solidFill>
            </a:endParaRPr>
          </a:p>
          <a:p>
            <a:pPr lvl="0"/>
            <a:r>
              <a:rPr lang="en-GB" sz="2800" dirty="0" smtClean="0">
                <a:solidFill>
                  <a:srgbClr val="C00000"/>
                </a:solidFill>
              </a:rPr>
              <a:t>Other </a:t>
            </a:r>
            <a:r>
              <a:rPr lang="en-GB" sz="2800" dirty="0">
                <a:solidFill>
                  <a:srgbClr val="C00000"/>
                </a:solidFill>
              </a:rPr>
              <a:t>errors are often the incorrect use of gender agreements. </a:t>
            </a:r>
          </a:p>
          <a:p>
            <a:endParaRPr lang="en-GB" dirty="0"/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1115616" y="476672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467544" y="6093296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2579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 smtClean="0">
                <a:solidFill>
                  <a:srgbClr val="C00000"/>
                </a:solidFill>
              </a:rPr>
              <a:t>Managing staff</a:t>
            </a:r>
            <a:endParaRPr lang="en-GB" sz="40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96646" lvl="0" indent="-514350">
              <a:buFont typeface="+mj-lt"/>
              <a:buAutoNum type="arabicPeriod"/>
            </a:pPr>
            <a:r>
              <a:rPr lang="en-GB" sz="2800" dirty="0" smtClean="0">
                <a:solidFill>
                  <a:srgbClr val="C00000"/>
                </a:solidFill>
              </a:rPr>
              <a:t>Recruit and deploy staff appropriately</a:t>
            </a:r>
            <a:endParaRPr lang="en-GB" sz="2800" dirty="0">
              <a:solidFill>
                <a:srgbClr val="C00000"/>
              </a:solidFill>
            </a:endParaRPr>
          </a:p>
          <a:p>
            <a:pPr marL="596646" lvl="0" indent="-514350">
              <a:buFont typeface="+mj-lt"/>
              <a:buAutoNum type="arabicPeriod"/>
            </a:pPr>
            <a:r>
              <a:rPr lang="en-GB" sz="2800" dirty="0" smtClean="0">
                <a:solidFill>
                  <a:srgbClr val="C00000"/>
                </a:solidFill>
              </a:rPr>
              <a:t>Implement </a:t>
            </a:r>
            <a:r>
              <a:rPr lang="en-GB" sz="2800" dirty="0">
                <a:solidFill>
                  <a:srgbClr val="C00000"/>
                </a:solidFill>
              </a:rPr>
              <a:t>successful performance management processes with all staff</a:t>
            </a:r>
          </a:p>
          <a:p>
            <a:pPr marL="596646" lvl="0" indent="-514350">
              <a:buFont typeface="+mj-lt"/>
              <a:buAutoNum type="arabicPeriod"/>
            </a:pPr>
            <a:r>
              <a:rPr lang="en-GB" sz="2800" dirty="0" smtClean="0">
                <a:solidFill>
                  <a:srgbClr val="C00000"/>
                </a:solidFill>
              </a:rPr>
              <a:t>Monitor and evaluate the quality of teaching and learning and standards of achievement</a:t>
            </a:r>
          </a:p>
          <a:p>
            <a:pPr marL="596646" lvl="0" indent="-514350">
              <a:buFont typeface="+mj-lt"/>
              <a:buAutoNum type="arabicPeriod"/>
            </a:pPr>
            <a:r>
              <a:rPr lang="en-GB" sz="2800" dirty="0" smtClean="0">
                <a:solidFill>
                  <a:srgbClr val="C00000"/>
                </a:solidFill>
              </a:rPr>
              <a:t>Review  progress to </a:t>
            </a:r>
            <a:r>
              <a:rPr lang="en-GB" sz="2800" dirty="0">
                <a:solidFill>
                  <a:srgbClr val="C00000"/>
                </a:solidFill>
              </a:rPr>
              <a:t>improve the quality of education for all </a:t>
            </a:r>
            <a:r>
              <a:rPr lang="en-GB" sz="2800" dirty="0" smtClean="0">
                <a:solidFill>
                  <a:srgbClr val="C00000"/>
                </a:solidFill>
              </a:rPr>
              <a:t>pupils</a:t>
            </a:r>
          </a:p>
          <a:p>
            <a:pPr marL="596646" lvl="0" indent="-514350">
              <a:buFont typeface="+mj-lt"/>
              <a:buAutoNum type="arabicPeriod"/>
            </a:pPr>
            <a:r>
              <a:rPr lang="en-GB" sz="2800" dirty="0" smtClean="0">
                <a:solidFill>
                  <a:srgbClr val="C00000"/>
                </a:solidFill>
              </a:rPr>
              <a:t>Take account of feedback from parents and pupils</a:t>
            </a:r>
            <a:endParaRPr lang="en-GB" sz="2800" dirty="0">
              <a:solidFill>
                <a:srgbClr val="C00000"/>
              </a:solidFill>
            </a:endParaRPr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-108520" y="404664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703262" y="630932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788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GCSE Gujarati Results </a:t>
            </a:r>
            <a:r>
              <a:rPr lang="en-GB" sz="36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2010-18</a:t>
            </a:r>
            <a:endParaRPr lang="en-GB" sz="36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0235449"/>
              </p:ext>
            </p:extLst>
          </p:nvPr>
        </p:nvGraphicFramePr>
        <p:xfrm>
          <a:off x="1043608" y="1484786"/>
          <a:ext cx="7848873" cy="38651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027"/>
                <a:gridCol w="347831"/>
                <a:gridCol w="423446"/>
                <a:gridCol w="423446"/>
                <a:gridCol w="423446"/>
                <a:gridCol w="317585"/>
                <a:gridCol w="317585"/>
                <a:gridCol w="317585"/>
                <a:gridCol w="257093"/>
                <a:gridCol w="967876"/>
                <a:gridCol w="574675"/>
                <a:gridCol w="589800"/>
                <a:gridCol w="483939"/>
                <a:gridCol w="589800"/>
                <a:gridCol w="483939"/>
                <a:gridCol w="589800"/>
              </a:tblGrid>
              <a:tr h="297323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Grade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A*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A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B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C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D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E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F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G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U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Total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A*+A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%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A*- C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%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A.P.S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7323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Points 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8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7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6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5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4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1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0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732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2010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82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175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233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178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54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737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257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34.9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668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90.6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6.01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732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2011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33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212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215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115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45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12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636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245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38.5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575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90.4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6.03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732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2012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49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190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208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126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45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9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635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239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37.6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573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90.2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6.01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732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2013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56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173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218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84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592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229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38.7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531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89.7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6.08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732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2014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71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178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192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118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41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21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625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249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39.8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559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89.4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6.06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732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2015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65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150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179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100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42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18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7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2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2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565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215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38.1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494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87.4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5.99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732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2016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75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170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214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101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50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651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245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37.6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560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86.0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5.96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732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2017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165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156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98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39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518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196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37.8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450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86.9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5.88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732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2018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64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140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162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95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37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27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13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545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204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37.4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461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84.6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5.87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7323"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Totals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5504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2079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37.8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4871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88.5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 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7323"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Averages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612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231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37.8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541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88.4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5.99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899592" y="126876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703262" y="6173688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840079"/>
              </p:ext>
            </p:extLst>
          </p:nvPr>
        </p:nvGraphicFramePr>
        <p:xfrm>
          <a:off x="1043608" y="5373216"/>
          <a:ext cx="4536504" cy="6537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9665"/>
                <a:gridCol w="426230"/>
                <a:gridCol w="426230"/>
                <a:gridCol w="426230"/>
                <a:gridCol w="426230"/>
                <a:gridCol w="426230"/>
                <a:gridCol w="426230"/>
                <a:gridCol w="426230"/>
                <a:gridCol w="426230"/>
                <a:gridCol w="446999"/>
              </a:tblGrid>
              <a:tr h="385492"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none" strike="noStrike" dirty="0">
                          <a:effectLst/>
                        </a:rPr>
                        <a:t>Year</a:t>
                      </a:r>
                      <a:endParaRPr lang="en-GB" sz="13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 dirty="0">
                          <a:effectLst/>
                        </a:rPr>
                        <a:t>2010</a:t>
                      </a:r>
                      <a:endParaRPr lang="en-GB" sz="13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 dirty="0">
                          <a:effectLst/>
                        </a:rPr>
                        <a:t>2011</a:t>
                      </a:r>
                      <a:endParaRPr lang="en-GB" sz="13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 dirty="0">
                          <a:effectLst/>
                        </a:rPr>
                        <a:t>2012</a:t>
                      </a:r>
                      <a:endParaRPr lang="en-GB" sz="13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 dirty="0">
                          <a:effectLst/>
                        </a:rPr>
                        <a:t>2013</a:t>
                      </a:r>
                      <a:endParaRPr lang="en-GB" sz="13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 dirty="0">
                          <a:effectLst/>
                        </a:rPr>
                        <a:t>2014</a:t>
                      </a:r>
                      <a:endParaRPr lang="en-GB" sz="13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 dirty="0">
                          <a:effectLst/>
                        </a:rPr>
                        <a:t>2015</a:t>
                      </a:r>
                      <a:endParaRPr lang="en-GB" sz="13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 dirty="0">
                          <a:effectLst/>
                        </a:rPr>
                        <a:t>2016</a:t>
                      </a:r>
                      <a:endParaRPr lang="en-GB" sz="13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 dirty="0">
                          <a:effectLst/>
                        </a:rPr>
                        <a:t>2017</a:t>
                      </a:r>
                      <a:endParaRPr lang="en-GB" sz="13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2018</a:t>
                      </a: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</a:tr>
              <a:tr h="268246">
                <a:tc>
                  <a:txBody>
                    <a:bodyPr/>
                    <a:lstStyle/>
                    <a:p>
                      <a:pPr algn="l" fontAlgn="b"/>
                      <a:r>
                        <a:rPr lang="en-GB" sz="1300" u="none" strike="noStrike" dirty="0">
                          <a:effectLst/>
                        </a:rPr>
                        <a:t>Number</a:t>
                      </a:r>
                      <a:endParaRPr lang="en-GB" sz="13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 dirty="0">
                          <a:effectLst/>
                        </a:rPr>
                        <a:t>737</a:t>
                      </a:r>
                      <a:endParaRPr lang="en-GB" sz="13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 dirty="0">
                          <a:effectLst/>
                        </a:rPr>
                        <a:t>636</a:t>
                      </a:r>
                      <a:endParaRPr lang="en-GB" sz="13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 dirty="0">
                          <a:effectLst/>
                        </a:rPr>
                        <a:t>635</a:t>
                      </a:r>
                      <a:endParaRPr lang="en-GB" sz="13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 dirty="0">
                          <a:effectLst/>
                        </a:rPr>
                        <a:t>592</a:t>
                      </a:r>
                      <a:endParaRPr lang="en-GB" sz="13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 dirty="0">
                          <a:effectLst/>
                        </a:rPr>
                        <a:t>625</a:t>
                      </a:r>
                      <a:endParaRPr lang="en-GB" sz="13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 dirty="0">
                          <a:effectLst/>
                        </a:rPr>
                        <a:t>565</a:t>
                      </a:r>
                      <a:endParaRPr lang="en-GB" sz="13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 dirty="0">
                          <a:effectLst/>
                        </a:rPr>
                        <a:t>651</a:t>
                      </a:r>
                      <a:endParaRPr lang="en-GB" sz="13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300" u="none" strike="noStrike" dirty="0">
                          <a:effectLst/>
                        </a:rPr>
                        <a:t>518</a:t>
                      </a:r>
                      <a:endParaRPr lang="en-GB" sz="13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GB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545</a:t>
                      </a:r>
                      <a:endParaRPr lang="en-GB" sz="13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8653" marR="8653" marT="8653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123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Level Gujarati Results </a:t>
            </a:r>
            <a:r>
              <a:rPr lang="en-GB" sz="36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2010-18</a:t>
            </a:r>
            <a:endParaRPr lang="en-GB" sz="36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0869820"/>
              </p:ext>
            </p:extLst>
          </p:nvPr>
        </p:nvGraphicFramePr>
        <p:xfrm>
          <a:off x="1115616" y="1412772"/>
          <a:ext cx="7776864" cy="4680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4167"/>
                <a:gridCol w="571028"/>
                <a:gridCol w="571028"/>
                <a:gridCol w="571028"/>
                <a:gridCol w="571028"/>
                <a:gridCol w="571028"/>
                <a:gridCol w="571028"/>
                <a:gridCol w="1044167"/>
                <a:gridCol w="630852"/>
                <a:gridCol w="587344"/>
                <a:gridCol w="522083"/>
                <a:gridCol w="522083"/>
              </a:tblGrid>
              <a:tr h="29253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Year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2010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2011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2012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2013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2014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2015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2016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2017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2018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253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Numbers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22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33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19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15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19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16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19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19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32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2533"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2533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Grade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A*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A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B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C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D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E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U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Total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A*-B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%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APS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2533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Points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12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10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8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6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4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0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253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2010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5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7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5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1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0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22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17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77.3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8.64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253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2011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8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8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8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4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33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24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72.7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8.42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253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2012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4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19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10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52.6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7.05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253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2013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9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0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15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11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73.3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8.27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253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2014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2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7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5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19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14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73.7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7.89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253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2015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2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6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4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0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0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16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12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75.0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8.63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253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2016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4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5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4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3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19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13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68.4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7.89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253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2017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4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5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6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3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0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0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19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15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78.9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8.63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253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2018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20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4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1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0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3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32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26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81.3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9.63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2533"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Totals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194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142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73.2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 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92533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Averages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22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16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+mn-lt"/>
                        </a:rPr>
                        <a:t>72.6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+mn-lt"/>
                        </a:rPr>
                        <a:t>8.11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899592" y="126876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971600" y="6165304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421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>
                <a:solidFill>
                  <a:srgbClr val="C00000"/>
                </a:solidFill>
              </a:rPr>
              <a:t/>
            </a:r>
            <a:br>
              <a:rPr lang="en-GB" dirty="0" smtClean="0">
                <a:solidFill>
                  <a:srgbClr val="C00000"/>
                </a:solidFill>
              </a:rPr>
            </a:br>
            <a:r>
              <a:rPr lang="en-GB" dirty="0" smtClean="0">
                <a:solidFill>
                  <a:srgbClr val="C00000"/>
                </a:solidFill>
              </a:rPr>
              <a:t>Looking Outwards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96646" lvl="0" indent="-514350">
              <a:buFont typeface="+mj-lt"/>
              <a:buAutoNum type="arabicPeriod"/>
            </a:pPr>
            <a:endParaRPr lang="en-GB" sz="2800" dirty="0" smtClean="0">
              <a:solidFill>
                <a:srgbClr val="C00000"/>
              </a:solidFill>
            </a:endParaRPr>
          </a:p>
          <a:p>
            <a:pPr marL="596646" lvl="0" indent="-514350">
              <a:buFont typeface="+mj-lt"/>
              <a:buAutoNum type="arabicPeriod"/>
            </a:pPr>
            <a:r>
              <a:rPr lang="en-GB" sz="2800" dirty="0" smtClean="0">
                <a:solidFill>
                  <a:srgbClr val="C00000"/>
                </a:solidFill>
              </a:rPr>
              <a:t>Create an </a:t>
            </a:r>
            <a:r>
              <a:rPr lang="en-GB" sz="2800" dirty="0">
                <a:solidFill>
                  <a:srgbClr val="C00000"/>
                </a:solidFill>
              </a:rPr>
              <a:t>effective partnership with parents to support </a:t>
            </a:r>
            <a:r>
              <a:rPr lang="en-GB" sz="2800" dirty="0" smtClean="0">
                <a:solidFill>
                  <a:srgbClr val="C00000"/>
                </a:solidFill>
              </a:rPr>
              <a:t>pupils’ achievement </a:t>
            </a:r>
            <a:r>
              <a:rPr lang="en-GB" sz="2800" dirty="0">
                <a:solidFill>
                  <a:srgbClr val="C00000"/>
                </a:solidFill>
              </a:rPr>
              <a:t>and </a:t>
            </a:r>
            <a:r>
              <a:rPr lang="en-GB" sz="2800" dirty="0" smtClean="0">
                <a:solidFill>
                  <a:srgbClr val="C00000"/>
                </a:solidFill>
              </a:rPr>
              <a:t>development</a:t>
            </a:r>
            <a:endParaRPr lang="en-GB" sz="2800" dirty="0">
              <a:solidFill>
                <a:srgbClr val="C00000"/>
              </a:solidFill>
            </a:endParaRPr>
          </a:p>
          <a:p>
            <a:pPr marL="596646" indent="-514350">
              <a:buFont typeface="+mj-lt"/>
              <a:buAutoNum type="arabicPeriod"/>
            </a:pPr>
            <a:r>
              <a:rPr lang="en-GB" sz="2800" dirty="0">
                <a:solidFill>
                  <a:srgbClr val="C00000"/>
                </a:solidFill>
              </a:rPr>
              <a:t>Share </a:t>
            </a:r>
            <a:r>
              <a:rPr lang="en-GB" sz="2800" dirty="0" smtClean="0">
                <a:solidFill>
                  <a:srgbClr val="C00000"/>
                </a:solidFill>
              </a:rPr>
              <a:t>and adopt effective practice with </a:t>
            </a:r>
            <a:r>
              <a:rPr lang="en-GB" sz="2800" dirty="0">
                <a:solidFill>
                  <a:srgbClr val="C00000"/>
                </a:solidFill>
              </a:rPr>
              <a:t>other schools and </a:t>
            </a:r>
            <a:r>
              <a:rPr lang="en-GB" sz="2800" dirty="0" smtClean="0">
                <a:solidFill>
                  <a:srgbClr val="C00000"/>
                </a:solidFill>
              </a:rPr>
              <a:t>promote </a:t>
            </a:r>
            <a:r>
              <a:rPr lang="en-GB" sz="2800" dirty="0">
                <a:solidFill>
                  <a:srgbClr val="C00000"/>
                </a:solidFill>
              </a:rPr>
              <a:t>innovative </a:t>
            </a:r>
            <a:r>
              <a:rPr lang="en-GB" sz="2800" dirty="0" smtClean="0">
                <a:solidFill>
                  <a:srgbClr val="C00000"/>
                </a:solidFill>
              </a:rPr>
              <a:t>ideas.</a:t>
            </a:r>
            <a:endParaRPr lang="en-GB" sz="2800" dirty="0">
              <a:solidFill>
                <a:srgbClr val="C00000"/>
              </a:solidFill>
            </a:endParaRPr>
          </a:p>
          <a:p>
            <a:pPr marL="596646" lvl="0" indent="-514350">
              <a:buFont typeface="+mj-lt"/>
              <a:buAutoNum type="arabicPeriod"/>
            </a:pPr>
            <a:r>
              <a:rPr lang="en-GB" sz="2800" dirty="0" smtClean="0">
                <a:solidFill>
                  <a:srgbClr val="C00000"/>
                </a:solidFill>
              </a:rPr>
              <a:t>Contribute </a:t>
            </a:r>
            <a:r>
              <a:rPr lang="en-GB" sz="2800" dirty="0">
                <a:solidFill>
                  <a:srgbClr val="C00000"/>
                </a:solidFill>
              </a:rPr>
              <a:t>to the development of Gujarati </a:t>
            </a:r>
            <a:r>
              <a:rPr lang="en-GB" sz="2800" dirty="0" smtClean="0">
                <a:solidFill>
                  <a:srgbClr val="C00000"/>
                </a:solidFill>
              </a:rPr>
              <a:t>education within the Gujarati community and outside</a:t>
            </a:r>
          </a:p>
          <a:p>
            <a:endParaRPr lang="en-GB" dirty="0"/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827584" y="548680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703262" y="6029672"/>
            <a:ext cx="8593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757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111</TotalTime>
  <Words>695</Words>
  <Application>Microsoft Office PowerPoint</Application>
  <PresentationFormat>On-screen Show (4:3)</PresentationFormat>
  <Paragraphs>407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Solstice</vt:lpstr>
      <vt:lpstr>Consortium of Gujarati Schools  Leading, Learning &amp; Teaching    </vt:lpstr>
      <vt:lpstr> Key tasks for Leaders </vt:lpstr>
      <vt:lpstr>Key actions </vt:lpstr>
      <vt:lpstr>Ensuring Efficiency and Respect</vt:lpstr>
      <vt:lpstr>   OCR Report – June 2016 - Writing   </vt:lpstr>
      <vt:lpstr>Managing staff</vt:lpstr>
      <vt:lpstr>GCSE Gujarati Results 2010-18</vt:lpstr>
      <vt:lpstr>A Level Gujarati Results 2010-18</vt:lpstr>
      <vt:lpstr> Looking Outwards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Leading, Learning &amp; Teaching</dc:title>
  <dc:creator>Jayant</dc:creator>
  <cp:lastModifiedBy>Jayant</cp:lastModifiedBy>
  <cp:revision>14</cp:revision>
  <dcterms:created xsi:type="dcterms:W3CDTF">2018-10-15T13:37:30Z</dcterms:created>
  <dcterms:modified xsi:type="dcterms:W3CDTF">2018-10-25T16:27:32Z</dcterms:modified>
</cp:coreProperties>
</file>