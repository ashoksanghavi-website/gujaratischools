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7"/>
  </p:notesMasterIdLst>
  <p:handoutMasterIdLst>
    <p:handoutMasterId r:id="rId18"/>
  </p:handoutMasterIdLst>
  <p:sldIdLst>
    <p:sldId id="339" r:id="rId2"/>
    <p:sldId id="310" r:id="rId3"/>
    <p:sldId id="340" r:id="rId4"/>
    <p:sldId id="341" r:id="rId5"/>
    <p:sldId id="342" r:id="rId6"/>
    <p:sldId id="345" r:id="rId7"/>
    <p:sldId id="346" r:id="rId8"/>
    <p:sldId id="344" r:id="rId9"/>
    <p:sldId id="347" r:id="rId10"/>
    <p:sldId id="348" r:id="rId11"/>
    <p:sldId id="349" r:id="rId12"/>
    <p:sldId id="343" r:id="rId13"/>
    <p:sldId id="351" r:id="rId14"/>
    <p:sldId id="350" r:id="rId15"/>
    <p:sldId id="352" r:id="rId16"/>
  </p:sldIdLst>
  <p:sldSz cx="9906000" cy="6858000" type="A4"/>
  <p:notesSz cx="10234613" cy="70993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CC"/>
    <a:srgbClr val="CC00CC"/>
    <a:srgbClr val="FF3300"/>
    <a:srgbClr val="EEFDA1"/>
    <a:srgbClr val="ECFEF2"/>
    <a:srgbClr val="C0FCD4"/>
    <a:srgbClr val="E4F3F4"/>
    <a:srgbClr val="990099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 autoAdjust="0"/>
    <p:restoredTop sz="94698" autoAdjust="0"/>
  </p:normalViewPr>
  <p:slideViewPr>
    <p:cSldViewPr>
      <p:cViewPr varScale="1">
        <p:scale>
          <a:sx n="96" d="100"/>
          <a:sy n="96" d="100"/>
        </p:scale>
        <p:origin x="102" y="16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2" d="100"/>
          <a:sy n="72" d="100"/>
        </p:scale>
        <p:origin x="2100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613345" y="6668188"/>
            <a:ext cx="5043672" cy="27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r>
              <a:rPr lang="en-GB" smtClean="0"/>
              <a:t>Vijyaben Bhanderi - 27 October 2018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3"/>
          </p:nvPr>
        </p:nvSpPr>
        <p:spPr>
          <a:xfrm>
            <a:off x="5797022" y="6743619"/>
            <a:ext cx="4435304" cy="35568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985D13-FA76-4F98-AEC4-7A83435252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182755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434998" cy="354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171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5797839" y="1"/>
            <a:ext cx="4434998" cy="354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5604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94050" y="531813"/>
            <a:ext cx="3846513" cy="26622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462" y="3372169"/>
            <a:ext cx="8187690" cy="3194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7174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742693"/>
            <a:ext cx="4434998" cy="354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r>
              <a:rPr lang="en-GB" smtClean="0"/>
              <a:t>Vijyaben Bhanderi - 27 October 2018</a:t>
            </a:r>
            <a:endParaRPr lang="en-GB"/>
          </a:p>
        </p:txBody>
      </p:sp>
      <p:sp>
        <p:nvSpPr>
          <p:cNvPr id="7175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839" y="6742693"/>
            <a:ext cx="4434998" cy="354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B0313B38-AAAC-4BDD-B22B-694F0AEA0C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66573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1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25083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2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090873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3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50695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4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62848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5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45583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6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63835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7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253665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8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81842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9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996193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10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773535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11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0434229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12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184651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13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985057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14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675507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15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95388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Teachers Course - 27 October 2018</a:t>
            </a: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D69B983E-33CF-4AE5-A5FD-472CC1D5F1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29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Teachers Course - 27 October 2018</a:t>
            </a: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4669B3B8-B01E-4E02-9F6B-5846F54739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9955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Teachers Course - 27 October 2018</a:t>
            </a: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4CAF7E54-7F90-4693-B097-837E67F8B6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9886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Teachers Course - 27 October 2018</a:t>
            </a: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7B5D5BD1-6F70-46AF-9CA6-7181ABAB0E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45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Teachers Course - 27 October 2018</a:t>
            </a: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5E0D91EB-0CEC-4271-834E-F7EEF13FE6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323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Teachers Course - 27 October 2018</a:t>
            </a: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0F94C785-0396-43F2-8822-3E349AE55A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7671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Teachers Course - 27 October 2018</a:t>
            </a: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8228507B-26FF-4296-971B-6519A7D70B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162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Teachers Course - 27 October 2018</a:t>
            </a: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C461B3A7-6C8D-41C4-BE5C-189DA8EB01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5346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Teachers Course - 27 October 2018</a:t>
            </a: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2459A50D-3D2B-413F-B1A9-0F0512D99D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184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Teachers Course - 27 October 2018</a:t>
            </a: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DA1B3472-1B82-45A0-BBAE-85B8AFF11C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931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Teachers Course - 27 October 2018</a:t>
            </a: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7BB27663-34A9-4107-BD98-8FE5C858DA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6139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95300" y="1600200"/>
            <a:ext cx="8915400" cy="4525963"/>
          </a:xfrm>
        </p:spPr>
        <p:txBody>
          <a:bodyPr/>
          <a:lstStyle/>
          <a:p>
            <a:pPr lvl="0"/>
            <a:endParaRPr lang="en-GB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Teachers Course - 27 October 2018</a:t>
            </a: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9EC72EAD-4B54-4A01-A8FE-B6644F8F58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676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546850"/>
            <a:ext cx="2806700" cy="20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11538" y="6559550"/>
            <a:ext cx="3136900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GB" smtClean="0"/>
              <a:t>CGS Teachers Course - 27 October 2018</a:t>
            </a:r>
            <a:endParaRPr lang="en-GB"/>
          </a:p>
        </p:txBody>
      </p:sp>
      <p:sp>
        <p:nvSpPr>
          <p:cNvPr id="10240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551613"/>
            <a:ext cx="231140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r>
              <a:rPr lang="en-GB"/>
              <a:t>Slide </a:t>
            </a:r>
            <a:fld id="{7144AD7A-C59A-4C48-9326-BE4650446C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2" grpId="0"/>
      <p:bldP spid="10240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0240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0240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0240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0240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0240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gif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hyperlink" Target="https://en.wikipedia.org/wiki/File:Gold_Coast_2018_Queen's_Baton_Relay_Logo.jp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url?sa=i&amp;rct=j&amp;q=&amp;esrc=s&amp;source=images&amp;cd=&amp;cad=rja&amp;uact=8&amp;ved=2ahUKEwjNgqeNzvHdAhVDURoKHZ_6CvgQjRx6BAgBEAU&amp;url=http://www.playonindiatv.com/trending/cwg-2018-indian-flag-handled-by-indus-formal-launch-of-commonwealth-games/attachment/nbt-image-2-2/&amp;psig=AOvVaw0XRNsaEm0tIX8SgsqtBvni&amp;ust=1538908238359438" TargetMode="External"/><Relationship Id="rId7" Type="http://schemas.microsoft.com/office/2007/relationships/hdphoto" Target="../media/hdphoto3.wd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hyperlink" Target="https://www.google.com/url?sa=i&amp;rct=j&amp;q=&amp;esrc=s&amp;source=images&amp;cd=&amp;cad=rja&amp;uact=8&amp;ved=2ahUKEwjR3cHfzfHdAhWu34UKHZqvDeUQjRx6BAgBEAU&amp;url=https://www.thehindu.com/news/rohingya-camp-fire-commonwealth-gold-and-other-news-in-pictures/article23546753.ece&amp;psig=AOvVaw03Ui83hPIsZh0drltzU0TQ&amp;ust=1538908134952585" TargetMode="External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5" Type="http://schemas.openxmlformats.org/officeDocument/2006/relationships/image" Target="../media/image27.jpeg"/><Relationship Id="rId4" Type="http://schemas.openxmlformats.org/officeDocument/2006/relationships/hyperlink" Target="https://www.google.co.uk/url?sa=i&amp;rct=j&amp;q=&amp;esrc=s&amp;source=images&amp;cd=&amp;cad=rja&amp;uact=8&amp;ved=2ahUKEwjVlbPApYXeAhUB2xoKHWjcArIQjRx6BAgBEAU&amp;url=https://www.hindustantimes.com/other-sports/2018-commonwealth-games-mc-mary-kom-wins-gold-in-women-s-48-kg-boxing/story-Rc5z5jPynNIV2K94iGCv8J.html&amp;psig=AOvVaw3uSrHu68rFpsPA2C-hx3bh&amp;ust=1539584495642836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95300" y="6292850"/>
            <a:ext cx="28067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11538" y="6305550"/>
            <a:ext cx="3446462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CGS Teachers Course - 27 October 2018</a:t>
            </a:r>
            <a:endParaRPr lang="en-GB" dirty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9300" y="6297613"/>
            <a:ext cx="23114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Slide </a:t>
            </a:r>
            <a:fld id="{0791107B-2345-4607-ADE7-C5725CF4E4E6}" type="slidenum">
              <a:rPr lang="en-GB" smtClean="0"/>
              <a:pPr eaLnBrk="1" hangingPunct="1"/>
              <a:t>1</a:t>
            </a:fld>
            <a:endParaRPr lang="en-GB" dirty="0" smtClean="0"/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298384" y="990600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98384" y="6172200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" name="Title 1"/>
          <p:cNvSpPr txBox="1">
            <a:spLocks/>
          </p:cNvSpPr>
          <p:nvPr/>
        </p:nvSpPr>
        <p:spPr bwMode="auto">
          <a:xfrm>
            <a:off x="495300" y="1017716"/>
            <a:ext cx="8978967" cy="1377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 algn="l"/>
            <a:r>
              <a:rPr lang="en-GB" sz="2500" kern="0" dirty="0" smtClean="0"/>
              <a:t/>
            </a:r>
            <a:br>
              <a:rPr lang="en-GB" sz="2500" kern="0" dirty="0" smtClean="0"/>
            </a:br>
            <a:r>
              <a:rPr lang="gu-IN" sz="2700" b="1" dirty="0" smtClean="0">
                <a:solidFill>
                  <a:schemeClr val="tx1"/>
                </a:solidFill>
              </a:rPr>
              <a:t>દુનિયા</a:t>
            </a:r>
            <a:r>
              <a:rPr lang="gu-IN" sz="2700" b="1" dirty="0" smtClean="0">
                <a:solidFill>
                  <a:srgbClr val="0000CC"/>
                </a:solidFill>
              </a:rPr>
              <a:t>નાં</a:t>
            </a:r>
            <a:r>
              <a:rPr lang="gu-IN" sz="2700" b="1" dirty="0" smtClean="0">
                <a:solidFill>
                  <a:schemeClr val="tx1"/>
                </a:solidFill>
              </a:rPr>
              <a:t> </a:t>
            </a:r>
            <a:r>
              <a:rPr lang="gu-IN" sz="2700" b="1" dirty="0" smtClean="0">
                <a:solidFill>
                  <a:srgbClr val="C00000"/>
                </a:solidFill>
              </a:rPr>
              <a:t>જે</a:t>
            </a:r>
            <a:r>
              <a:rPr lang="gu-IN" sz="2700" b="1" dirty="0" smtClean="0">
                <a:solidFill>
                  <a:schemeClr val="tx1"/>
                </a:solidFill>
              </a:rPr>
              <a:t> રાષ્ટ્રો</a:t>
            </a:r>
            <a:r>
              <a:rPr lang="gu-IN" sz="2700" b="1" dirty="0" smtClean="0">
                <a:solidFill>
                  <a:srgbClr val="C00000"/>
                </a:solidFill>
              </a:rPr>
              <a:t>માં</a:t>
            </a:r>
            <a:r>
              <a:rPr lang="gu-IN" sz="2700" b="1" dirty="0" smtClean="0">
                <a:solidFill>
                  <a:schemeClr val="tx1"/>
                </a:solidFill>
              </a:rPr>
              <a:t> બ્રિટ</a:t>
            </a:r>
            <a:r>
              <a:rPr lang="gu-IN" sz="2700" b="1" dirty="0" smtClean="0">
                <a:solidFill>
                  <a:srgbClr val="C00000"/>
                </a:solidFill>
              </a:rPr>
              <a:t>ને</a:t>
            </a:r>
            <a:r>
              <a:rPr lang="gu-IN" sz="2700" b="1" dirty="0" smtClean="0">
                <a:solidFill>
                  <a:schemeClr val="tx1"/>
                </a:solidFill>
              </a:rPr>
              <a:t> રાજય </a:t>
            </a:r>
            <a:r>
              <a:rPr lang="gu-IN" sz="2700" b="1" dirty="0" smtClean="0">
                <a:solidFill>
                  <a:srgbClr val="0000CC"/>
                </a:solidFill>
              </a:rPr>
              <a:t>કર્યું હતું </a:t>
            </a:r>
            <a:r>
              <a:rPr lang="gu-IN" sz="2700" b="1" dirty="0" smtClean="0">
                <a:solidFill>
                  <a:srgbClr val="C00000"/>
                </a:solidFill>
              </a:rPr>
              <a:t>તે</a:t>
            </a:r>
            <a:r>
              <a:rPr lang="gu-IN" sz="2700" b="1" dirty="0" smtClean="0">
                <a:solidFill>
                  <a:schemeClr val="tx1"/>
                </a:solidFill>
              </a:rPr>
              <a:t> રાષ્ટ્રોને સામેલ કરી બ્રિટ</a:t>
            </a:r>
            <a:r>
              <a:rPr lang="gu-IN" sz="2700" b="1" dirty="0" smtClean="0">
                <a:solidFill>
                  <a:srgbClr val="FF3300"/>
                </a:solidFill>
              </a:rPr>
              <a:t>ને</a:t>
            </a:r>
            <a:r>
              <a:rPr lang="gu-IN" sz="2700" b="1" dirty="0" smtClean="0">
                <a:solidFill>
                  <a:schemeClr val="tx1"/>
                </a:solidFill>
              </a:rPr>
              <a:t> કોમનવેલ્થ</a:t>
            </a:r>
            <a:r>
              <a:rPr lang="gu-IN" sz="2700" b="1" dirty="0" smtClean="0">
                <a:solidFill>
                  <a:srgbClr val="0000CC"/>
                </a:solidFill>
              </a:rPr>
              <a:t>ની</a:t>
            </a:r>
            <a:r>
              <a:rPr lang="gu-IN" sz="2700" b="1" dirty="0" smtClean="0">
                <a:solidFill>
                  <a:schemeClr val="tx1"/>
                </a:solidFill>
              </a:rPr>
              <a:t> (રાષ્ટ્રસમૂહ)</a:t>
            </a:r>
            <a:r>
              <a:rPr lang="gu-IN" sz="2700" b="1" dirty="0" smtClean="0">
                <a:solidFill>
                  <a:srgbClr val="0000CC"/>
                </a:solidFill>
              </a:rPr>
              <a:t>ની</a:t>
            </a:r>
            <a:r>
              <a:rPr lang="gu-IN" sz="2700" b="1" dirty="0" smtClean="0">
                <a:solidFill>
                  <a:schemeClr val="tx1"/>
                </a:solidFill>
              </a:rPr>
              <a:t> શરૂઆત ક</a:t>
            </a:r>
            <a:r>
              <a:rPr lang="gu-IN" sz="2700" b="1" dirty="0" smtClean="0">
                <a:solidFill>
                  <a:srgbClr val="0000CC"/>
                </a:solidFill>
              </a:rPr>
              <a:t>રી</a:t>
            </a:r>
            <a:r>
              <a:rPr lang="gu-IN" sz="2700" b="1" dirty="0" smtClean="0">
                <a:solidFill>
                  <a:schemeClr val="tx1"/>
                </a:solidFill>
              </a:rPr>
              <a:t> </a:t>
            </a:r>
            <a:r>
              <a:rPr lang="gu-IN" sz="2700" b="1" dirty="0" smtClean="0">
                <a:solidFill>
                  <a:srgbClr val="0000CC"/>
                </a:solidFill>
              </a:rPr>
              <a:t>હતી</a:t>
            </a:r>
            <a:r>
              <a:rPr lang="gu-IN" sz="2700" b="1" dirty="0" smtClean="0">
                <a:solidFill>
                  <a:schemeClr val="tx1"/>
                </a:solidFill>
              </a:rPr>
              <a:t>. કોમનવેલ્થ</a:t>
            </a:r>
            <a:r>
              <a:rPr lang="gu-IN" sz="2700" b="1" dirty="0" smtClean="0">
                <a:solidFill>
                  <a:srgbClr val="C00000"/>
                </a:solidFill>
              </a:rPr>
              <a:t>માં</a:t>
            </a:r>
            <a:r>
              <a:rPr lang="gu-IN" sz="2700" b="1" dirty="0" smtClean="0">
                <a:solidFill>
                  <a:schemeClr val="tx1"/>
                </a:solidFill>
              </a:rPr>
              <a:t> ૫૩ </a:t>
            </a:r>
            <a:r>
              <a:rPr lang="gu-IN" sz="2700" b="1" dirty="0" smtClean="0">
                <a:solidFill>
                  <a:srgbClr val="C00000"/>
                </a:solidFill>
              </a:rPr>
              <a:t>સ્વતંત્ર</a:t>
            </a:r>
            <a:r>
              <a:rPr lang="gu-IN" sz="2700" b="1" dirty="0" smtClean="0">
                <a:solidFill>
                  <a:schemeClr val="tx1"/>
                </a:solidFill>
              </a:rPr>
              <a:t> રાષ્ટ્રો </a:t>
            </a:r>
            <a:r>
              <a:rPr lang="gu-IN" sz="2700" b="1" dirty="0" smtClean="0">
                <a:solidFill>
                  <a:srgbClr val="C00000"/>
                </a:solidFill>
              </a:rPr>
              <a:t>છે</a:t>
            </a:r>
            <a:r>
              <a:rPr lang="gu-IN" sz="2700" b="1" dirty="0" smtClean="0">
                <a:solidFill>
                  <a:schemeClr val="tx1"/>
                </a:solidFill>
              </a:rPr>
              <a:t> </a:t>
            </a:r>
            <a:r>
              <a:rPr lang="gu-IN" sz="2700" b="1" dirty="0" smtClean="0">
                <a:solidFill>
                  <a:srgbClr val="0000CC"/>
                </a:solidFill>
              </a:rPr>
              <a:t>જેમાંનું</a:t>
            </a:r>
            <a:r>
              <a:rPr lang="gu-IN" sz="2700" b="1" dirty="0" smtClean="0">
                <a:solidFill>
                  <a:schemeClr val="tx1"/>
                </a:solidFill>
              </a:rPr>
              <a:t> એક રાષ્ટ્ર ભારત </a:t>
            </a:r>
            <a:r>
              <a:rPr lang="gu-IN" sz="2700" b="1" dirty="0" smtClean="0">
                <a:solidFill>
                  <a:srgbClr val="006600"/>
                </a:solidFill>
              </a:rPr>
              <a:t>છે</a:t>
            </a:r>
            <a:r>
              <a:rPr lang="gu-IN" sz="2700" b="1" dirty="0" smtClean="0">
                <a:solidFill>
                  <a:schemeClr val="tx1"/>
                </a:solidFill>
              </a:rPr>
              <a:t>! </a:t>
            </a:r>
            <a:endParaRPr lang="en-GB" sz="2700" b="1" kern="0" dirty="0">
              <a:solidFill>
                <a:schemeClr val="tx1"/>
              </a:solidFill>
              <a:latin typeface="Castellar" panose="020A0402060406010301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629" y="2756248"/>
            <a:ext cx="4979228" cy="3031029"/>
          </a:xfrm>
          <a:prstGeom prst="rect">
            <a:avLst/>
          </a:prstGeom>
        </p:spPr>
      </p:pic>
      <p:sp>
        <p:nvSpPr>
          <p:cNvPr id="14" name="Title 1"/>
          <p:cNvSpPr txBox="1"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en-GB" sz="2500" kern="0" dirty="0" smtClean="0"/>
              <a:t/>
            </a:r>
            <a:br>
              <a:rPr lang="en-GB" sz="2500" kern="0" dirty="0" smtClean="0"/>
            </a:br>
            <a:r>
              <a:rPr lang="gu-IN" sz="4000" b="1" spc="50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કોમનવેલ્થ</a:t>
            </a:r>
            <a:endParaRPr lang="en-GB" sz="4000" kern="0" dirty="0">
              <a:solidFill>
                <a:srgbClr val="FFC000"/>
              </a:solidFill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6504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95300" y="6292850"/>
            <a:ext cx="28067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11538" y="6305550"/>
            <a:ext cx="3522662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CGS Teachers Course - 27 October 2018</a:t>
            </a:r>
            <a:endParaRPr lang="en-GB" dirty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9300" y="6297613"/>
            <a:ext cx="23114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Slide </a:t>
            </a:r>
            <a:fld id="{0791107B-2345-4607-ADE7-C5725CF4E4E6}" type="slidenum">
              <a:rPr lang="en-GB" smtClean="0"/>
              <a:pPr eaLnBrk="1" hangingPunct="1"/>
              <a:t>2</a:t>
            </a:fld>
            <a:endParaRPr lang="en-GB" smtClean="0"/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298384" y="974034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98384" y="6172200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" name="Title 1"/>
          <p:cNvSpPr txBox="1">
            <a:spLocks noGrp="1"/>
          </p:cNvSpPr>
          <p:nvPr>
            <p:ph type="title"/>
          </p:nvPr>
        </p:nvSpPr>
        <p:spPr bwMode="auto">
          <a:xfrm>
            <a:off x="323850" y="228600"/>
            <a:ext cx="93091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en-GB" sz="2500" kern="0" dirty="0" smtClean="0"/>
              <a:t/>
            </a:r>
            <a:br>
              <a:rPr lang="en-GB" sz="2500" kern="0" dirty="0" smtClean="0"/>
            </a:br>
            <a:r>
              <a:rPr lang="gu-IN" sz="4000" b="1" spc="50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કોમનવેલ્થ</a:t>
            </a:r>
            <a:endParaRPr lang="en-GB" sz="4000" kern="0" dirty="0">
              <a:solidFill>
                <a:srgbClr val="FFC000"/>
              </a:solidFill>
              <a:latin typeface="Castellar" panose="020A0402060406010301" pitchFamily="18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 bwMode="auto">
          <a:xfrm>
            <a:off x="732284" y="1006471"/>
            <a:ext cx="8441432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r>
              <a:rPr lang="en-GB" sz="1800" b="1" kern="0" dirty="0" smtClean="0"/>
              <a:t/>
            </a:r>
            <a:br>
              <a:rPr lang="en-GB" sz="1800" b="1" kern="0" dirty="0" smtClean="0"/>
            </a:br>
            <a:r>
              <a:rPr lang="gu-IN" sz="3000" b="1" kern="0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વિશ્વભર</a:t>
            </a:r>
            <a:r>
              <a:rPr lang="gu-IN" sz="3000" b="1" kern="0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માં</a:t>
            </a:r>
            <a:r>
              <a:rPr lang="gu-IN" sz="3000" b="1" kern="0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દરેક ખંડ</a:t>
            </a:r>
            <a:r>
              <a:rPr lang="gu-IN" sz="3000" b="1" kern="0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માં</a:t>
            </a:r>
            <a:r>
              <a:rPr lang="gu-IN" sz="3000" b="1" kern="0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ફેલાયેલાં રાષ્ટ્રો બતાવતો નકશો</a:t>
            </a:r>
            <a:endParaRPr lang="en-GB" sz="3000" b="1" kern="0" dirty="0">
              <a:solidFill>
                <a:schemeClr val="tx1"/>
              </a:solidFill>
              <a:latin typeface="Shruti" panose="020B0502040204020203" pitchFamily="34" charset="0"/>
              <a:cs typeface="Shruti" panose="020B0502040204020203" pitchFamily="34" charset="0"/>
            </a:endParaRPr>
          </a:p>
        </p:txBody>
      </p:sp>
      <p:pic>
        <p:nvPicPr>
          <p:cNvPr id="14" name="Picture 2" descr="C:\Users\Gill\Desktop\Commonwealth_games_1998_countries_map-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872" y="1962637"/>
            <a:ext cx="7779845" cy="3600400"/>
          </a:xfrm>
          <a:prstGeom prst="rect">
            <a:avLst/>
          </a:prstGeom>
          <a:noFill/>
          <a:ln w="28575">
            <a:solidFill>
              <a:srgbClr val="0066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39994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298384" y="964095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95300" y="6292850"/>
            <a:ext cx="28067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11538" y="6305550"/>
            <a:ext cx="3446462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CGS Teachers Course - 27 October 2018</a:t>
            </a:r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9300" y="6297613"/>
            <a:ext cx="23114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Slide </a:t>
            </a:r>
            <a:fld id="{0791107B-2345-4607-ADE7-C5725CF4E4E6}" type="slidenum">
              <a:rPr lang="en-GB" smtClean="0"/>
              <a:pPr eaLnBrk="1" hangingPunct="1"/>
              <a:t>3</a:t>
            </a:fld>
            <a:endParaRPr lang="en-GB" smtClean="0"/>
          </a:p>
        </p:txBody>
      </p:sp>
      <p:sp>
        <p:nvSpPr>
          <p:cNvPr id="22" name="Line 5"/>
          <p:cNvSpPr>
            <a:spLocks noChangeShapeType="1"/>
          </p:cNvSpPr>
          <p:nvPr/>
        </p:nvSpPr>
        <p:spPr bwMode="auto">
          <a:xfrm>
            <a:off x="298384" y="6172200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" name="Title 1"/>
          <p:cNvSpPr txBox="1">
            <a:spLocks noGrp="1"/>
          </p:cNvSpPr>
          <p:nvPr>
            <p:ph type="title"/>
          </p:nvPr>
        </p:nvSpPr>
        <p:spPr bwMode="auto">
          <a:xfrm>
            <a:off x="323850" y="228600"/>
            <a:ext cx="93091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en-GB" sz="2500" kern="0" dirty="0" smtClean="0"/>
              <a:t/>
            </a:r>
            <a:br>
              <a:rPr lang="en-GB" sz="2500" kern="0" dirty="0" smtClean="0"/>
            </a:br>
            <a:r>
              <a:rPr lang="gu-IN" sz="4000" b="1" spc="50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કોમનવેલ્થ</a:t>
            </a:r>
            <a:endParaRPr lang="en-GB" sz="4000" kern="0" dirty="0">
              <a:solidFill>
                <a:srgbClr val="FFC000"/>
              </a:solidFill>
              <a:latin typeface="Castellar" panose="020A0402060406010301" pitchFamily="18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552450" y="1113657"/>
            <a:ext cx="8801100" cy="75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r>
              <a:rPr lang="gu-IN" sz="3000" b="1" kern="0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વિશ્વભર</a:t>
            </a:r>
            <a:r>
              <a:rPr lang="gu-IN" sz="3000" b="1" kern="0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માં</a:t>
            </a:r>
            <a:r>
              <a:rPr lang="gu-IN" sz="3000" b="1" kern="0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દરેક ખંડ</a:t>
            </a:r>
            <a:r>
              <a:rPr lang="gu-IN" sz="3000" b="1" kern="0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માં</a:t>
            </a:r>
            <a:r>
              <a:rPr lang="gu-IN" sz="3000" b="1" kern="0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ફેલાયેલાં રાષ્ટ્રો</a:t>
            </a:r>
            <a:r>
              <a:rPr lang="gu-IN" sz="3000" b="1" kern="0" dirty="0" smtClean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ના</a:t>
            </a:r>
            <a:r>
              <a:rPr lang="gu-IN" sz="3000" b="1" kern="0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ધ્વજો</a:t>
            </a:r>
            <a:endParaRPr lang="en-GB" sz="3000" kern="0" dirty="0">
              <a:solidFill>
                <a:schemeClr val="tx1"/>
              </a:solidFill>
              <a:latin typeface="Shruti" panose="020B0502040204020203" pitchFamily="34" charset="0"/>
              <a:cs typeface="Shruti" panose="020B0502040204020203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839" y="1734378"/>
            <a:ext cx="6660322" cy="42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553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95300" y="6292850"/>
            <a:ext cx="28067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11538" y="6305550"/>
            <a:ext cx="3446462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CGS Teachers Course - 27 October 2018</a:t>
            </a:r>
            <a:endParaRPr lang="en-GB" dirty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9300" y="6297613"/>
            <a:ext cx="23114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Slide </a:t>
            </a:r>
            <a:fld id="{0791107B-2345-4607-ADE7-C5725CF4E4E6}" type="slidenum">
              <a:rPr lang="en-GB" smtClean="0"/>
              <a:pPr eaLnBrk="1" hangingPunct="1"/>
              <a:t>4</a:t>
            </a:fld>
            <a:endParaRPr lang="en-GB" dirty="0" smtClean="0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98384" y="6172200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298384" y="964095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" name="Title 1"/>
          <p:cNvSpPr txBox="1">
            <a:spLocks noGrp="1"/>
          </p:cNvSpPr>
          <p:nvPr>
            <p:ph type="title"/>
          </p:nvPr>
        </p:nvSpPr>
        <p:spPr bwMode="auto">
          <a:xfrm>
            <a:off x="323850" y="228600"/>
            <a:ext cx="93091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en-GB" sz="2500" kern="0" dirty="0" smtClean="0"/>
              <a:t/>
            </a:r>
            <a:br>
              <a:rPr lang="en-GB" sz="2500" kern="0" dirty="0" smtClean="0"/>
            </a:br>
            <a:r>
              <a:rPr lang="gu-IN" sz="4000" b="1" spc="50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કોમનવેલ્થ</a:t>
            </a:r>
            <a:endParaRPr lang="en-GB" sz="4000" kern="0" dirty="0">
              <a:solidFill>
                <a:srgbClr val="FFC000"/>
              </a:solidFill>
              <a:latin typeface="Castellar" panose="020A0402060406010301" pitchFamily="18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 bwMode="auto">
          <a:xfrm>
            <a:off x="495300" y="1119242"/>
            <a:ext cx="8648700" cy="1029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r>
              <a:rPr lang="gu-IN" sz="2700" b="1" kern="0" dirty="0" smtClean="0">
                <a:solidFill>
                  <a:schemeClr val="tx1"/>
                </a:solidFill>
              </a:rPr>
              <a:t>બ્રિટન</a:t>
            </a:r>
            <a:r>
              <a:rPr lang="gu-IN" sz="2700" b="1" kern="0" dirty="0" smtClean="0">
                <a:solidFill>
                  <a:srgbClr val="0000CC"/>
                </a:solidFill>
              </a:rPr>
              <a:t>નાં</a:t>
            </a:r>
            <a:r>
              <a:rPr lang="gu-IN" sz="2700" b="1" kern="0" dirty="0" smtClean="0">
                <a:solidFill>
                  <a:schemeClr val="tx1"/>
                </a:solidFill>
              </a:rPr>
              <a:t> રાણી કોમનવેલ્થ</a:t>
            </a:r>
            <a:r>
              <a:rPr lang="gu-IN" sz="2700" b="1" kern="0" dirty="0" smtClean="0">
                <a:solidFill>
                  <a:srgbClr val="0000CC"/>
                </a:solidFill>
              </a:rPr>
              <a:t>નાં</a:t>
            </a:r>
            <a:r>
              <a:rPr lang="gu-IN" sz="2700" b="1" kern="0" dirty="0" smtClean="0">
                <a:solidFill>
                  <a:schemeClr val="tx1"/>
                </a:solidFill>
              </a:rPr>
              <a:t> વ</a:t>
            </a:r>
            <a:r>
              <a:rPr lang="gu-IN" sz="2700" b="1" kern="0" dirty="0" smtClean="0">
                <a:solidFill>
                  <a:srgbClr val="0000CC"/>
                </a:solidFill>
              </a:rPr>
              <a:t>ડાં</a:t>
            </a:r>
            <a:r>
              <a:rPr lang="gu-IN" sz="2700" b="1" kern="0" dirty="0" smtClean="0">
                <a:solidFill>
                  <a:schemeClr val="tx1"/>
                </a:solidFill>
              </a:rPr>
              <a:t> છે. </a:t>
            </a:r>
            <a:r>
              <a:rPr lang="en-GB" sz="2700" b="1" kern="0" dirty="0" smtClean="0">
                <a:solidFill>
                  <a:schemeClr val="tx1"/>
                </a:solidFill>
              </a:rPr>
              <a:t/>
            </a:r>
            <a:br>
              <a:rPr lang="en-GB" sz="2700" b="1" kern="0" dirty="0" smtClean="0">
                <a:solidFill>
                  <a:schemeClr val="tx1"/>
                </a:solidFill>
              </a:rPr>
            </a:br>
            <a:r>
              <a:rPr lang="gu-IN" sz="2700" b="1" kern="0" dirty="0" smtClean="0">
                <a:solidFill>
                  <a:srgbClr val="C00000"/>
                </a:solidFill>
              </a:rPr>
              <a:t>અહીં</a:t>
            </a:r>
            <a:r>
              <a:rPr lang="gu-IN" sz="2700" b="1" kern="0" dirty="0" smtClean="0">
                <a:solidFill>
                  <a:schemeClr val="tx1"/>
                </a:solidFill>
              </a:rPr>
              <a:t> </a:t>
            </a:r>
            <a:r>
              <a:rPr lang="gu-IN" sz="2700" b="1" kern="0" dirty="0" smtClean="0">
                <a:solidFill>
                  <a:srgbClr val="C00000"/>
                </a:solidFill>
              </a:rPr>
              <a:t>તેઓ</a:t>
            </a:r>
            <a:r>
              <a:rPr lang="gu-IN" sz="2700" b="1" kern="0" dirty="0" smtClean="0">
                <a:solidFill>
                  <a:schemeClr val="tx1"/>
                </a:solidFill>
              </a:rPr>
              <a:t> કેટલાક કૉમનવેલ્થ દેશો</a:t>
            </a:r>
            <a:r>
              <a:rPr lang="gu-IN" sz="2700" b="1" kern="0" dirty="0" smtClean="0">
                <a:solidFill>
                  <a:srgbClr val="0000CC"/>
                </a:solidFill>
              </a:rPr>
              <a:t>ની</a:t>
            </a:r>
            <a:r>
              <a:rPr lang="gu-IN" sz="2700" b="1" kern="0" dirty="0" smtClean="0">
                <a:solidFill>
                  <a:schemeClr val="tx1"/>
                </a:solidFill>
              </a:rPr>
              <a:t> મુલાકાત લઈ </a:t>
            </a:r>
            <a:r>
              <a:rPr lang="gu-IN" sz="2700" b="1" kern="0" dirty="0" smtClean="0">
                <a:solidFill>
                  <a:srgbClr val="C00000"/>
                </a:solidFill>
              </a:rPr>
              <a:t>રહ્યાં</a:t>
            </a:r>
            <a:r>
              <a:rPr lang="gu-IN" sz="2700" b="1" kern="0" dirty="0" smtClean="0">
                <a:solidFill>
                  <a:schemeClr val="tx1"/>
                </a:solidFill>
              </a:rPr>
              <a:t> છે.</a:t>
            </a:r>
            <a:endParaRPr lang="en-GB" sz="2700" b="1" kern="0" dirty="0">
              <a:solidFill>
                <a:schemeClr val="tx1"/>
              </a:solidFill>
              <a:latin typeface="Castellar" panose="020A0402060406010301" pitchFamily="18" charset="0"/>
            </a:endParaRPr>
          </a:p>
        </p:txBody>
      </p:sp>
      <p:pic>
        <p:nvPicPr>
          <p:cNvPr id="14" name="Picture 2" descr="C:\Users\Gill\Desktop\comment-front0_2_2505725b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480" y="2158002"/>
            <a:ext cx="2593058" cy="1618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Gill\Desktop\Philip 5_LRG-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217613"/>
            <a:ext cx="2742720" cy="1540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C:\Users\Gill\Desktop\rcmp-2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053899"/>
            <a:ext cx="2628528" cy="174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5" descr="C:\Users\Gill\Desktop\images-48.jpe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89247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148" y="2681572"/>
            <a:ext cx="1941004" cy="242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8240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95300" y="6292850"/>
            <a:ext cx="28067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11538" y="6305550"/>
            <a:ext cx="3446462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CGS Teachers Course - 27 October 2018</a:t>
            </a:r>
            <a:endParaRPr lang="en-GB" dirty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9300" y="6297613"/>
            <a:ext cx="23114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Slide </a:t>
            </a:r>
            <a:fld id="{0791107B-2345-4607-ADE7-C5725CF4E4E6}" type="slidenum">
              <a:rPr lang="en-GB" smtClean="0"/>
              <a:pPr eaLnBrk="1" hangingPunct="1"/>
              <a:t>5</a:t>
            </a:fld>
            <a:endParaRPr lang="en-GB" dirty="0" smtClean="0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98384" y="6172200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268087" y="934278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" name="Title 1"/>
          <p:cNvSpPr txBox="1">
            <a:spLocks noGrp="1"/>
          </p:cNvSpPr>
          <p:nvPr>
            <p:ph type="title"/>
          </p:nvPr>
        </p:nvSpPr>
        <p:spPr bwMode="auto">
          <a:xfrm>
            <a:off x="2600325" y="228600"/>
            <a:ext cx="47053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en-GB" sz="2500" kern="0" dirty="0" smtClean="0"/>
              <a:t/>
            </a:r>
            <a:br>
              <a:rPr lang="en-GB" sz="2500" kern="0" dirty="0" smtClean="0"/>
            </a:br>
            <a:r>
              <a:rPr lang="gu-IN" sz="4000" b="1" spc="50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કોમનવેલ્થ ગેમ્સ</a:t>
            </a:r>
            <a:endParaRPr lang="en-GB" sz="4000" kern="0" dirty="0">
              <a:solidFill>
                <a:srgbClr val="FFC000"/>
              </a:solidFill>
              <a:latin typeface="Castellar" panose="020A0402060406010301" pitchFamily="18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 bwMode="auto">
          <a:xfrm>
            <a:off x="381694" y="1119242"/>
            <a:ext cx="9142613" cy="1654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 algn="l"/>
            <a:r>
              <a:rPr lang="gu-IN" sz="26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કોમનવેલ્થ </a:t>
            </a:r>
            <a:r>
              <a:rPr lang="gu-IN" sz="26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રમતો કોમનવેલ્થ</a:t>
            </a:r>
            <a:r>
              <a:rPr lang="gu-IN" sz="2600" b="1" dirty="0" smtClean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ના</a:t>
            </a:r>
            <a:r>
              <a:rPr lang="gu-IN" sz="26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6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સભ્ય રાષ્ટ્રોને જોડ</a:t>
            </a:r>
            <a:r>
              <a:rPr lang="gu-IN" sz="26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તી</a:t>
            </a:r>
            <a:r>
              <a:rPr lang="gu-IN" sz="26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એક </a:t>
            </a:r>
            <a:r>
              <a:rPr lang="gu-IN" sz="2600" b="1" dirty="0">
                <a:solidFill>
                  <a:srgbClr val="0066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કડી છે</a:t>
            </a:r>
            <a:r>
              <a:rPr lang="gu-IN" sz="26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. </a:t>
            </a:r>
            <a:endParaRPr lang="gu-IN" sz="2600" b="1" dirty="0" smtClean="0">
              <a:solidFill>
                <a:schemeClr val="tx1"/>
              </a:solidFill>
              <a:latin typeface="Shruti" panose="020B0502040204020203" pitchFamily="34" charset="0"/>
              <a:cs typeface="Shruti" panose="020B0502040204020203" pitchFamily="34" charset="0"/>
            </a:endParaRPr>
          </a:p>
          <a:p>
            <a:pPr algn="l"/>
            <a:r>
              <a:rPr lang="gu-IN" sz="2600" b="1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આ</a:t>
            </a:r>
            <a:r>
              <a:rPr lang="gu-IN" sz="26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6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રમતો</a:t>
            </a:r>
            <a:r>
              <a:rPr lang="gu-IN" sz="26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નું</a:t>
            </a:r>
            <a:r>
              <a:rPr lang="gu-IN" sz="26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આયોજન </a:t>
            </a:r>
            <a:r>
              <a:rPr lang="gu-IN" sz="2600" b="1" dirty="0">
                <a:solidFill>
                  <a:srgbClr val="CC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દર ચાર વર્ષે </a:t>
            </a:r>
            <a:r>
              <a:rPr lang="gu-IN" sz="2600" b="1" dirty="0">
                <a:solidFill>
                  <a:srgbClr val="0066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કરવામાં</a:t>
            </a:r>
            <a:r>
              <a:rPr lang="gu-IN" sz="26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600" b="1" dirty="0">
                <a:solidFill>
                  <a:srgbClr val="0066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આવે છે</a:t>
            </a:r>
            <a:r>
              <a:rPr lang="gu-IN" sz="26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, અને </a:t>
            </a:r>
            <a:r>
              <a:rPr lang="gu-IN" sz="26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તેમાં </a:t>
            </a:r>
            <a:r>
              <a:rPr lang="gu-IN" sz="26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હજારો </a:t>
            </a:r>
            <a:r>
              <a:rPr lang="gu-IN" sz="26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પ્રતિષ્ઠિત</a:t>
            </a:r>
            <a:r>
              <a:rPr lang="gu-IN" sz="26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ખેલાડીઓ </a:t>
            </a:r>
            <a:r>
              <a:rPr lang="gu-IN" sz="2600" b="1" dirty="0">
                <a:solidFill>
                  <a:srgbClr val="0066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ભાગ લે </a:t>
            </a:r>
            <a:r>
              <a:rPr lang="gu-IN" sz="2600" b="1" dirty="0" smtClean="0">
                <a:solidFill>
                  <a:srgbClr val="0066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છે</a:t>
            </a:r>
            <a:r>
              <a:rPr lang="gu-IN" sz="26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.</a:t>
            </a:r>
            <a:endParaRPr lang="en-GB" sz="2600" b="1" kern="0" dirty="0">
              <a:solidFill>
                <a:schemeClr val="tx1"/>
              </a:solidFill>
              <a:latin typeface="Shruti" panose="020B0502040204020203" pitchFamily="34" charset="0"/>
              <a:cs typeface="Shruti" panose="020B0502040204020203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451" y="2892798"/>
            <a:ext cx="4126217" cy="275370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50" y="2953995"/>
            <a:ext cx="3897749" cy="137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6527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95300" y="6292850"/>
            <a:ext cx="28067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84722" y="6315191"/>
            <a:ext cx="3514578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CGS Teachers Course - 27 October 2018</a:t>
            </a:r>
            <a:endParaRPr lang="en-GB" dirty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9300" y="6297613"/>
            <a:ext cx="23114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Slide </a:t>
            </a:r>
            <a:fld id="{0791107B-2345-4607-ADE7-C5725CF4E4E6}" type="slidenum">
              <a:rPr lang="en-GB" smtClean="0"/>
              <a:pPr eaLnBrk="1" hangingPunct="1"/>
              <a:t>6</a:t>
            </a:fld>
            <a:endParaRPr lang="en-GB" dirty="0" smtClean="0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98384" y="6172200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268087" y="934278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" name="Title 1"/>
          <p:cNvSpPr txBox="1">
            <a:spLocks noGrp="1"/>
          </p:cNvSpPr>
          <p:nvPr>
            <p:ph type="title"/>
          </p:nvPr>
        </p:nvSpPr>
        <p:spPr bwMode="auto">
          <a:xfrm>
            <a:off x="2600325" y="228600"/>
            <a:ext cx="47053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en-GB" sz="2500" kern="0" dirty="0" smtClean="0"/>
              <a:t/>
            </a:r>
            <a:br>
              <a:rPr lang="en-GB" sz="2500" kern="0" dirty="0" smtClean="0"/>
            </a:br>
            <a:r>
              <a:rPr lang="gu-IN" sz="4000" b="1" spc="50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કોમનવેલ્થ ગેમ્સ</a:t>
            </a:r>
            <a:endParaRPr lang="en-GB" sz="4000" kern="0" dirty="0">
              <a:solidFill>
                <a:srgbClr val="FFC000"/>
              </a:solidFill>
              <a:latin typeface="Castellar" panose="020A0402060406010301" pitchFamily="18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 bwMode="auto">
          <a:xfrm>
            <a:off x="636454" y="1067628"/>
            <a:ext cx="8633093" cy="2764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 algn="l">
              <a:spcAft>
                <a:spcPts val="1000"/>
              </a:spcAft>
            </a:pPr>
            <a:r>
              <a:rPr lang="gu-IN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તે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ની</a:t>
            </a:r>
            <a:r>
              <a:rPr lang="gu-IN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શરૂઆત 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૧૯૩૦માં</a:t>
            </a:r>
            <a:r>
              <a:rPr lang="gu-IN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en-GB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“</a:t>
            </a:r>
            <a:r>
              <a:rPr lang="gu-IN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ધ બ્રિટિશ </a:t>
            </a:r>
            <a:r>
              <a:rPr lang="gu-IN" sz="25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એમ્પાયર </a:t>
            </a:r>
            <a:r>
              <a:rPr lang="gu-IN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ગેમ્સ</a:t>
            </a:r>
            <a:r>
              <a:rPr lang="en-GB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” </a:t>
            </a:r>
            <a:r>
              <a:rPr lang="gu-IN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તરીકે 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થઈ</a:t>
            </a:r>
            <a:r>
              <a:rPr lang="gu-IN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હતી</a:t>
            </a:r>
            <a:r>
              <a:rPr lang="gu-IN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. </a:t>
            </a:r>
            <a:r>
              <a:rPr lang="gu-IN" sz="25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૧૯૫૨</a:t>
            </a:r>
            <a:r>
              <a:rPr lang="gu-IN" sz="2500" b="1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માં</a:t>
            </a:r>
            <a:r>
              <a:rPr lang="gu-IN" sz="25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તે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નું</a:t>
            </a:r>
            <a:r>
              <a:rPr lang="gu-IN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નામ બદલીને </a:t>
            </a:r>
            <a:r>
              <a:rPr lang="en-GB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“</a:t>
            </a:r>
            <a:r>
              <a:rPr lang="gu-IN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બ્રિટિશ એમ્પાયર એન્ડ કોમનવેલ્થ ગેમ્સ</a:t>
            </a:r>
            <a:r>
              <a:rPr lang="en-GB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”</a:t>
            </a:r>
            <a:r>
              <a:rPr lang="gu-IN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રાખવા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માં</a:t>
            </a:r>
            <a:r>
              <a:rPr lang="gu-IN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આવ્યું</a:t>
            </a:r>
            <a:r>
              <a:rPr lang="gu-IN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. </a:t>
            </a:r>
            <a:endParaRPr lang="gu-IN" sz="2500" b="1" dirty="0" smtClean="0">
              <a:solidFill>
                <a:schemeClr val="tx1"/>
              </a:solidFill>
              <a:latin typeface="Shruti" panose="020B0502040204020203" pitchFamily="34" charset="0"/>
              <a:cs typeface="Shruti" panose="020B0502040204020203" pitchFamily="34" charset="0"/>
            </a:endParaRPr>
          </a:p>
          <a:p>
            <a:pPr algn="l"/>
            <a:r>
              <a:rPr lang="gu-IN" sz="2500" b="1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ત્યાર 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બાદ </a:t>
            </a:r>
            <a:r>
              <a:rPr lang="gu-IN" sz="2500" b="1" u="sng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જ્યારે</a:t>
            </a:r>
            <a:r>
              <a:rPr lang="gu-IN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૧૯૭૮માં</a:t>
            </a:r>
            <a:r>
              <a:rPr lang="gu-IN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5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કેનેડા</a:t>
            </a:r>
            <a:r>
              <a:rPr lang="gu-IN" sz="2500" b="1" dirty="0" smtClean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નાં</a:t>
            </a:r>
            <a:r>
              <a:rPr lang="gu-IN" sz="25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એડમન્ટન શહેર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માં</a:t>
            </a:r>
            <a:r>
              <a:rPr lang="gu-IN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કોમનવેલ્થ રમતો રાખવામાં આવી 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ત્યારે</a:t>
            </a:r>
            <a:r>
              <a:rPr lang="gu-IN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તે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નું</a:t>
            </a:r>
            <a:r>
              <a:rPr lang="gu-IN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નામ બદલીને </a:t>
            </a:r>
            <a:r>
              <a:rPr lang="en-GB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“</a:t>
            </a:r>
            <a:r>
              <a:rPr lang="gu-IN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કોમનવેલ્થ ગેમ્સ</a:t>
            </a:r>
            <a:r>
              <a:rPr lang="en-GB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”</a:t>
            </a:r>
            <a:r>
              <a:rPr lang="gu-IN" sz="25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રાખવામાં 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આવ્યું</a:t>
            </a:r>
            <a:r>
              <a:rPr lang="gu-IN" sz="25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.</a:t>
            </a:r>
            <a:endParaRPr lang="en-GB" sz="2600" b="1" kern="0" dirty="0">
              <a:solidFill>
                <a:schemeClr val="tx1"/>
              </a:solidFill>
              <a:latin typeface="Shruti" panose="020B0502040204020203" pitchFamily="34" charset="0"/>
              <a:cs typeface="Shruti" panose="020B05020402040202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36454" y="3711436"/>
            <a:ext cx="8583746" cy="2054249"/>
            <a:chOff x="636454" y="3371851"/>
            <a:chExt cx="8583746" cy="2054249"/>
          </a:xfrm>
        </p:grpSpPr>
        <p:pic>
          <p:nvPicPr>
            <p:cNvPr id="14" name="Picture 13" descr="http://www.sadhanaweekly.com/Encyc/2018/4/4/2_02_32_33_Commonwealth-Games_1_H@@IGHT_624_W@@IDTH_1024.jpg"/>
            <p:cNvPicPr/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2645" y="3613036"/>
              <a:ext cx="2177040" cy="14748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5050" y="3608795"/>
              <a:ext cx="2040876" cy="1422581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454" y="3371851"/>
              <a:ext cx="1806574" cy="2054249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5543" y="3468155"/>
              <a:ext cx="2024657" cy="1619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28980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95300" y="6292850"/>
            <a:ext cx="28067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11538" y="6305550"/>
            <a:ext cx="3522662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CGS Teachers Course - 27 October 2018</a:t>
            </a:r>
            <a:endParaRPr lang="en-GB" dirty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9300" y="6297613"/>
            <a:ext cx="23114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Slide </a:t>
            </a:r>
            <a:fld id="{0791107B-2345-4607-ADE7-C5725CF4E4E6}" type="slidenum">
              <a:rPr lang="en-GB" smtClean="0"/>
              <a:pPr eaLnBrk="1" hangingPunct="1"/>
              <a:t>7</a:t>
            </a:fld>
            <a:endParaRPr lang="en-GB" dirty="0" smtClean="0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98384" y="6172200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268087" y="934278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" name="Title 1"/>
          <p:cNvSpPr txBox="1">
            <a:spLocks noGrp="1"/>
          </p:cNvSpPr>
          <p:nvPr>
            <p:ph type="title"/>
          </p:nvPr>
        </p:nvSpPr>
        <p:spPr bwMode="auto">
          <a:xfrm>
            <a:off x="2600325" y="228600"/>
            <a:ext cx="47053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en-GB" sz="2500" kern="0" dirty="0" smtClean="0"/>
              <a:t/>
            </a:r>
            <a:br>
              <a:rPr lang="en-GB" sz="2500" kern="0" dirty="0" smtClean="0"/>
            </a:br>
            <a:r>
              <a:rPr lang="gu-IN" sz="4000" b="1" spc="50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કોમનવેલ્થ ગેમ્સ</a:t>
            </a:r>
            <a:endParaRPr lang="en-GB" sz="4000" kern="0" dirty="0">
              <a:solidFill>
                <a:srgbClr val="FFC000"/>
              </a:solidFill>
              <a:latin typeface="Castellar" panose="020A0402060406010301" pitchFamily="18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 bwMode="auto">
          <a:xfrm>
            <a:off x="381000" y="1311253"/>
            <a:ext cx="8915400" cy="2304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 algn="l">
              <a:spcAft>
                <a:spcPts val="1100"/>
              </a:spcAft>
            </a:pP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૨૦૧૦માં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ભારત</a:t>
            </a:r>
            <a:r>
              <a:rPr lang="gu-IN" sz="2400" b="1" dirty="0" smtClean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નાં</a:t>
            </a:r>
            <a: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દિલ્હી શહેર</a:t>
            </a:r>
            <a:r>
              <a:rPr lang="gu-IN" sz="2400" b="1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માં</a:t>
            </a:r>
            <a: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400" b="1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પહેલી 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વખત </a:t>
            </a:r>
            <a: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આ 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રમતો</a:t>
            </a:r>
            <a:r>
              <a:rPr lang="gu-IN" sz="24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નું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આયોજન કરવામાં </a:t>
            </a:r>
            <a:r>
              <a:rPr lang="gu-IN" sz="2400" b="1" dirty="0" smtClean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આવ્યું હતું</a:t>
            </a:r>
            <a: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.</a:t>
            </a:r>
            <a:r>
              <a:rPr lang="gu-IN" sz="2400" b="1" dirty="0" smtClean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કોમનવેલ્થ 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રમતો</a:t>
            </a:r>
            <a:r>
              <a:rPr lang="gu-IN" sz="24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નું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ઓકલેન્ડ 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અને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એડિનબરા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માં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બે વખત 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આયોજન </a:t>
            </a:r>
            <a:r>
              <a:rPr lang="gu-IN" sz="2400" b="1" dirty="0" smtClean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થયું </a:t>
            </a:r>
            <a:r>
              <a:rPr lang="gu-IN" sz="24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હતું, 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કેનેડા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માં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ચાર વખત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, 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અને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૨૦૨૨માં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ઈંગ્લેન્ડ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માં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ત્રીજી વખત 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તે</a:t>
            </a:r>
            <a:r>
              <a:rPr lang="gu-IN" sz="24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નું 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આયોજન </a:t>
            </a:r>
            <a:r>
              <a:rPr lang="gu-IN" sz="2400" b="1" dirty="0">
                <a:solidFill>
                  <a:srgbClr val="7030A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થશે</a:t>
            </a:r>
            <a:r>
              <a:rPr lang="gu-IN" sz="2400" b="1" dirty="0" smtClean="0">
                <a:solidFill>
                  <a:srgbClr val="7030A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.</a:t>
            </a:r>
          </a:p>
          <a:p>
            <a:pPr algn="l"/>
            <a: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કોમનવેલ્થ 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રમતો છેલ્લે 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૨૦૧૮માં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પાંચમી વખત </a:t>
            </a:r>
            <a: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ઓસ્ટ્રેલિયા</a:t>
            </a:r>
            <a:r>
              <a:rPr lang="gu-IN" sz="2400" b="1" dirty="0" smtClean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નાં</a:t>
            </a:r>
            <a: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ગોલ્ડ કોસ્ટ શહેર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માં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યોજવામાં </a:t>
            </a:r>
            <a:r>
              <a:rPr lang="gu-IN" sz="24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આવી </a:t>
            </a:r>
            <a:r>
              <a:rPr lang="gu-IN" sz="2400" b="1" dirty="0" smtClean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હતી</a:t>
            </a:r>
            <a: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. આ રમતો</a:t>
            </a:r>
            <a:r>
              <a:rPr lang="gu-IN" sz="2400" b="1" dirty="0" smtClean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નું </a:t>
            </a:r>
            <a: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અહીં </a:t>
            </a:r>
            <a:r>
              <a:rPr lang="gu-IN" sz="2400" b="1" dirty="0">
                <a:solidFill>
                  <a:srgbClr val="CC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સૌથી વધારે 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વખત આયોજન </a:t>
            </a:r>
            <a: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કરવામાં </a:t>
            </a:r>
            <a:r>
              <a:rPr lang="gu-IN" sz="2400" b="1" dirty="0" smtClean="0">
                <a:solidFill>
                  <a:srgbClr val="0066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આવ્યું છે</a:t>
            </a:r>
            <a: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.</a:t>
            </a:r>
            <a:endParaRPr lang="en-GB" sz="2400" b="1" kern="0" dirty="0">
              <a:solidFill>
                <a:schemeClr val="tx1"/>
              </a:solidFill>
              <a:latin typeface="Shruti" panose="020B0502040204020203" pitchFamily="34" charset="0"/>
              <a:cs typeface="Shruti" panose="020B0502040204020203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371600" y="3791485"/>
            <a:ext cx="7620000" cy="2326878"/>
            <a:chOff x="1371600" y="3711973"/>
            <a:chExt cx="7620000" cy="232687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1600" y="3793587"/>
              <a:ext cx="1501849" cy="224526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8281" y="3716857"/>
              <a:ext cx="1504950" cy="2216381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9400" y="3711973"/>
              <a:ext cx="2362200" cy="21784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424083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95300" y="6292850"/>
            <a:ext cx="28067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11538" y="6305550"/>
            <a:ext cx="3522662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CGS Teachers Course - 27 October 2018</a:t>
            </a:r>
            <a:endParaRPr lang="en-GB" dirty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9300" y="6297613"/>
            <a:ext cx="23114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Slide </a:t>
            </a:r>
            <a:fld id="{0791107B-2345-4607-ADE7-C5725CF4E4E6}" type="slidenum">
              <a:rPr lang="en-GB" smtClean="0"/>
              <a:pPr eaLnBrk="1" hangingPunct="1"/>
              <a:t>8</a:t>
            </a:fld>
            <a:endParaRPr lang="en-GB" dirty="0" smtClean="0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98384" y="6172200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298383" y="815976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" name="Title 1"/>
          <p:cNvSpPr txBox="1">
            <a:spLocks noGrp="1"/>
          </p:cNvSpPr>
          <p:nvPr>
            <p:ph type="title"/>
          </p:nvPr>
        </p:nvSpPr>
        <p:spPr bwMode="auto">
          <a:xfrm>
            <a:off x="2600325" y="130176"/>
            <a:ext cx="47053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en-GB" sz="2500" kern="0" dirty="0" smtClean="0"/>
              <a:t/>
            </a:r>
            <a:br>
              <a:rPr lang="en-GB" sz="2500" kern="0" dirty="0" smtClean="0"/>
            </a:br>
            <a:r>
              <a:rPr lang="gu-IN" sz="4000" b="1" spc="50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કોમનવેલ્થ ગેમ્સ</a:t>
            </a:r>
            <a:endParaRPr lang="en-GB" sz="4000" kern="0" dirty="0">
              <a:solidFill>
                <a:srgbClr val="FFC000"/>
              </a:solidFill>
              <a:latin typeface="Castellar" panose="020A0402060406010301" pitchFamily="18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 bwMode="auto">
          <a:xfrm>
            <a:off x="541321" y="949324"/>
            <a:ext cx="8823359" cy="331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 algn="l">
              <a:spcAft>
                <a:spcPts val="1000"/>
              </a:spcAft>
            </a:pP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કોમનવેલ્થ રમતો</a:t>
            </a:r>
            <a:r>
              <a:rPr lang="gu-IN" sz="24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ની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શરૂઆત બકિંગહામ રાજમહેલ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થી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en-GB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“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ક્વિન્સ બેટન</a:t>
            </a:r>
            <a:r>
              <a:rPr lang="en-GB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”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રીલે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થી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400" b="1" dirty="0">
                <a:solidFill>
                  <a:srgbClr val="0066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થાય છે 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અને જે સ્થળ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માં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400" b="1" dirty="0">
                <a:solidFill>
                  <a:srgbClr val="0066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યોજાઈ હોય 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ત્યાં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સમાપ્ત </a:t>
            </a:r>
            <a:r>
              <a:rPr lang="gu-IN" sz="2400" b="1" dirty="0">
                <a:solidFill>
                  <a:srgbClr val="0066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થાય છે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. 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૨૦૧૮માં ૨૧મી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કોમનવેલ્થ રમતો</a:t>
            </a:r>
            <a:r>
              <a:rPr lang="gu-IN" sz="24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નો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en-GB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“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ક્વિન્સ બેટન</a:t>
            </a:r>
            <a:r>
              <a:rPr lang="en-GB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”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રીલે</a:t>
            </a:r>
            <a:r>
              <a:rPr lang="gu-IN" sz="24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નો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પ્રવાસ </a:t>
            </a:r>
            <a: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/>
            </a:r>
            <a:b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</a:br>
            <a: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૩૮૮ 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દિવસે 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ગોલ્ડ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કોસ્ટ શહેર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માં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4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પૂરો થયો હતો</a:t>
            </a:r>
            <a: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. </a:t>
            </a:r>
            <a:endParaRPr lang="en-GB" sz="2400" b="1" dirty="0" smtClean="0">
              <a:solidFill>
                <a:schemeClr val="tx1"/>
              </a:solidFill>
              <a:latin typeface="Shruti" panose="020B0502040204020203" pitchFamily="34" charset="0"/>
              <a:cs typeface="Shruti" panose="020B0502040204020203" pitchFamily="34" charset="0"/>
            </a:endParaRPr>
          </a:p>
          <a:p>
            <a:pPr algn="l">
              <a:spcAft>
                <a:spcPts val="1000"/>
              </a:spcAft>
            </a:pPr>
            <a:r>
              <a:rPr lang="gu-IN" sz="2400" b="1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૨૧મી</a:t>
            </a:r>
            <a: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કોમનવેલ્થ રમતો ૪ એપ્રિલ 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૨૦૧૮ના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દિવ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સે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ઓસ્ટ્રેલિયા</a:t>
            </a:r>
            <a:r>
              <a:rPr lang="gu-IN" sz="2400" b="1" dirty="0" smtClean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નાં</a:t>
            </a:r>
            <a: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ક્વીન્સલેન્ડ </a:t>
            </a:r>
            <a: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રાજ્ય</a:t>
            </a:r>
            <a:r>
              <a:rPr lang="gu-IN" sz="2400" b="1" dirty="0" smtClean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નાં</a:t>
            </a:r>
            <a:r>
              <a:rPr lang="gu-IN" sz="2400" b="1" dirty="0" smtClean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ગોલ્ડ કોસ્ટ શહેર</a:t>
            </a:r>
            <a:r>
              <a:rPr lang="gu-IN" sz="24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માં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રંગારંગ ઉદ્ઘાટન સમારંભ સાથે શરૂ </a:t>
            </a:r>
            <a:r>
              <a:rPr lang="gu-IN" sz="24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થઈ હતી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. ઈંગ્લેન્ડ</a:t>
            </a:r>
            <a:r>
              <a:rPr lang="gu-IN" sz="24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નાં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રાણી એલિઝાબેથ</a:t>
            </a:r>
            <a:r>
              <a:rPr lang="gu-IN" sz="24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ના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પ્રતિનિધિ તરીકે પ્રિન્સ ચાર્લ્સ હાજર </a:t>
            </a:r>
            <a:r>
              <a:rPr lang="gu-IN" sz="24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રહ્યા હતા</a:t>
            </a:r>
            <a:r>
              <a:rPr lang="gu-IN" sz="2400" b="1" dirty="0">
                <a:solidFill>
                  <a:schemeClr val="tx1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. </a:t>
            </a:r>
            <a:endParaRPr lang="en-GB" sz="2400" b="1" kern="0" dirty="0">
              <a:solidFill>
                <a:schemeClr val="tx1"/>
              </a:solidFill>
              <a:latin typeface="Shruti" panose="020B0502040204020203" pitchFamily="34" charset="0"/>
              <a:cs typeface="Shruti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4018990"/>
            <a:ext cx="1548572" cy="2027798"/>
          </a:xfrm>
          <a:prstGeom prst="rect">
            <a:avLst/>
          </a:prstGeom>
        </p:spPr>
      </p:pic>
      <p:pic>
        <p:nvPicPr>
          <p:cNvPr id="17" name="Picture 16" descr="https://upload.wikimedia.org/wikipedia/en/thumb/c/c9/Gold_Coast_2018_Queen%27s_Baton_Relay_Logo.jpg/200px-Gold_Coast_2018_Queen%27s_Baton_Relay_Logo.jpg">
            <a:hlinkClick r:id="rId4" tooltip="&quot;2018 Queen's Baton Relay logo&quot;"/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029588"/>
            <a:ext cx="1600200" cy="20822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69521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95300" y="6292850"/>
            <a:ext cx="28067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11538" y="6305550"/>
            <a:ext cx="3522662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CGS Teachers Course - 27 October 2018</a:t>
            </a:r>
            <a:endParaRPr lang="en-GB" dirty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9300" y="6297613"/>
            <a:ext cx="23114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Slide </a:t>
            </a:r>
            <a:fld id="{0791107B-2345-4607-ADE7-C5725CF4E4E6}" type="slidenum">
              <a:rPr lang="en-GB" smtClean="0"/>
              <a:pPr eaLnBrk="1" hangingPunct="1"/>
              <a:t>9</a:t>
            </a:fld>
            <a:endParaRPr lang="en-GB" dirty="0" smtClean="0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98384" y="6172200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298383" y="835854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" name="Title 1"/>
          <p:cNvSpPr txBox="1">
            <a:spLocks noGrp="1"/>
          </p:cNvSpPr>
          <p:nvPr>
            <p:ph type="title"/>
          </p:nvPr>
        </p:nvSpPr>
        <p:spPr bwMode="auto">
          <a:xfrm>
            <a:off x="2600325" y="130176"/>
            <a:ext cx="47053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en-GB" sz="2500" kern="0" dirty="0" smtClean="0"/>
              <a:t/>
            </a:r>
            <a:br>
              <a:rPr lang="en-GB" sz="2500" kern="0" dirty="0" smtClean="0"/>
            </a:br>
            <a:r>
              <a:rPr lang="gu-IN" sz="4000" b="1" spc="50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કોમનવેલ્થ ગેમ્સ</a:t>
            </a:r>
            <a:endParaRPr lang="en-GB" sz="4000" kern="0" dirty="0">
              <a:solidFill>
                <a:srgbClr val="FFC000"/>
              </a:solidFill>
              <a:latin typeface="Castellar" panose="020A0402060406010301" pitchFamily="18" charset="0"/>
            </a:endParaRP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495300" y="1665287"/>
            <a:ext cx="360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492092" y="998194"/>
            <a:ext cx="8921816" cy="29007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gu-IN" sz="2500" b="1" dirty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ઉદ્ઘાટન</a:t>
            </a:r>
            <a:r>
              <a:rPr lang="gu-IN" sz="2500" b="1" dirty="0">
                <a:latin typeface="Shruti" panose="020B0502040204020203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 સરઘસ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માં</a:t>
            </a:r>
            <a:r>
              <a:rPr lang="gu-IN" sz="2500" b="1" dirty="0">
                <a:latin typeface="Shruti" panose="020B0502040204020203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 ભારત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નાં</a:t>
            </a:r>
            <a:r>
              <a:rPr lang="gu-IN" sz="2500" b="1" dirty="0">
                <a:latin typeface="Shruti" panose="020B0502040204020203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 ધ્વજવાહક 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તરીકે</a:t>
            </a:r>
            <a:r>
              <a:rPr lang="gu-IN" sz="2500" b="1" dirty="0">
                <a:latin typeface="Shruti" panose="020B0502040204020203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 </a:t>
            </a:r>
            <a:r>
              <a:rPr lang="gu-IN" sz="2500" b="1" dirty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રિયો ઓલિમ્પિક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માં</a:t>
            </a:r>
            <a:r>
              <a:rPr lang="gu-IN" sz="2500" b="1" dirty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 રજત પદક જીતનાર પી.વી. સિંધુ 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હતાં</a:t>
            </a:r>
            <a:r>
              <a:rPr lang="gu-IN" sz="2500" b="1" dirty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, </a:t>
            </a:r>
            <a:r>
              <a:rPr lang="gu-IN" sz="2500" b="1" dirty="0" smtClean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અને </a:t>
            </a:r>
            <a:r>
              <a:rPr lang="gu-IN" sz="2500" b="1" dirty="0">
                <a:latin typeface="Shruti" panose="020B0502040204020203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કોમનવેલ્થ રમતો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ને</a:t>
            </a:r>
            <a:r>
              <a:rPr lang="gu-IN" sz="2500" b="1" dirty="0">
                <a:latin typeface="Shruti" panose="020B0502040204020203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 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અંતે</a:t>
            </a:r>
            <a:r>
              <a:rPr lang="gu-IN" sz="2500" b="1" dirty="0">
                <a:latin typeface="Shruti" panose="020B0502040204020203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 સમાપન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માં</a:t>
            </a:r>
            <a:r>
              <a:rPr lang="gu-IN" sz="2500" b="1" dirty="0">
                <a:latin typeface="Shruti" panose="020B0502040204020203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 ભારત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નાં</a:t>
            </a:r>
            <a:r>
              <a:rPr lang="gu-IN" sz="2500" b="1" dirty="0">
                <a:latin typeface="Shruti" panose="020B0502040204020203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 ધ્વજવાહક 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તરીકે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 સુવર્ણ પદક જીતનાર મેરી કોમ 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હતાં</a:t>
            </a:r>
            <a:r>
              <a:rPr lang="gu-IN" sz="2500" b="1" dirty="0" smtClean="0">
                <a:latin typeface="Shruti" panose="020B0502040204020203" pitchFamily="34" charset="0"/>
                <a:cs typeface="Shruti" panose="020B0502040204020203" pitchFamily="34" charset="0"/>
              </a:rPr>
              <a:t>.</a:t>
            </a:r>
            <a:r>
              <a:rPr lang="en-GB" sz="2500" b="1" dirty="0" smtClean="0"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</a:p>
          <a:p>
            <a:r>
              <a:rPr lang="gu-IN" sz="2500" b="1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૨૧મી</a:t>
            </a:r>
            <a:r>
              <a:rPr lang="gu-IN" sz="2500" b="1" dirty="0" smtClean="0"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કોમનવેલ્થ રમતો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માં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 વિવિધ ૨૭૫ સ્પર્ધા યોજવા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માં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આવી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હતી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. 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તેમાં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 ૭૧ દેશો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નાં 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કુલ ૪૨૩૦ ખેલાડીઓએ ભાગ 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લીધો હતો </a:t>
            </a:r>
            <a:r>
              <a:rPr lang="gu-IN" sz="2500" b="1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જેમાં</a:t>
            </a:r>
            <a:r>
              <a:rPr lang="gu-IN" sz="2500" b="1" dirty="0" smtClean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નાં</a:t>
            </a:r>
            <a:r>
              <a:rPr lang="gu-IN" sz="2500" b="1" dirty="0" smtClean="0"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૨૧૮ ખેલાડીઓ </a:t>
            </a:r>
            <a:r>
              <a:rPr lang="gu-IN" sz="2500" b="1" dirty="0" smtClean="0">
                <a:latin typeface="Shruti" panose="020B0502040204020203" pitchFamily="34" charset="0"/>
                <a:cs typeface="Shruti" panose="020B0502040204020203" pitchFamily="34" charset="0"/>
              </a:rPr>
              <a:t>ભારત</a:t>
            </a:r>
            <a:r>
              <a:rPr lang="gu-IN" sz="2500" b="1" dirty="0" smtClean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નાં હતાં</a:t>
            </a:r>
            <a:r>
              <a:rPr lang="gu-IN" sz="2500" b="1" dirty="0" smtClean="0">
                <a:latin typeface="Shruti" panose="020B0502040204020203" pitchFamily="34" charset="0"/>
                <a:cs typeface="Shruti" panose="020B0502040204020203" pitchFamily="34" charset="0"/>
              </a:rPr>
              <a:t>. </a:t>
            </a:r>
            <a:endParaRPr lang="en-GB" sz="2500" dirty="0">
              <a:latin typeface="Shruti" panose="020B0502040204020203" pitchFamily="34" charset="0"/>
              <a:cs typeface="Shruti" panose="020B0502040204020203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990600" y="3734295"/>
            <a:ext cx="7924800" cy="2361705"/>
            <a:chOff x="990600" y="3581895"/>
            <a:chExt cx="7924800" cy="2361705"/>
          </a:xfrm>
        </p:grpSpPr>
        <p:pic>
          <p:nvPicPr>
            <p:cNvPr id="24" name="Picture 23" descr="Related image">
              <a:hlinkClick r:id="rId3"/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600" y="3630763"/>
              <a:ext cx="3505200" cy="23128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Picture 24" descr="Image result for flag bearers for India in 2018 commonwealth games">
              <a:hlinkClick r:id="rId5"/>
            </p:cNvPr>
            <p:cNvPicPr/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62600" y="3581895"/>
              <a:ext cx="3352800" cy="236170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5045302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95300" y="6292850"/>
            <a:ext cx="28067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11538" y="6305550"/>
            <a:ext cx="3522662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CGS Teachers Course - 27 October 2018</a:t>
            </a:r>
            <a:endParaRPr lang="en-GB" dirty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9300" y="6297613"/>
            <a:ext cx="23114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Slide </a:t>
            </a:r>
            <a:fld id="{0791107B-2345-4607-ADE7-C5725CF4E4E6}" type="slidenum">
              <a:rPr lang="en-GB" smtClean="0"/>
              <a:pPr eaLnBrk="1" hangingPunct="1"/>
              <a:t>10</a:t>
            </a:fld>
            <a:endParaRPr lang="en-GB" dirty="0" smtClean="0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98384" y="6172200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298383" y="865671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" name="Title 1"/>
          <p:cNvSpPr txBox="1">
            <a:spLocks noGrp="1"/>
          </p:cNvSpPr>
          <p:nvPr>
            <p:ph type="title"/>
          </p:nvPr>
        </p:nvSpPr>
        <p:spPr bwMode="auto">
          <a:xfrm>
            <a:off x="2600325" y="130176"/>
            <a:ext cx="47053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en-GB" sz="2500" kern="0" dirty="0" smtClean="0"/>
              <a:t/>
            </a:r>
            <a:br>
              <a:rPr lang="en-GB" sz="2500" kern="0" dirty="0" smtClean="0"/>
            </a:br>
            <a:r>
              <a:rPr lang="gu-IN" sz="4000" b="1" spc="50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કોમનવેલ્થ ગેમ્સ</a:t>
            </a:r>
            <a:endParaRPr lang="en-GB" sz="4000" kern="0" dirty="0">
              <a:solidFill>
                <a:srgbClr val="FFC000"/>
              </a:solidFill>
              <a:latin typeface="Castellar" panose="020A0402060406010301" pitchFamily="18" charset="0"/>
            </a:endParaRP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495300" y="1665287"/>
            <a:ext cx="360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495301" y="1028838"/>
            <a:ext cx="90297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gu-IN" sz="2500" b="1" dirty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જુદી જુદી સ્પર્ધા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માં</a:t>
            </a:r>
            <a:r>
              <a:rPr lang="gu-IN" sz="2500" b="1" dirty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 ભારત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ના</a:t>
            </a:r>
            <a:r>
              <a:rPr lang="gu-IN" sz="2500" b="1" dirty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 પુરુષ ખેલાડીઓ 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સાથે</a:t>
            </a:r>
            <a:r>
              <a:rPr lang="gu-IN" sz="2500" b="1" dirty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 મહિલા ખેલાડીઓએ 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પણ</a:t>
            </a:r>
            <a:r>
              <a:rPr lang="gu-IN" sz="2500" b="1" dirty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 સફળતા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ના</a:t>
            </a:r>
            <a:r>
              <a:rPr lang="gu-IN" sz="2500" b="1" dirty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 ઝંડા 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ફરકાવ્યા હતા</a:t>
            </a:r>
            <a:r>
              <a:rPr lang="gu-IN" sz="2500" b="1" dirty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. 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જેમ </a:t>
            </a:r>
            <a:r>
              <a:rPr lang="gu-IN" sz="2500" b="1" dirty="0" smtClean="0">
                <a:solidFill>
                  <a:srgbClr val="C00000"/>
                </a:solidFill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કે</a:t>
            </a:r>
            <a:r>
              <a:rPr lang="en-GB" sz="2500" b="1" dirty="0" smtClean="0">
                <a:solidFill>
                  <a:srgbClr val="C00000"/>
                </a:solidFill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 </a:t>
            </a:r>
            <a:r>
              <a:rPr lang="gu-IN" sz="2500" b="1" dirty="0" smtClean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મનિકા</a:t>
            </a:r>
            <a:r>
              <a:rPr lang="en-GB" sz="2500" b="1" dirty="0" smtClean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 </a:t>
            </a:r>
            <a:r>
              <a:rPr lang="gu-IN" sz="2500" b="1" dirty="0" smtClean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બત્રા </a:t>
            </a:r>
            <a:r>
              <a:rPr lang="gu-IN" sz="2500" b="1" dirty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ટેબલ ટેનિસ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માં</a:t>
            </a:r>
            <a:r>
              <a:rPr lang="gu-IN" sz="2500" b="1" dirty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 સુર્વણ પદકો 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જીતી હતી</a:t>
            </a:r>
            <a:r>
              <a:rPr lang="gu-IN" sz="2500" b="1" dirty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. 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તે</a:t>
            </a:r>
            <a:r>
              <a:rPr lang="gu-IN" sz="2500" b="1" dirty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 </a:t>
            </a:r>
            <a:r>
              <a:rPr lang="gu-IN" sz="2500" b="1" dirty="0" smtClean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કુલ</a:t>
            </a:r>
            <a:r>
              <a:rPr lang="en-GB" sz="2500" b="1" dirty="0" smtClean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 </a:t>
            </a:r>
            <a:r>
              <a:rPr lang="gu-IN" sz="2500" b="1" dirty="0" smtClean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ચાર </a:t>
            </a:r>
            <a:r>
              <a:rPr lang="gu-IN" sz="2500" b="1" dirty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પદકો 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જીતી હતી 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જેમાંથી</a:t>
            </a:r>
            <a:r>
              <a:rPr lang="gu-IN" sz="2500" b="1" dirty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 બે સુર્વણ પદકો 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હતા</a:t>
            </a:r>
            <a:r>
              <a:rPr lang="gu-IN" sz="2500" b="1" dirty="0" smtClean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.</a:t>
            </a:r>
            <a:r>
              <a:rPr lang="en-GB" sz="2500" b="1" dirty="0" smtClean="0">
                <a:latin typeface="Shruti" panose="020B0502040204020203" pitchFamily="34" charset="0"/>
                <a:ea typeface="Calibri" panose="020F0502020204030204" pitchFamily="34" charset="0"/>
                <a:cs typeface="Shruti" panose="020B0502040204020203" pitchFamily="34" charset="0"/>
              </a:rPr>
              <a:t> </a:t>
            </a:r>
          </a:p>
          <a:p>
            <a:r>
              <a:rPr lang="gu-IN" sz="2500" b="1" dirty="0" smtClean="0">
                <a:latin typeface="Shruti" panose="020B0502040204020203" pitchFamily="34" charset="0"/>
                <a:cs typeface="Shruti" panose="020B0502040204020203" pitchFamily="34" charset="0"/>
              </a:rPr>
              <a:t>૫૩ 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કિલો વજન ઉપાડવાની સ્પર્ધા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માં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 સંજિતા </a:t>
            </a:r>
            <a:r>
              <a:rPr lang="gu-IN" sz="2500" b="1" dirty="0" smtClean="0">
                <a:latin typeface="Shruti" panose="020B0502040204020203" pitchFamily="34" charset="0"/>
                <a:cs typeface="Shruti" panose="020B0502040204020203" pitchFamily="34" charset="0"/>
              </a:rPr>
              <a:t>ચાનૂ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એ</a:t>
            </a:r>
            <a:r>
              <a:rPr lang="gu-IN" sz="2500" b="1" dirty="0" smtClean="0"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અને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 ૪૮ કિલો સ્પર્ધા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માં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 મીરાબાઇ ચાનૂ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એ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 સુર્વણ પદકો 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જીત્યા હતા</a:t>
            </a:r>
            <a:r>
              <a:rPr lang="en-GB" sz="2500" b="1" dirty="0">
                <a:latin typeface="Shruti" panose="020B0502040204020203" pitchFamily="34" charset="0"/>
                <a:cs typeface="Shruti" panose="020B0502040204020203" pitchFamily="34" charset="0"/>
              </a:rPr>
              <a:t>. 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પૂનમ યાદ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વે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en-GB" sz="2500" b="1" dirty="0" smtClean="0">
                <a:latin typeface="Shruti" panose="020B0502040204020203" pitchFamily="34" charset="0"/>
                <a:cs typeface="Shruti" panose="020B0502040204020203" pitchFamily="34" charset="0"/>
              </a:rPr>
              <a:t/>
            </a:r>
            <a:br>
              <a:rPr lang="en-GB" sz="2500" b="1" dirty="0" smtClean="0">
                <a:latin typeface="Shruti" panose="020B0502040204020203" pitchFamily="34" charset="0"/>
                <a:cs typeface="Shruti" panose="020B0502040204020203" pitchFamily="34" charset="0"/>
              </a:rPr>
            </a:br>
            <a:r>
              <a:rPr lang="gu-IN" sz="2500" b="1" dirty="0" smtClean="0">
                <a:latin typeface="Shruti" panose="020B0502040204020203" pitchFamily="34" charset="0"/>
                <a:cs typeface="Shruti" panose="020B0502040204020203" pitchFamily="34" charset="0"/>
              </a:rPr>
              <a:t>૬૯ 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કિલો વજન ઉપાડવા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ની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 સ્પર્ધા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માં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 સુર્વણ પદક 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જીત્યો હતો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. </a:t>
            </a:r>
            <a:endParaRPr lang="en-GB" dirty="0"/>
          </a:p>
        </p:txBody>
      </p:sp>
      <p:grpSp>
        <p:nvGrpSpPr>
          <p:cNvPr id="7" name="Group 6"/>
          <p:cNvGrpSpPr/>
          <p:nvPr/>
        </p:nvGrpSpPr>
        <p:grpSpPr>
          <a:xfrm>
            <a:off x="556876" y="3850353"/>
            <a:ext cx="8792248" cy="2194941"/>
            <a:chOff x="808952" y="3780780"/>
            <a:chExt cx="8792248" cy="219494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8952" y="3780780"/>
              <a:ext cx="1461831" cy="2194941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88" r="8226"/>
            <a:stretch/>
          </p:blipFill>
          <p:spPr>
            <a:xfrm>
              <a:off x="2480334" y="3858589"/>
              <a:ext cx="2570384" cy="2101633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207" r="4960"/>
            <a:stretch/>
          </p:blipFill>
          <p:spPr>
            <a:xfrm>
              <a:off x="7391400" y="3864568"/>
              <a:ext cx="2209800" cy="1976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56" t="2332" r="6836"/>
            <a:stretch/>
          </p:blipFill>
          <p:spPr>
            <a:xfrm>
              <a:off x="5382859" y="3823262"/>
              <a:ext cx="1676400" cy="21099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85696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95300" y="6292850"/>
            <a:ext cx="28067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11538" y="6305550"/>
            <a:ext cx="3522662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CGS Teachers Course - 27 October 2018</a:t>
            </a:r>
            <a:endParaRPr lang="en-GB" dirty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9300" y="6297613"/>
            <a:ext cx="23114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Slide </a:t>
            </a:r>
            <a:fld id="{0791107B-2345-4607-ADE7-C5725CF4E4E6}" type="slidenum">
              <a:rPr lang="en-GB" smtClean="0"/>
              <a:pPr eaLnBrk="1" hangingPunct="1"/>
              <a:t>11</a:t>
            </a:fld>
            <a:endParaRPr lang="en-GB" dirty="0" smtClean="0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98384" y="6172200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298383" y="865671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" name="Title 1"/>
          <p:cNvSpPr txBox="1">
            <a:spLocks noGrp="1"/>
          </p:cNvSpPr>
          <p:nvPr>
            <p:ph type="title"/>
          </p:nvPr>
        </p:nvSpPr>
        <p:spPr bwMode="auto">
          <a:xfrm>
            <a:off x="2600325" y="130176"/>
            <a:ext cx="47053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en-GB" sz="2500" kern="0" dirty="0" smtClean="0"/>
              <a:t/>
            </a:r>
            <a:br>
              <a:rPr lang="en-GB" sz="2500" kern="0" dirty="0" smtClean="0"/>
            </a:br>
            <a:r>
              <a:rPr lang="gu-IN" sz="4000" b="1" spc="50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કોમનવેલ્થ ગેમ્સ</a:t>
            </a:r>
            <a:endParaRPr lang="en-GB" sz="4000" kern="0" dirty="0">
              <a:solidFill>
                <a:srgbClr val="FFC000"/>
              </a:solidFill>
              <a:latin typeface="Castellar" panose="020A0402060406010301" pitchFamily="18" charset="0"/>
            </a:endParaRP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495300" y="1665287"/>
            <a:ext cx="360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411646" y="999021"/>
            <a:ext cx="9082709" cy="2887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૧૦ મીટર એર પિસ્ટલ શૂટિંગ</a:t>
            </a:r>
            <a:r>
              <a:rPr lang="gu-IN" sz="2500" b="1" dirty="0">
                <a:solidFill>
                  <a:srgbClr val="C00000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માં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 મનુ ભાક</a:t>
            </a:r>
            <a:r>
              <a:rPr lang="gu-IN" sz="2500" b="1" dirty="0">
                <a:solidFill>
                  <a:srgbClr val="C00000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રે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 અને ૨૫ મીટર શૂટિંગ</a:t>
            </a:r>
            <a:r>
              <a:rPr lang="gu-IN" sz="2500" b="1" dirty="0">
                <a:solidFill>
                  <a:srgbClr val="C00000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માં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 હીના સિંધુ</a:t>
            </a:r>
            <a:r>
              <a:rPr lang="gu-IN" sz="2500" b="1" dirty="0">
                <a:solidFill>
                  <a:srgbClr val="C00000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એ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 ભારત</a:t>
            </a:r>
            <a:r>
              <a:rPr lang="gu-IN" sz="2500" b="1" dirty="0">
                <a:solidFill>
                  <a:srgbClr val="C00000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ને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 સુર્વણ પદક </a:t>
            </a:r>
            <a:r>
              <a:rPr lang="gu-IN" sz="2500" b="1" dirty="0">
                <a:solidFill>
                  <a:srgbClr val="0000CC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અપાવ્યા હતા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. ૩૬ વર્ષીય મુક્કેબાજ અને </a:t>
            </a:r>
            <a:r>
              <a:rPr lang="gu-IN" sz="2500" b="1" dirty="0">
                <a:solidFill>
                  <a:srgbClr val="C00000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ત્રણ-ત્રણ વખત 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વિશ્વવિજેતા બને</a:t>
            </a:r>
            <a:r>
              <a:rPr lang="gu-IN" sz="2500" b="1" dirty="0">
                <a:solidFill>
                  <a:srgbClr val="0000CC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લી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 મેરી કોમ, </a:t>
            </a:r>
            <a:r>
              <a:rPr lang="gu-IN" sz="2500" b="1" dirty="0">
                <a:solidFill>
                  <a:srgbClr val="C00000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જેના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 જીવન </a:t>
            </a:r>
            <a:r>
              <a:rPr lang="gu-IN" sz="2500" b="1" dirty="0">
                <a:solidFill>
                  <a:srgbClr val="C00000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ઉપર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 બોલીવુ</a:t>
            </a:r>
            <a:r>
              <a:rPr lang="gu-IN" sz="2500" b="1" dirty="0">
                <a:solidFill>
                  <a:srgbClr val="C00000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ડે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 એક ચલચિત્ર </a:t>
            </a:r>
            <a:r>
              <a:rPr lang="gu-IN" sz="2500" b="1" dirty="0">
                <a:solidFill>
                  <a:srgbClr val="0000CC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બનાવ્યું હતું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, </a:t>
            </a:r>
            <a:r>
              <a:rPr lang="gu-IN" sz="2500" b="1" dirty="0">
                <a:solidFill>
                  <a:srgbClr val="C00000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તેણે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 સુર્વણ પદક </a:t>
            </a:r>
            <a:r>
              <a:rPr lang="gu-IN" sz="2500" b="1" dirty="0">
                <a:solidFill>
                  <a:srgbClr val="0000CC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જીત્યો હતો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. </a:t>
            </a:r>
            <a:r>
              <a:rPr lang="gu-IN" sz="2500" b="1" dirty="0">
                <a:solidFill>
                  <a:srgbClr val="C00000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છેલ્લા દિવસે 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સાયના નેહવા</a:t>
            </a:r>
            <a:r>
              <a:rPr lang="gu-IN" sz="2500" b="1" dirty="0">
                <a:solidFill>
                  <a:srgbClr val="C00000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લે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 બેડમિંટન</a:t>
            </a:r>
            <a:r>
              <a:rPr lang="gu-IN" sz="2500" b="1" dirty="0">
                <a:solidFill>
                  <a:srgbClr val="C00000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માં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 સુર્વણ પદક </a:t>
            </a:r>
            <a:r>
              <a:rPr lang="gu-IN" sz="2500" b="1" dirty="0">
                <a:solidFill>
                  <a:srgbClr val="0000CC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જીત્યો હતો. </a:t>
            </a:r>
            <a:endParaRPr lang="en-GB" sz="2500" b="1" dirty="0" smtClean="0">
              <a:solidFill>
                <a:srgbClr val="0000CC"/>
              </a:solidFill>
              <a:ea typeface="Calibri" panose="020F0502020204030204" pitchFamily="34" charset="0"/>
              <a:cs typeface="Shruti" panose="020B0502040204020203" pitchFamily="34" charset="0"/>
            </a:endParaRPr>
          </a:p>
          <a:p>
            <a:r>
              <a:rPr lang="gu-IN" sz="2500" b="1" dirty="0" smtClean="0">
                <a:solidFill>
                  <a:srgbClr val="C00000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સરેરાશ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, </a:t>
            </a:r>
            <a:r>
              <a:rPr lang="gu-IN" sz="2500" b="1" dirty="0">
                <a:solidFill>
                  <a:srgbClr val="C00000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૨૧મી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 કોમનવેલ્થ રમતો</a:t>
            </a:r>
            <a:r>
              <a:rPr lang="gu-IN" sz="2500" b="1" dirty="0">
                <a:solidFill>
                  <a:srgbClr val="C00000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માં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 ભારતીય પુરુષ </a:t>
            </a:r>
            <a:r>
              <a:rPr lang="gu-IN" sz="2500" b="1" dirty="0">
                <a:solidFill>
                  <a:srgbClr val="C00000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અને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 મહિલા ખેલાડીઓ</a:t>
            </a:r>
            <a:r>
              <a:rPr lang="gu-IN" sz="2500" b="1" dirty="0">
                <a:solidFill>
                  <a:srgbClr val="0000CC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નું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 પ્રદર્શન </a:t>
            </a:r>
            <a:r>
              <a:rPr lang="gu-IN" sz="2500" b="1" dirty="0">
                <a:solidFill>
                  <a:srgbClr val="C00000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ખરેખર</a:t>
            </a:r>
            <a:r>
              <a:rPr lang="gu-IN" sz="2500" b="1" dirty="0">
                <a:ea typeface="Calibri" panose="020F0502020204030204" pitchFamily="34" charset="0"/>
                <a:cs typeface="Shruti" panose="020B0502040204020203" pitchFamily="34" charset="0"/>
              </a:rPr>
              <a:t> શાનદાર </a:t>
            </a:r>
            <a:r>
              <a:rPr lang="gu-IN" sz="2500" b="1" dirty="0">
                <a:solidFill>
                  <a:srgbClr val="0000CC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રહ્યું </a:t>
            </a:r>
            <a:r>
              <a:rPr lang="gu-IN" sz="2500" b="1" dirty="0" smtClean="0">
                <a:solidFill>
                  <a:srgbClr val="0000CC"/>
                </a:solidFill>
                <a:ea typeface="Calibri" panose="020F0502020204030204" pitchFamily="34" charset="0"/>
                <a:cs typeface="Shruti" panose="020B0502040204020203" pitchFamily="34" charset="0"/>
              </a:rPr>
              <a:t>હતું.</a:t>
            </a:r>
            <a:endParaRPr lang="en-GB" sz="2500" b="1" dirty="0">
              <a:solidFill>
                <a:srgbClr val="0000CC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53997" y="3968166"/>
            <a:ext cx="8798006" cy="2108845"/>
            <a:chOff x="793669" y="3888654"/>
            <a:chExt cx="8798006" cy="2108845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3669" y="3888654"/>
              <a:ext cx="1574742" cy="2108845"/>
            </a:xfrm>
            <a:prstGeom prst="rect">
              <a:avLst/>
            </a:prstGeom>
          </p:spPr>
        </p:pic>
        <p:pic>
          <p:nvPicPr>
            <p:cNvPr id="4102" name="Picture 6" descr="Related image">
              <a:hlinkClick r:id="rId4"/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60" r="817"/>
            <a:stretch/>
          </p:blipFill>
          <p:spPr bwMode="auto">
            <a:xfrm>
              <a:off x="3198743" y="3995575"/>
              <a:ext cx="3276600" cy="19443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00" r="6000"/>
            <a:stretch/>
          </p:blipFill>
          <p:spPr>
            <a:xfrm>
              <a:off x="7305675" y="3946275"/>
              <a:ext cx="2286000" cy="19936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6946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95300" y="6292850"/>
            <a:ext cx="28067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11537" y="6305550"/>
            <a:ext cx="3498781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CGS Teachers Course - 27 October 2018</a:t>
            </a:r>
            <a:endParaRPr lang="en-GB" dirty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9300" y="6297613"/>
            <a:ext cx="23114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Slide </a:t>
            </a:r>
            <a:fld id="{0791107B-2345-4607-ADE7-C5725CF4E4E6}" type="slidenum">
              <a:rPr lang="en-GB" smtClean="0"/>
              <a:pPr eaLnBrk="1" hangingPunct="1"/>
              <a:t>12</a:t>
            </a:fld>
            <a:endParaRPr lang="en-GB" dirty="0" smtClean="0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98384" y="6172200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262553" y="800325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" name="Title 1"/>
          <p:cNvSpPr txBox="1">
            <a:spLocks noGrp="1"/>
          </p:cNvSpPr>
          <p:nvPr>
            <p:ph type="title"/>
          </p:nvPr>
        </p:nvSpPr>
        <p:spPr bwMode="auto">
          <a:xfrm>
            <a:off x="2570028" y="94647"/>
            <a:ext cx="47053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en-GB" sz="2500" kern="0" dirty="0" smtClean="0"/>
              <a:t/>
            </a:r>
            <a:br>
              <a:rPr lang="en-GB" sz="2500" kern="0" dirty="0" smtClean="0"/>
            </a:br>
            <a:r>
              <a:rPr lang="gu-IN" sz="4000" b="1" spc="50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કોમનવેલ્થ ગેમ્સ</a:t>
            </a:r>
            <a:endParaRPr lang="en-GB" sz="4000" kern="0" dirty="0">
              <a:solidFill>
                <a:srgbClr val="FFC000"/>
              </a:solidFill>
              <a:latin typeface="Castellar" panose="020A0402060406010301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9830" y="1155400"/>
            <a:ext cx="860657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gu-IN" sz="2500" b="1" dirty="0">
                <a:solidFill>
                  <a:srgbClr val="C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૨૧મી </a:t>
            </a:r>
            <a:r>
              <a:rPr lang="gu-IN" sz="2500" b="1" dirty="0"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કોમનવેલ્થ રમતો</a:t>
            </a:r>
            <a:r>
              <a:rPr lang="gu-IN" sz="2500" b="1" dirty="0">
                <a:solidFill>
                  <a:srgbClr val="C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માં</a:t>
            </a:r>
            <a:r>
              <a:rPr lang="gu-IN" sz="2500" b="1" dirty="0"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 ઓસ્ટ્રેલિયા</a:t>
            </a:r>
            <a:r>
              <a:rPr lang="gu-IN" sz="2500" b="1" dirty="0">
                <a:solidFill>
                  <a:srgbClr val="0000C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નાં</a:t>
            </a:r>
            <a:r>
              <a:rPr lang="gu-IN" sz="2500" b="1" dirty="0"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 ખેલાડીઓ ૧૯૮ પદકો હાંસલ કરી પહે</a:t>
            </a:r>
            <a:r>
              <a:rPr lang="gu-IN" sz="2500" b="1" dirty="0">
                <a:solidFill>
                  <a:srgbClr val="0000C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લા</a:t>
            </a:r>
            <a:r>
              <a:rPr lang="gu-IN" sz="2500" b="1" dirty="0"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 ક્રમે હતાં, ઇંગ્લેન્ડ ૧૩૬ પદક મેળવી બી</a:t>
            </a:r>
            <a:r>
              <a:rPr lang="gu-IN" sz="2500" b="1" dirty="0">
                <a:solidFill>
                  <a:srgbClr val="0000C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જા</a:t>
            </a:r>
            <a:r>
              <a:rPr lang="gu-IN" sz="2500" b="1" dirty="0"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 ક્રમે </a:t>
            </a:r>
            <a:r>
              <a:rPr lang="gu-IN" sz="2500" b="1" dirty="0">
                <a:solidFill>
                  <a:srgbClr val="0000C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હતાં</a:t>
            </a:r>
            <a:r>
              <a:rPr lang="gu-IN" sz="2500" b="1" dirty="0"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. ભારતીય ખેલાડીઓ</a:t>
            </a:r>
            <a:r>
              <a:rPr lang="gu-IN" sz="2500" b="1" dirty="0">
                <a:solidFill>
                  <a:srgbClr val="C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એ</a:t>
            </a:r>
            <a:r>
              <a:rPr lang="gu-IN" sz="2500" b="1" dirty="0"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 કુલ ૬૬ પદક જીતી ઓસ્ટ્રેલિયા </a:t>
            </a:r>
            <a:r>
              <a:rPr lang="gu-IN" sz="2500" b="1" dirty="0">
                <a:solidFill>
                  <a:srgbClr val="C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અને </a:t>
            </a:r>
            <a:r>
              <a:rPr lang="gu-IN" sz="2500" b="1" dirty="0"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ઇંગ્લેન્ડ </a:t>
            </a:r>
            <a:r>
              <a:rPr lang="gu-IN" sz="2500" b="1" dirty="0">
                <a:solidFill>
                  <a:srgbClr val="C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બાદ</a:t>
            </a:r>
            <a:r>
              <a:rPr lang="gu-IN" sz="2500" b="1" dirty="0"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 ત્રી</a:t>
            </a:r>
            <a:r>
              <a:rPr lang="gu-IN" sz="2500" b="1" dirty="0">
                <a:solidFill>
                  <a:srgbClr val="0000C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જું</a:t>
            </a:r>
            <a:r>
              <a:rPr lang="gu-IN" sz="2500" b="1" dirty="0"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 સ્થાન હાંસલ કરી ભારત</a:t>
            </a:r>
            <a:r>
              <a:rPr lang="gu-IN" sz="2500" b="1" dirty="0">
                <a:solidFill>
                  <a:srgbClr val="0000C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નું</a:t>
            </a:r>
            <a:r>
              <a:rPr lang="gu-IN" sz="2500" b="1" dirty="0"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 ગૌરવ </a:t>
            </a:r>
            <a:r>
              <a:rPr lang="gu-IN" sz="2500" b="1" dirty="0" smtClean="0">
                <a:solidFill>
                  <a:srgbClr val="0000C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વધાર્યુ</a:t>
            </a:r>
            <a:r>
              <a:rPr lang="gu-IN" sz="2500" b="1" dirty="0">
                <a:solidFill>
                  <a:srgbClr val="0000C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ં</a:t>
            </a:r>
            <a:r>
              <a:rPr lang="gu-IN" sz="2500" b="1" dirty="0" smtClean="0">
                <a:solidFill>
                  <a:srgbClr val="0000C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 </a:t>
            </a:r>
            <a:r>
              <a:rPr lang="gu-IN" sz="2500" b="1" dirty="0">
                <a:solidFill>
                  <a:srgbClr val="0000C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હતું</a:t>
            </a:r>
            <a:r>
              <a:rPr lang="gu-IN" sz="2500" b="1" dirty="0"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. ભાર</a:t>
            </a:r>
            <a:r>
              <a:rPr lang="gu-IN" sz="2500" b="1" dirty="0">
                <a:solidFill>
                  <a:srgbClr val="C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તે</a:t>
            </a:r>
            <a:r>
              <a:rPr lang="gu-IN" sz="2500" b="1" dirty="0"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 </a:t>
            </a:r>
            <a:r>
              <a:rPr lang="gu-IN" sz="2500" b="1" dirty="0" smtClean="0"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જીતે</a:t>
            </a:r>
            <a:r>
              <a:rPr lang="gu-IN" sz="2500" b="1" dirty="0" smtClean="0">
                <a:solidFill>
                  <a:srgbClr val="0000C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લા</a:t>
            </a:r>
            <a:r>
              <a:rPr lang="gu-IN" sz="2500" b="1" dirty="0" smtClean="0">
                <a:latin typeface="Arial" panose="020B0604020202020204" pitchFamily="34" charset="0"/>
                <a:ea typeface="Times New Roman" panose="02020603050405020304" pitchFamily="18" charset="0"/>
                <a:cs typeface="Shruti" panose="020B0502040204020203" pitchFamily="34" charset="0"/>
              </a:rPr>
              <a:t> </a:t>
            </a:r>
            <a:r>
              <a:rPr lang="gu-IN" sz="2500" b="1" dirty="0" smtClean="0">
                <a:latin typeface="Arial" panose="020B0604020202020204" pitchFamily="34" charset="0"/>
              </a:rPr>
              <a:t>૨૬ </a:t>
            </a:r>
            <a:r>
              <a:rPr lang="gu-IN" sz="2500" b="1" dirty="0">
                <a:latin typeface="Arial" panose="020B0604020202020204" pitchFamily="34" charset="0"/>
              </a:rPr>
              <a:t>સુવર્ણ પદક</a:t>
            </a:r>
            <a:r>
              <a:rPr lang="gu-IN" sz="2500" b="1" dirty="0">
                <a:solidFill>
                  <a:srgbClr val="C00000"/>
                </a:solidFill>
                <a:latin typeface="Arial" panose="020B0604020202020204" pitchFamily="34" charset="0"/>
              </a:rPr>
              <a:t>માંના</a:t>
            </a:r>
            <a:r>
              <a:rPr lang="gu-IN" sz="2500" b="1" dirty="0">
                <a:latin typeface="Arial" panose="020B0604020202020204" pitchFamily="34" charset="0"/>
              </a:rPr>
              <a:t> ૧૨ </a:t>
            </a:r>
            <a:r>
              <a:rPr lang="gu-IN" sz="2500" b="1" dirty="0">
                <a:solidFill>
                  <a:srgbClr val="C00000"/>
                </a:solidFill>
                <a:latin typeface="Arial" panose="020B0604020202020204" pitchFamily="34" charset="0"/>
              </a:rPr>
              <a:t>સુવર્ણ</a:t>
            </a:r>
            <a:r>
              <a:rPr lang="gu-IN" sz="2500" b="1" dirty="0">
                <a:latin typeface="Arial" panose="020B0604020202020204" pitchFamily="34" charset="0"/>
              </a:rPr>
              <a:t> પદકો મહિલા ખેલાડીઓ</a:t>
            </a:r>
            <a:r>
              <a:rPr lang="gu-IN" sz="2500" b="1" dirty="0">
                <a:solidFill>
                  <a:srgbClr val="C00000"/>
                </a:solidFill>
                <a:latin typeface="Arial" panose="020B0604020202020204" pitchFamily="34" charset="0"/>
              </a:rPr>
              <a:t>એ</a:t>
            </a:r>
            <a:r>
              <a:rPr lang="gu-IN" sz="2500" b="1" dirty="0">
                <a:latin typeface="Arial" panose="020B0604020202020204" pitchFamily="34" charset="0"/>
              </a:rPr>
              <a:t> </a:t>
            </a:r>
            <a:r>
              <a:rPr lang="gu-IN" sz="2500" b="1" dirty="0">
                <a:solidFill>
                  <a:srgbClr val="0000CC"/>
                </a:solidFill>
                <a:latin typeface="Arial" panose="020B0604020202020204" pitchFamily="34" charset="0"/>
              </a:rPr>
              <a:t>જીત્યા હતા</a:t>
            </a:r>
            <a:r>
              <a:rPr lang="gu-IN" sz="2500" b="1" dirty="0">
                <a:latin typeface="Arial" panose="020B0604020202020204" pitchFamily="34" charset="0"/>
              </a:rPr>
              <a:t>.</a:t>
            </a:r>
            <a:endParaRPr lang="en-GB" sz="25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84652" y="3613737"/>
            <a:ext cx="9287134" cy="1983036"/>
            <a:chOff x="284652" y="3962400"/>
            <a:chExt cx="9287134" cy="1983036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0319" y="3962400"/>
              <a:ext cx="2661467" cy="1967873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1538" y="3981091"/>
              <a:ext cx="3352800" cy="1964345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652" y="3981091"/>
              <a:ext cx="3017348" cy="19643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68937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95300" y="6292850"/>
            <a:ext cx="28067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11538" y="6305550"/>
            <a:ext cx="3446462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CGS Teachers Course - 27 October 2018</a:t>
            </a:r>
            <a:endParaRPr lang="en-GB" dirty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9300" y="6297613"/>
            <a:ext cx="23114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Slide </a:t>
            </a:r>
            <a:fld id="{0791107B-2345-4607-ADE7-C5725CF4E4E6}" type="slidenum">
              <a:rPr lang="en-GB" smtClean="0"/>
              <a:pPr eaLnBrk="1" hangingPunct="1"/>
              <a:t>13</a:t>
            </a:fld>
            <a:endParaRPr lang="en-GB" dirty="0" smtClean="0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98384" y="6172200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262553" y="800325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" name="Title 1"/>
          <p:cNvSpPr txBox="1">
            <a:spLocks noGrp="1"/>
          </p:cNvSpPr>
          <p:nvPr>
            <p:ph type="title"/>
          </p:nvPr>
        </p:nvSpPr>
        <p:spPr bwMode="auto">
          <a:xfrm>
            <a:off x="2570028" y="94647"/>
            <a:ext cx="47053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en-GB" sz="2500" kern="0" dirty="0" smtClean="0"/>
              <a:t/>
            </a:r>
            <a:br>
              <a:rPr lang="en-GB" sz="2500" kern="0" dirty="0" smtClean="0"/>
            </a:br>
            <a:r>
              <a:rPr lang="gu-IN" sz="4000" b="1" spc="50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કોમનવેલ્થ ગેમ્સ</a:t>
            </a:r>
            <a:endParaRPr lang="en-GB" sz="4000" kern="0" dirty="0">
              <a:solidFill>
                <a:srgbClr val="FFC000"/>
              </a:solidFill>
              <a:latin typeface="Castellar" panose="020A0402060406010301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5801" y="1295400"/>
            <a:ext cx="8568444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gu-IN" sz="2500" b="1" dirty="0" smtClean="0"/>
              <a:t>૧૫ </a:t>
            </a:r>
            <a:r>
              <a:rPr lang="gu-IN" sz="2500" b="1" dirty="0"/>
              <a:t>એપ્રિલ ૨૦૧૮</a:t>
            </a:r>
            <a:r>
              <a:rPr lang="gu-IN" sz="2500" b="1" dirty="0">
                <a:solidFill>
                  <a:srgbClr val="0000CC"/>
                </a:solidFill>
              </a:rPr>
              <a:t>ના</a:t>
            </a:r>
            <a:r>
              <a:rPr lang="gu-IN" sz="2500" b="1" dirty="0"/>
              <a:t> દિવસે </a:t>
            </a:r>
            <a:r>
              <a:rPr lang="gu-IN" sz="2500" b="1" dirty="0" smtClean="0"/>
              <a:t>ઓસ્ટ્રેલિયા</a:t>
            </a:r>
            <a:r>
              <a:rPr lang="gu-IN" sz="2500" b="1" dirty="0" smtClean="0">
                <a:solidFill>
                  <a:srgbClr val="0000CC"/>
                </a:solidFill>
              </a:rPr>
              <a:t>નાં </a:t>
            </a:r>
            <a:r>
              <a:rPr lang="gu-IN" sz="2500" b="1" dirty="0"/>
              <a:t>ગોલ્ડ કોસ્ટ</a:t>
            </a:r>
            <a:r>
              <a:rPr lang="gu-IN" sz="2500" b="1" dirty="0">
                <a:solidFill>
                  <a:srgbClr val="C00000"/>
                </a:solidFill>
              </a:rPr>
              <a:t>માં </a:t>
            </a:r>
            <a:r>
              <a:rPr lang="en-GB" sz="2500" b="1" dirty="0" smtClean="0"/>
              <a:t/>
            </a:r>
            <a:br>
              <a:rPr lang="en-GB" sz="2500" b="1" dirty="0" smtClean="0"/>
            </a:br>
            <a:r>
              <a:rPr lang="gu-IN" sz="2500" b="1" dirty="0" smtClean="0">
                <a:solidFill>
                  <a:srgbClr val="C00000"/>
                </a:solidFill>
              </a:rPr>
              <a:t>૨૧મી</a:t>
            </a:r>
            <a:r>
              <a:rPr lang="gu-IN" sz="2500" b="1" dirty="0" smtClean="0"/>
              <a:t> </a:t>
            </a:r>
            <a:r>
              <a:rPr lang="gu-IN" sz="2500" b="1" dirty="0"/>
              <a:t>કોમનવેલ્થ રમતો</a:t>
            </a:r>
            <a:r>
              <a:rPr lang="gu-IN" sz="2500" b="1" dirty="0">
                <a:solidFill>
                  <a:srgbClr val="0000CC"/>
                </a:solidFill>
              </a:rPr>
              <a:t>નાં</a:t>
            </a:r>
            <a:r>
              <a:rPr lang="gu-IN" sz="2500" b="1" dirty="0"/>
              <a:t> ભવ્ય સમાપન</a:t>
            </a:r>
            <a:r>
              <a:rPr lang="gu-IN" sz="2500" b="1" dirty="0">
                <a:solidFill>
                  <a:srgbClr val="0000CC"/>
                </a:solidFill>
              </a:rPr>
              <a:t>ના</a:t>
            </a:r>
            <a:r>
              <a:rPr lang="gu-IN" sz="2500" b="1" dirty="0"/>
              <a:t> અંતે આગામી </a:t>
            </a:r>
            <a:r>
              <a:rPr lang="gu-IN" sz="2500" b="1" dirty="0" smtClean="0"/>
              <a:t/>
            </a:r>
            <a:br>
              <a:rPr lang="gu-IN" sz="2500" b="1" dirty="0" smtClean="0"/>
            </a:br>
            <a:r>
              <a:rPr lang="gu-IN" sz="2500" b="1" dirty="0" smtClean="0">
                <a:solidFill>
                  <a:srgbClr val="C00000"/>
                </a:solidFill>
              </a:rPr>
              <a:t>૨૨મી</a:t>
            </a:r>
            <a:r>
              <a:rPr lang="gu-IN" sz="2500" b="1" dirty="0" smtClean="0"/>
              <a:t> </a:t>
            </a:r>
            <a:r>
              <a:rPr lang="gu-IN" sz="2500" b="1" dirty="0"/>
              <a:t>કોમનવેલ્થ રમતો </a:t>
            </a:r>
            <a:r>
              <a:rPr lang="gu-IN" sz="2500" b="1" dirty="0">
                <a:solidFill>
                  <a:srgbClr val="C00000"/>
                </a:solidFill>
              </a:rPr>
              <a:t>૨૦૨૨માં</a:t>
            </a:r>
            <a:r>
              <a:rPr lang="gu-IN" sz="2500" b="1" dirty="0"/>
              <a:t> </a:t>
            </a:r>
            <a:r>
              <a:rPr lang="gu-IN" sz="2500" b="1" dirty="0" smtClean="0"/>
              <a:t>ઇંગ્લેન્ડ</a:t>
            </a:r>
            <a:r>
              <a:rPr lang="gu-IN" sz="2500" b="1" dirty="0" smtClean="0">
                <a:solidFill>
                  <a:srgbClr val="0000CC"/>
                </a:solidFill>
              </a:rPr>
              <a:t>નાં</a:t>
            </a:r>
            <a:r>
              <a:rPr lang="gu-IN" sz="2500" b="1" dirty="0" smtClean="0"/>
              <a:t> </a:t>
            </a:r>
            <a:r>
              <a:rPr lang="gu-IN" sz="2500" b="1" dirty="0"/>
              <a:t>બર્મિંગહામ શહેર</a:t>
            </a:r>
            <a:r>
              <a:rPr lang="gu-IN" sz="2500" b="1" dirty="0">
                <a:solidFill>
                  <a:srgbClr val="C00000"/>
                </a:solidFill>
              </a:rPr>
              <a:t>માં</a:t>
            </a:r>
            <a:r>
              <a:rPr lang="gu-IN" sz="2500" b="1" dirty="0"/>
              <a:t> યોજવામાં </a:t>
            </a:r>
            <a:r>
              <a:rPr lang="gu-IN" sz="2500" b="1" dirty="0">
                <a:solidFill>
                  <a:srgbClr val="7030A0"/>
                </a:solidFill>
              </a:rPr>
              <a:t>આવશે</a:t>
            </a:r>
            <a:r>
              <a:rPr lang="gu-IN" sz="2500" b="1" dirty="0"/>
              <a:t> </a:t>
            </a:r>
            <a:r>
              <a:rPr lang="gu-IN" sz="2500" b="1" dirty="0">
                <a:solidFill>
                  <a:srgbClr val="C00000"/>
                </a:solidFill>
              </a:rPr>
              <a:t>તે</a:t>
            </a:r>
            <a:r>
              <a:rPr lang="gu-IN" sz="2500" b="1" dirty="0">
                <a:solidFill>
                  <a:srgbClr val="0000CC"/>
                </a:solidFill>
              </a:rPr>
              <a:t>ની</a:t>
            </a:r>
            <a:r>
              <a:rPr lang="gu-IN" sz="2500" b="1" dirty="0"/>
              <a:t> જાહેરાત કરવામાં </a:t>
            </a:r>
            <a:r>
              <a:rPr lang="gu-IN" sz="2500" b="1" dirty="0">
                <a:solidFill>
                  <a:srgbClr val="0000CC"/>
                </a:solidFill>
              </a:rPr>
              <a:t>આવી હતી</a:t>
            </a:r>
            <a:r>
              <a:rPr lang="gu-IN" sz="2500" b="1" dirty="0" smtClean="0"/>
              <a:t>.</a:t>
            </a:r>
            <a:endParaRPr lang="en-GB" sz="2500" b="1" dirty="0">
              <a:latin typeface="Shruti" panose="020B0502040204020203" pitchFamily="34" charset="0"/>
              <a:cs typeface="Shruti" panose="020B0502040204020203" pitchFamily="34" charset="0"/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gu-IN" sz="2500" b="1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વિવિધ</a:t>
            </a:r>
            <a:r>
              <a:rPr lang="gu-IN" sz="2500" b="1" dirty="0" smtClean="0">
                <a:latin typeface="Shruti" panose="020B0502040204020203" pitchFamily="34" charset="0"/>
                <a:cs typeface="Shruti" panose="020B0502040204020203" pitchFamily="34" charset="0"/>
              </a:rPr>
              <a:t> રમતો સમાવેશ કર</a:t>
            </a:r>
            <a:r>
              <a:rPr lang="gu-IN" sz="2500" b="1" dirty="0" smtClean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તી</a:t>
            </a:r>
            <a:r>
              <a:rPr lang="gu-IN" sz="2500" b="1" dirty="0" smtClean="0">
                <a:latin typeface="Shruti" panose="020B0502040204020203" pitchFamily="34" charset="0"/>
                <a:cs typeface="Shruti" panose="020B0502040204020203" pitchFamily="34" charset="0"/>
              </a:rPr>
              <a:t> ઓલિમ્પિક રમતો અને એશિયન રમતો </a:t>
            </a:r>
            <a:r>
              <a:rPr lang="gu-IN" sz="2500" b="1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પછી</a:t>
            </a:r>
            <a:r>
              <a:rPr lang="en-GB" sz="2500" b="1" dirty="0" smtClean="0">
                <a:latin typeface="Shruti" panose="020B0502040204020203" pitchFamily="34" charset="0"/>
                <a:cs typeface="Shruti" panose="020B0502040204020203" pitchFamily="34" charset="0"/>
              </a:rPr>
              <a:t>, </a:t>
            </a:r>
            <a:r>
              <a:rPr lang="gu-IN" sz="2500" b="1" dirty="0" smtClean="0">
                <a:latin typeface="Shruti" panose="020B0502040204020203" pitchFamily="34" charset="0"/>
                <a:cs typeface="Shruti" panose="020B0502040204020203" pitchFamily="34" charset="0"/>
              </a:rPr>
              <a:t>વિશ્વ</a:t>
            </a:r>
            <a:r>
              <a:rPr lang="gu-IN" sz="2500" b="1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માં</a:t>
            </a:r>
            <a:r>
              <a:rPr lang="gu-IN" sz="2500" b="1" dirty="0" smtClean="0">
                <a:latin typeface="Shruti" panose="020B0502040204020203" pitchFamily="34" charset="0"/>
                <a:cs typeface="Shruti" panose="020B0502040204020203" pitchFamily="34" charset="0"/>
              </a:rPr>
              <a:t> ત્રી</a:t>
            </a:r>
            <a:r>
              <a:rPr lang="gu-IN" sz="2500" b="1" dirty="0" smtClean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જી</a:t>
            </a:r>
            <a:r>
              <a:rPr lang="gu-IN" sz="2500" b="1" dirty="0" smtClean="0"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500" b="1" dirty="0" smtClean="0">
                <a:solidFill>
                  <a:srgbClr val="CC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સૌથી મો</a:t>
            </a:r>
            <a:r>
              <a:rPr lang="gu-IN" sz="2500" b="1" dirty="0" smtClean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ટી</a:t>
            </a:r>
            <a:r>
              <a:rPr lang="gu-IN" sz="2500" b="1" dirty="0" smtClean="0">
                <a:solidFill>
                  <a:srgbClr val="CC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</a:t>
            </a:r>
            <a:r>
              <a:rPr lang="gu-IN" sz="2500" b="1" dirty="0" smtClean="0">
                <a:latin typeface="Shruti" panose="020B0502040204020203" pitchFamily="34" charset="0"/>
                <a:cs typeface="Shruti" panose="020B0502040204020203" pitchFamily="34" charset="0"/>
              </a:rPr>
              <a:t>કોમનવેલ્થ રમતો </a:t>
            </a:r>
            <a:r>
              <a:rPr lang="gu-IN" sz="2500" b="1" dirty="0" smtClean="0">
                <a:solidFill>
                  <a:srgbClr val="0066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છે</a:t>
            </a:r>
            <a:r>
              <a:rPr lang="gu-IN" sz="2500" b="1" dirty="0" smtClean="0">
                <a:latin typeface="Shruti" panose="020B0502040204020203" pitchFamily="34" charset="0"/>
                <a:cs typeface="Shruti" panose="020B0502040204020203" pitchFamily="34" charset="0"/>
              </a:rPr>
              <a:t>.</a:t>
            </a:r>
            <a:endParaRPr lang="en-GB" sz="2500" b="1" dirty="0" smtClean="0">
              <a:latin typeface="Shruti" panose="020B0502040204020203" pitchFamily="34" charset="0"/>
              <a:cs typeface="Shruti" panose="020B0502040204020203" pitchFamily="34" charset="0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આ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વી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 આંતરરાષ્ટ્રીય કોમનવેલ્થ રમતો</a:t>
            </a:r>
            <a:r>
              <a:rPr lang="en-GB" sz="2500" b="1" dirty="0">
                <a:latin typeface="Shruti" panose="020B0502040204020203" pitchFamily="34" charset="0"/>
                <a:cs typeface="Shruti" panose="020B0502040204020203" pitchFamily="34" charset="0"/>
              </a:rPr>
              <a:t>, 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ઑલિમ્પિક રમતો </a:t>
            </a:r>
            <a:r>
              <a:rPr lang="gu-IN" sz="2500" b="1" dirty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અને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 અન્ય રમતો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ની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 સ્પર્ધાઓ યોજવા</a:t>
            </a:r>
            <a:r>
              <a:rPr lang="gu-IN" sz="2500" b="1" dirty="0">
                <a:solidFill>
                  <a:srgbClr val="0000CC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ના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 કેટલાક ફાયદા </a:t>
            </a:r>
            <a:r>
              <a:rPr lang="gu-IN" sz="2500" b="1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અને</a:t>
            </a:r>
            <a:r>
              <a:rPr lang="gu-IN" sz="2500" b="1" dirty="0" smtClean="0">
                <a:latin typeface="Shruti" panose="020B0502040204020203" pitchFamily="34" charset="0"/>
                <a:cs typeface="Shruti" panose="020B0502040204020203" pitchFamily="34" charset="0"/>
              </a:rPr>
              <a:t> ગેરફાયદા </a:t>
            </a:r>
            <a:r>
              <a:rPr lang="gu-IN" sz="2500" b="1" dirty="0" smtClean="0">
                <a:solidFill>
                  <a:srgbClr val="0066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હોય </a:t>
            </a:r>
            <a:r>
              <a:rPr lang="gu-IN" sz="2500" b="1" dirty="0">
                <a:solidFill>
                  <a:srgbClr val="0066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છે</a:t>
            </a:r>
            <a:r>
              <a:rPr lang="gu-IN" sz="2500" b="1" dirty="0">
                <a:latin typeface="Shruti" panose="020B0502040204020203" pitchFamily="34" charset="0"/>
                <a:cs typeface="Shruti" panose="020B0502040204020203" pitchFamily="34" charset="0"/>
              </a:rPr>
              <a:t>.</a:t>
            </a:r>
            <a:endParaRPr lang="en-GB" sz="2500" b="1" dirty="0">
              <a:latin typeface="Shruti" panose="020B0502040204020203" pitchFamily="34" charset="0"/>
              <a:ea typeface="Times New Roman" panose="02020603050405020304" pitchFamily="18" charset="0"/>
              <a:cs typeface="Shrut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5174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95300" y="6292850"/>
            <a:ext cx="28067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11538" y="6305550"/>
            <a:ext cx="3446462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CGS Teachers Course - 27 October 2018</a:t>
            </a:r>
            <a:endParaRPr lang="en-GB" dirty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9300" y="6297613"/>
            <a:ext cx="23114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Slide </a:t>
            </a:r>
            <a:fld id="{0791107B-2345-4607-ADE7-C5725CF4E4E6}" type="slidenum">
              <a:rPr lang="en-GB" smtClean="0"/>
              <a:pPr eaLnBrk="1" hangingPunct="1"/>
              <a:t>14</a:t>
            </a:fld>
            <a:endParaRPr lang="en-GB" dirty="0" smtClean="0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98384" y="6241773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268087" y="934278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" name="Title 1"/>
          <p:cNvSpPr txBox="1">
            <a:spLocks noGrp="1"/>
          </p:cNvSpPr>
          <p:nvPr>
            <p:ph type="title"/>
          </p:nvPr>
        </p:nvSpPr>
        <p:spPr bwMode="auto">
          <a:xfrm>
            <a:off x="298384" y="159027"/>
            <a:ext cx="9278935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en-GB" sz="2500" kern="0" dirty="0" smtClean="0"/>
              <a:t/>
            </a:r>
            <a:br>
              <a:rPr lang="en-GB" sz="2500" kern="0" dirty="0" smtClean="0"/>
            </a:br>
            <a:r>
              <a:rPr lang="gu-IN" sz="3500" b="1" spc="50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કોમનવેલ્થ ગેમ્સ – ફાયદા અને ગેરફાયદા</a:t>
            </a:r>
            <a:endParaRPr lang="en-GB" sz="3500" kern="0" dirty="0">
              <a:solidFill>
                <a:srgbClr val="FFC000"/>
              </a:solidFill>
              <a:latin typeface="Castellar" panose="020A0402060406010301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72949" y="1145822"/>
            <a:ext cx="8499508" cy="5006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gu-IN" sz="2700" b="1" dirty="0" smtClean="0">
                <a:solidFill>
                  <a:srgbClr val="0000CC"/>
                </a:solidFill>
              </a:rPr>
              <a:t>ફાયદા</a:t>
            </a:r>
            <a:r>
              <a:rPr lang="en-GB" sz="2700" b="1" dirty="0" smtClean="0">
                <a:solidFill>
                  <a:srgbClr val="0000CC"/>
                </a:solidFill>
              </a:rPr>
              <a:t> :</a:t>
            </a:r>
            <a:r>
              <a:rPr lang="gu-IN" sz="2700" b="1" dirty="0" smtClean="0">
                <a:solidFill>
                  <a:srgbClr val="0000CC"/>
                </a:solidFill>
              </a:rPr>
              <a:t> 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gu-IN" sz="2500" b="1" dirty="0" smtClean="0"/>
              <a:t>ખેલાડીઓ</a:t>
            </a:r>
            <a:r>
              <a:rPr lang="gu-IN" sz="2500" b="1" dirty="0" smtClean="0">
                <a:solidFill>
                  <a:srgbClr val="C00000"/>
                </a:solidFill>
              </a:rPr>
              <a:t>માં</a:t>
            </a:r>
            <a:r>
              <a:rPr lang="gu-IN" sz="2500" b="1" dirty="0" smtClean="0"/>
              <a:t> </a:t>
            </a:r>
            <a:r>
              <a:rPr lang="gu-IN" sz="2500" b="1" dirty="0"/>
              <a:t>ખેલદિલી વધે છે, ખેલાડીઓ </a:t>
            </a:r>
            <a:r>
              <a:rPr lang="gu-IN" sz="2500" b="1" dirty="0">
                <a:solidFill>
                  <a:srgbClr val="C00000"/>
                </a:solidFill>
              </a:rPr>
              <a:t>વચ્ચે</a:t>
            </a:r>
            <a:r>
              <a:rPr lang="gu-IN" sz="2500" b="1" dirty="0"/>
              <a:t> ભાઈચારો </a:t>
            </a:r>
            <a:r>
              <a:rPr lang="gu-IN" sz="2500" b="1" dirty="0">
                <a:solidFill>
                  <a:srgbClr val="C00000"/>
                </a:solidFill>
              </a:rPr>
              <a:t>અને</a:t>
            </a:r>
            <a:r>
              <a:rPr lang="gu-IN" sz="2500" b="1" dirty="0"/>
              <a:t> સંઘભાવના </a:t>
            </a:r>
            <a:r>
              <a:rPr lang="gu-IN" sz="2500" b="1" dirty="0">
                <a:solidFill>
                  <a:srgbClr val="006600"/>
                </a:solidFill>
              </a:rPr>
              <a:t>ખીલે છે</a:t>
            </a:r>
            <a:r>
              <a:rPr lang="gu-IN" sz="2500" b="1" dirty="0"/>
              <a:t>. </a:t>
            </a:r>
            <a:endParaRPr lang="gu-IN" sz="2500" b="1" dirty="0" smtClean="0"/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gu-IN" sz="2500" b="1" dirty="0" smtClean="0"/>
              <a:t>દૂરદર્શન </a:t>
            </a:r>
            <a:r>
              <a:rPr lang="gu-IN" sz="2500" b="1" dirty="0">
                <a:solidFill>
                  <a:srgbClr val="C00000"/>
                </a:solidFill>
              </a:rPr>
              <a:t>ઉપર</a:t>
            </a:r>
            <a:r>
              <a:rPr lang="gu-IN" sz="2500" b="1" dirty="0"/>
              <a:t> રમતો</a:t>
            </a:r>
            <a:r>
              <a:rPr lang="gu-IN" sz="2500" b="1" dirty="0">
                <a:solidFill>
                  <a:srgbClr val="0000CC"/>
                </a:solidFill>
              </a:rPr>
              <a:t>નાં</a:t>
            </a:r>
            <a:r>
              <a:rPr lang="gu-IN" sz="2500" b="1" dirty="0"/>
              <a:t> જીવંત પ્રસારણને </a:t>
            </a:r>
            <a:r>
              <a:rPr lang="gu-IN" sz="2500" b="1" dirty="0">
                <a:solidFill>
                  <a:srgbClr val="C00000"/>
                </a:solidFill>
              </a:rPr>
              <a:t>કારણે</a:t>
            </a:r>
            <a:r>
              <a:rPr lang="gu-IN" sz="2500" b="1" dirty="0"/>
              <a:t> યજમાન દેશ</a:t>
            </a:r>
            <a:r>
              <a:rPr lang="gu-IN" sz="2500" b="1" dirty="0">
                <a:solidFill>
                  <a:srgbClr val="0000CC"/>
                </a:solidFill>
              </a:rPr>
              <a:t>ની</a:t>
            </a:r>
            <a:r>
              <a:rPr lang="gu-IN" sz="2500" b="1" i="1" dirty="0"/>
              <a:t> </a:t>
            </a:r>
            <a:r>
              <a:rPr lang="gu-IN" sz="2500" b="1" dirty="0"/>
              <a:t>ખ્યાતિ વધે છે </a:t>
            </a:r>
            <a:r>
              <a:rPr lang="gu-IN" sz="2500" b="1" dirty="0">
                <a:solidFill>
                  <a:srgbClr val="C00000"/>
                </a:solidFill>
              </a:rPr>
              <a:t>તેથી</a:t>
            </a:r>
            <a:r>
              <a:rPr lang="gu-IN" sz="2500" b="1" dirty="0"/>
              <a:t> પ્રવાસીઓ વધે છે </a:t>
            </a:r>
            <a:r>
              <a:rPr lang="gu-IN" sz="2500" b="1" dirty="0">
                <a:solidFill>
                  <a:srgbClr val="C00000"/>
                </a:solidFill>
              </a:rPr>
              <a:t>અને</a:t>
            </a:r>
            <a:r>
              <a:rPr lang="gu-IN" sz="2500" b="1" dirty="0"/>
              <a:t> નાણાંકીય લાભ </a:t>
            </a:r>
            <a:r>
              <a:rPr lang="gu-IN" sz="2500" b="1" dirty="0">
                <a:solidFill>
                  <a:srgbClr val="006600"/>
                </a:solidFill>
              </a:rPr>
              <a:t>થાય છે</a:t>
            </a:r>
            <a:r>
              <a:rPr lang="gu-IN" sz="2500" b="1" dirty="0"/>
              <a:t>. </a:t>
            </a:r>
            <a:endParaRPr lang="gu-IN" sz="2500" b="1" dirty="0" smtClean="0"/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gu-IN" sz="2500" b="1" dirty="0" smtClean="0">
                <a:solidFill>
                  <a:srgbClr val="C00000"/>
                </a:solidFill>
              </a:rPr>
              <a:t>તે </a:t>
            </a:r>
            <a:r>
              <a:rPr lang="gu-IN" sz="2500" b="1" dirty="0">
                <a:solidFill>
                  <a:srgbClr val="C00000"/>
                </a:solidFill>
              </a:rPr>
              <a:t>ઉપરાંત</a:t>
            </a:r>
            <a:r>
              <a:rPr lang="gu-IN" sz="2500" b="1" dirty="0"/>
              <a:t>, વિશ્વકક્ષા</a:t>
            </a:r>
            <a:r>
              <a:rPr lang="gu-IN" sz="2500" b="1" dirty="0">
                <a:solidFill>
                  <a:srgbClr val="0000CC"/>
                </a:solidFill>
              </a:rPr>
              <a:t>નાં </a:t>
            </a:r>
            <a:r>
              <a:rPr lang="gu-IN" sz="2500" b="1" dirty="0"/>
              <a:t>રમતો</a:t>
            </a:r>
            <a:r>
              <a:rPr lang="gu-IN" sz="2500" b="1" dirty="0">
                <a:solidFill>
                  <a:srgbClr val="0000CC"/>
                </a:solidFill>
              </a:rPr>
              <a:t>નાં</a:t>
            </a:r>
            <a:r>
              <a:rPr lang="gu-IN" sz="2500" b="1" dirty="0"/>
              <a:t> ન</a:t>
            </a:r>
            <a:r>
              <a:rPr lang="gu-IN" sz="2500" b="1" dirty="0">
                <a:solidFill>
                  <a:srgbClr val="0000CC"/>
                </a:solidFill>
              </a:rPr>
              <a:t>વાં</a:t>
            </a:r>
            <a:r>
              <a:rPr lang="gu-IN" sz="2500" b="1" dirty="0"/>
              <a:t> </a:t>
            </a:r>
            <a:r>
              <a:rPr lang="gu-IN" sz="2500" b="1" dirty="0" smtClean="0"/>
              <a:t>સ્થળો</a:t>
            </a:r>
            <a:r>
              <a:rPr lang="en-GB" sz="2500" b="1" dirty="0" smtClean="0"/>
              <a:t> </a:t>
            </a:r>
            <a:r>
              <a:rPr lang="gu-IN" sz="2500" b="1" dirty="0" smtClean="0"/>
              <a:t>અને </a:t>
            </a:r>
            <a:r>
              <a:rPr lang="gu-IN" sz="2500" b="1" dirty="0"/>
              <a:t>ક્રીડાંગણો</a:t>
            </a:r>
            <a:r>
              <a:rPr lang="gu-IN" sz="2500" b="1" dirty="0">
                <a:solidFill>
                  <a:srgbClr val="0000CC"/>
                </a:solidFill>
              </a:rPr>
              <a:t>નું</a:t>
            </a:r>
            <a:r>
              <a:rPr lang="gu-IN" sz="2500" b="1" dirty="0"/>
              <a:t> નિર્માણ </a:t>
            </a:r>
            <a:r>
              <a:rPr lang="gu-IN" sz="2500" b="1" dirty="0">
                <a:solidFill>
                  <a:srgbClr val="006600"/>
                </a:solidFill>
              </a:rPr>
              <a:t>કરવામાં આવે </a:t>
            </a:r>
            <a:r>
              <a:rPr lang="gu-IN" sz="2500" b="1" dirty="0" smtClean="0">
                <a:solidFill>
                  <a:srgbClr val="006600"/>
                </a:solidFill>
              </a:rPr>
              <a:t>છે</a:t>
            </a:r>
            <a:r>
              <a:rPr lang="gu-IN" sz="2500" b="1" dirty="0" smtClean="0"/>
              <a:t>, </a:t>
            </a:r>
            <a:r>
              <a:rPr lang="gu-IN" sz="2500" b="1" dirty="0" smtClean="0">
                <a:solidFill>
                  <a:srgbClr val="C00000"/>
                </a:solidFill>
              </a:rPr>
              <a:t>તેમજ</a:t>
            </a:r>
            <a:r>
              <a:rPr lang="gu-IN" sz="2500" b="1" dirty="0" smtClean="0"/>
              <a:t> ખેલાડીઓ </a:t>
            </a:r>
            <a:r>
              <a:rPr lang="gu-IN" sz="2500" b="1" dirty="0">
                <a:solidFill>
                  <a:srgbClr val="C00000"/>
                </a:solidFill>
              </a:rPr>
              <a:t>માટે</a:t>
            </a:r>
            <a:r>
              <a:rPr lang="gu-IN" sz="2500" b="1" dirty="0"/>
              <a:t> નવા આવાસો </a:t>
            </a:r>
            <a:r>
              <a:rPr lang="gu-IN" sz="2500" b="1" dirty="0">
                <a:solidFill>
                  <a:srgbClr val="006600"/>
                </a:solidFill>
              </a:rPr>
              <a:t>બાંધવામાં આવે છે</a:t>
            </a:r>
            <a:r>
              <a:rPr lang="gu-IN" sz="2500" b="1" dirty="0"/>
              <a:t>, </a:t>
            </a:r>
            <a:r>
              <a:rPr lang="gu-IN" sz="2500" b="1" dirty="0">
                <a:solidFill>
                  <a:srgbClr val="C00000"/>
                </a:solidFill>
              </a:rPr>
              <a:t>જે</a:t>
            </a:r>
            <a:r>
              <a:rPr lang="gu-IN" sz="2500" b="1" dirty="0">
                <a:solidFill>
                  <a:srgbClr val="0000CC"/>
                </a:solidFill>
              </a:rPr>
              <a:t>નો</a:t>
            </a:r>
            <a:r>
              <a:rPr lang="gu-IN" sz="2500" b="1" dirty="0"/>
              <a:t> લાભ રમતો પત્યા </a:t>
            </a:r>
            <a:r>
              <a:rPr lang="gu-IN" sz="2500" b="1" dirty="0">
                <a:solidFill>
                  <a:srgbClr val="C00000"/>
                </a:solidFill>
              </a:rPr>
              <a:t>પછી</a:t>
            </a:r>
            <a:r>
              <a:rPr lang="gu-IN" sz="2500" b="1" dirty="0"/>
              <a:t> </a:t>
            </a:r>
            <a:r>
              <a:rPr lang="gu-IN" sz="2500" b="1" dirty="0">
                <a:solidFill>
                  <a:srgbClr val="C00000"/>
                </a:solidFill>
              </a:rPr>
              <a:t>સ્થાનિક</a:t>
            </a:r>
            <a:r>
              <a:rPr lang="gu-IN" sz="2500" b="1" dirty="0"/>
              <a:t> લોકો લઈ </a:t>
            </a:r>
            <a:r>
              <a:rPr lang="gu-IN" sz="2500" b="1" dirty="0" smtClean="0">
                <a:solidFill>
                  <a:srgbClr val="006600"/>
                </a:solidFill>
              </a:rPr>
              <a:t>શકે</a:t>
            </a:r>
            <a:r>
              <a:rPr lang="en-GB" sz="2500" b="1" dirty="0" smtClean="0">
                <a:solidFill>
                  <a:srgbClr val="006600"/>
                </a:solidFill>
              </a:rPr>
              <a:t> </a:t>
            </a:r>
            <a:r>
              <a:rPr lang="gu-IN" sz="2500" b="1" dirty="0">
                <a:solidFill>
                  <a:srgbClr val="006600"/>
                </a:solidFill>
              </a:rPr>
              <a:t>છે</a:t>
            </a:r>
            <a:r>
              <a:rPr lang="gu-IN" sz="2500" b="1" dirty="0" smtClean="0"/>
              <a:t>.</a:t>
            </a:r>
            <a:endParaRPr lang="gu-IN" sz="2500" b="1" dirty="0" smtClean="0"/>
          </a:p>
          <a:p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41326713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95300" y="6292850"/>
            <a:ext cx="28067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11538" y="6305550"/>
            <a:ext cx="3522662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CGS Teachers Course - 27 October 2018</a:t>
            </a:r>
            <a:endParaRPr lang="en-GB" dirty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9300" y="6297613"/>
            <a:ext cx="23114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Slide </a:t>
            </a:r>
            <a:fld id="{0791107B-2345-4607-ADE7-C5725CF4E4E6}" type="slidenum">
              <a:rPr lang="en-GB" smtClean="0"/>
              <a:pPr eaLnBrk="1" hangingPunct="1"/>
              <a:t>15</a:t>
            </a:fld>
            <a:endParaRPr lang="en-GB" dirty="0" smtClean="0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98384" y="6241773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268087" y="934278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" name="Title 1"/>
          <p:cNvSpPr txBox="1">
            <a:spLocks noGrp="1"/>
          </p:cNvSpPr>
          <p:nvPr>
            <p:ph type="title"/>
          </p:nvPr>
        </p:nvSpPr>
        <p:spPr bwMode="auto">
          <a:xfrm>
            <a:off x="298384" y="159027"/>
            <a:ext cx="9278935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en-GB" sz="2500" kern="0" dirty="0" smtClean="0"/>
              <a:t/>
            </a:r>
            <a:br>
              <a:rPr lang="en-GB" sz="2500" kern="0" dirty="0" smtClean="0"/>
            </a:br>
            <a:r>
              <a:rPr lang="gu-IN" sz="3500" b="1" spc="50" dirty="0" smtClean="0">
                <a:solidFill>
                  <a:srgbClr val="C0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કોમનવેલ્થ ગેમ્સ – ફાયદા અને ગેરફાયદા</a:t>
            </a:r>
            <a:endParaRPr lang="en-GB" sz="3500" kern="0" dirty="0">
              <a:solidFill>
                <a:srgbClr val="FFC000"/>
              </a:solidFill>
              <a:latin typeface="Castellar" panose="020A0402060406010301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2000" y="1295400"/>
            <a:ext cx="8229600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gu-IN" sz="2700" b="1" dirty="0" smtClean="0">
                <a:solidFill>
                  <a:srgbClr val="0000CC"/>
                </a:solidFill>
              </a:rPr>
              <a:t>ગેરફાયદા</a:t>
            </a:r>
            <a:endParaRPr lang="en-GB" sz="2700" b="1" dirty="0" smtClean="0">
              <a:solidFill>
                <a:srgbClr val="0000CC"/>
              </a:solidFill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gu-IN" sz="2500" b="1" dirty="0" smtClean="0"/>
              <a:t>ખેલાડીઓ </a:t>
            </a:r>
            <a:r>
              <a:rPr lang="gu-IN" sz="2500" b="1" dirty="0">
                <a:solidFill>
                  <a:srgbClr val="C00000"/>
                </a:solidFill>
              </a:rPr>
              <a:t>માટે</a:t>
            </a:r>
            <a:r>
              <a:rPr lang="gu-IN" sz="2500" b="1" dirty="0"/>
              <a:t> આવાસો અને રમતો</a:t>
            </a:r>
            <a:r>
              <a:rPr lang="gu-IN" sz="2500" b="1" dirty="0">
                <a:solidFill>
                  <a:srgbClr val="0000CC"/>
                </a:solidFill>
              </a:rPr>
              <a:t>ની</a:t>
            </a:r>
            <a:r>
              <a:rPr lang="gu-IN" sz="2500" b="1" dirty="0"/>
              <a:t> વિવિધ સુવિધાઓ</a:t>
            </a:r>
            <a:r>
              <a:rPr lang="gu-IN" sz="2500" b="1" dirty="0">
                <a:solidFill>
                  <a:srgbClr val="0000CC"/>
                </a:solidFill>
              </a:rPr>
              <a:t>નાં</a:t>
            </a:r>
            <a:r>
              <a:rPr lang="gu-IN" sz="2500" b="1" dirty="0"/>
              <a:t> બાંધકામ, </a:t>
            </a:r>
            <a:r>
              <a:rPr lang="gu-IN" sz="2500" b="1" dirty="0">
                <a:solidFill>
                  <a:srgbClr val="C00000"/>
                </a:solidFill>
              </a:rPr>
              <a:t>તેમજ</a:t>
            </a:r>
            <a:r>
              <a:rPr lang="gu-IN" sz="2500" b="1" dirty="0"/>
              <a:t> હજારોની સંખ્યા</a:t>
            </a:r>
            <a:r>
              <a:rPr lang="gu-IN" sz="2500" b="1" dirty="0">
                <a:solidFill>
                  <a:srgbClr val="C00000"/>
                </a:solidFill>
              </a:rPr>
              <a:t>માં</a:t>
            </a:r>
            <a:r>
              <a:rPr lang="gu-IN" sz="2500" b="1" dirty="0"/>
              <a:t> આવતાં પ્રેક્ષકો</a:t>
            </a:r>
            <a:r>
              <a:rPr lang="gu-IN" sz="2500" b="1" dirty="0">
                <a:solidFill>
                  <a:srgbClr val="0000CC"/>
                </a:solidFill>
              </a:rPr>
              <a:t>નાં</a:t>
            </a:r>
            <a:r>
              <a:rPr lang="gu-IN" sz="2500" b="1" dirty="0"/>
              <a:t> </a:t>
            </a:r>
            <a:r>
              <a:rPr lang="gu-IN" sz="2500" b="1" dirty="0">
                <a:solidFill>
                  <a:srgbClr val="C00000"/>
                </a:solidFill>
              </a:rPr>
              <a:t>કારણે</a:t>
            </a:r>
            <a:r>
              <a:rPr lang="gu-IN" sz="2500" b="1" dirty="0"/>
              <a:t> </a:t>
            </a:r>
            <a:r>
              <a:rPr lang="gu-IN" sz="2500" b="1" dirty="0">
                <a:solidFill>
                  <a:srgbClr val="C00000"/>
                </a:solidFill>
              </a:rPr>
              <a:t>કડક </a:t>
            </a:r>
            <a:r>
              <a:rPr lang="gu-IN" sz="2500" b="1" dirty="0"/>
              <a:t>સુરક્ષા</a:t>
            </a:r>
            <a:r>
              <a:rPr lang="gu-IN" sz="2500" b="1" dirty="0">
                <a:solidFill>
                  <a:srgbClr val="0000CC"/>
                </a:solidFill>
              </a:rPr>
              <a:t>ની</a:t>
            </a:r>
            <a:r>
              <a:rPr lang="gu-IN" sz="2500" b="1" dirty="0"/>
              <a:t> વ્યવસ્થા કરવા </a:t>
            </a:r>
            <a:r>
              <a:rPr lang="gu-IN" sz="2500" b="1" dirty="0">
                <a:solidFill>
                  <a:srgbClr val="C00000"/>
                </a:solidFill>
              </a:rPr>
              <a:t>માટે</a:t>
            </a:r>
            <a:r>
              <a:rPr lang="gu-IN" sz="2500" b="1" dirty="0"/>
              <a:t> સરકારો ખર્ચ </a:t>
            </a:r>
            <a:r>
              <a:rPr lang="gu-IN" sz="2500" b="1" dirty="0">
                <a:solidFill>
                  <a:srgbClr val="006600"/>
                </a:solidFill>
              </a:rPr>
              <a:t>કરે છે</a:t>
            </a:r>
            <a:r>
              <a:rPr lang="gu-IN" sz="2500" b="1" dirty="0"/>
              <a:t>. </a:t>
            </a:r>
            <a:endParaRPr lang="en-GB" sz="2500" b="1" dirty="0" smtClean="0"/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gu-IN" sz="2500" b="1" dirty="0"/>
              <a:t>ખર્ચ</a:t>
            </a:r>
            <a:r>
              <a:rPr lang="gu-IN" sz="2500" b="1" dirty="0" smtClean="0"/>
              <a:t> </a:t>
            </a:r>
            <a:r>
              <a:rPr lang="gu-IN" sz="2500" b="1" dirty="0"/>
              <a:t>પહોંચી વળવા </a:t>
            </a:r>
            <a:r>
              <a:rPr lang="gu-IN" sz="2500" b="1" dirty="0">
                <a:solidFill>
                  <a:srgbClr val="C00000"/>
                </a:solidFill>
              </a:rPr>
              <a:t>સ્થાનિક </a:t>
            </a:r>
            <a:r>
              <a:rPr lang="gu-IN" sz="2500" b="1" dirty="0"/>
              <a:t>પ્રજા</a:t>
            </a:r>
            <a:r>
              <a:rPr lang="gu-IN" sz="2500" b="1" dirty="0">
                <a:solidFill>
                  <a:srgbClr val="0000CC"/>
                </a:solidFill>
              </a:rPr>
              <a:t>ના</a:t>
            </a:r>
            <a:r>
              <a:rPr lang="gu-IN" sz="2500" b="1" dirty="0"/>
              <a:t> સરકારી કર</a:t>
            </a:r>
            <a:r>
              <a:rPr lang="gu-IN" sz="2500" b="1" dirty="0">
                <a:solidFill>
                  <a:srgbClr val="C00000"/>
                </a:solidFill>
              </a:rPr>
              <a:t>માં</a:t>
            </a:r>
            <a:r>
              <a:rPr lang="gu-IN" sz="2500" b="1" dirty="0"/>
              <a:t> વધારો </a:t>
            </a:r>
            <a:r>
              <a:rPr lang="gu-IN" sz="2500" b="1" dirty="0">
                <a:solidFill>
                  <a:srgbClr val="006600"/>
                </a:solidFill>
              </a:rPr>
              <a:t>થાય </a:t>
            </a:r>
            <a:r>
              <a:rPr lang="gu-IN" sz="2500" b="1" dirty="0" smtClean="0">
                <a:solidFill>
                  <a:srgbClr val="006600"/>
                </a:solidFill>
              </a:rPr>
              <a:t>છે</a:t>
            </a:r>
            <a:r>
              <a:rPr lang="en-GB" sz="2500" b="1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gu-IN" sz="2500" b="1" dirty="0" smtClean="0"/>
              <a:t>કેટલીક </a:t>
            </a:r>
            <a:r>
              <a:rPr lang="gu-IN" sz="2500" b="1" dirty="0"/>
              <a:t>નોકરીઓ ટૂંક ગાળા </a:t>
            </a:r>
            <a:r>
              <a:rPr lang="gu-IN" sz="2500" b="1" dirty="0">
                <a:solidFill>
                  <a:srgbClr val="C00000"/>
                </a:solidFill>
              </a:rPr>
              <a:t>માટે</a:t>
            </a:r>
            <a:r>
              <a:rPr lang="gu-IN" sz="2500" b="1" dirty="0"/>
              <a:t> </a:t>
            </a:r>
            <a:r>
              <a:rPr lang="gu-IN" sz="2500" b="1" dirty="0">
                <a:solidFill>
                  <a:srgbClr val="C00000"/>
                </a:solidFill>
              </a:rPr>
              <a:t>હોવાથી </a:t>
            </a:r>
            <a:r>
              <a:rPr lang="gu-IN" sz="2500" b="1" dirty="0"/>
              <a:t>રમતો પત્યા </a:t>
            </a:r>
            <a:r>
              <a:rPr lang="gu-IN" sz="2500" b="1" dirty="0">
                <a:solidFill>
                  <a:srgbClr val="C00000"/>
                </a:solidFill>
              </a:rPr>
              <a:t>બાદ</a:t>
            </a:r>
            <a:r>
              <a:rPr lang="gu-IN" sz="2500" b="1" dirty="0"/>
              <a:t> બેકારી</a:t>
            </a:r>
            <a:r>
              <a:rPr lang="gu-IN" sz="2500" b="1" dirty="0">
                <a:solidFill>
                  <a:srgbClr val="0000CC"/>
                </a:solidFill>
              </a:rPr>
              <a:t>નું</a:t>
            </a:r>
            <a:r>
              <a:rPr lang="gu-IN" sz="2500" b="1" dirty="0"/>
              <a:t> જોખમ </a:t>
            </a:r>
            <a:r>
              <a:rPr lang="gu-IN" sz="2500" b="1" dirty="0">
                <a:solidFill>
                  <a:srgbClr val="006600"/>
                </a:solidFill>
              </a:rPr>
              <a:t>વધે છે</a:t>
            </a:r>
            <a:r>
              <a:rPr lang="gu-IN" sz="2500" b="1" dirty="0">
                <a:solidFill>
                  <a:srgbClr val="0000CC"/>
                </a:solidFill>
              </a:rPr>
              <a:t>. </a:t>
            </a:r>
            <a:endParaRPr lang="en-GB" sz="25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6456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Gujarati Radhika 2007"/>
        <a:ea typeface=""/>
        <a:cs typeface=""/>
      </a:majorFont>
      <a:minorFont>
        <a:latin typeface="Gujarati Radhika 2007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2634</TotalTime>
  <Words>806</Words>
  <Application>Microsoft Office PowerPoint</Application>
  <PresentationFormat>A4 Paper (210x297 mm)</PresentationFormat>
  <Paragraphs>120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Castellar</vt:lpstr>
      <vt:lpstr>Gujarati Radhika 2007</vt:lpstr>
      <vt:lpstr>Shruti</vt:lpstr>
      <vt:lpstr>Times New Roman</vt:lpstr>
      <vt:lpstr>Default Design</vt:lpstr>
      <vt:lpstr> કોમનવેલ્થ</vt:lpstr>
      <vt:lpstr> કોમનવેલ્થ</vt:lpstr>
      <vt:lpstr> કોમનવેલ્થ</vt:lpstr>
      <vt:lpstr> કોમનવેલ્થ</vt:lpstr>
      <vt:lpstr> કોમનવેલ્થ ગેમ્સ</vt:lpstr>
      <vt:lpstr> કોમનવેલ્થ ગેમ્સ</vt:lpstr>
      <vt:lpstr> કોમનવેલ્થ ગેમ્સ</vt:lpstr>
      <vt:lpstr> કોમનવેલ્થ ગેમ્સ</vt:lpstr>
      <vt:lpstr> કોમનવેલ્થ ગેમ્સ</vt:lpstr>
      <vt:lpstr> કોમનવેલ્થ ગેમ્સ</vt:lpstr>
      <vt:lpstr> કોમનવેલ્થ ગેમ્સ</vt:lpstr>
      <vt:lpstr> કોમનવેલ્થ ગેમ્સ</vt:lpstr>
      <vt:lpstr> કોમનવેલ્થ ગેમ્સ</vt:lpstr>
      <vt:lpstr> કોમનવેલ્થ ગેમ્સ – ફાયદા અને ગેરફાયદા</vt:lpstr>
      <vt:lpstr> કોમનવેલ્થ ગેમ્સ – ફાયદા અને ગેરફાયદા</vt:lpstr>
    </vt:vector>
  </TitlesOfParts>
  <Company>-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</dc:title>
  <dc:creator>-</dc:creator>
  <cp:lastModifiedBy>Mum</cp:lastModifiedBy>
  <cp:revision>637</cp:revision>
  <cp:lastPrinted>2017-08-26T17:01:56Z</cp:lastPrinted>
  <dcterms:created xsi:type="dcterms:W3CDTF">2006-02-14T11:19:14Z</dcterms:created>
  <dcterms:modified xsi:type="dcterms:W3CDTF">2018-10-22T19:13:18Z</dcterms:modified>
</cp:coreProperties>
</file>