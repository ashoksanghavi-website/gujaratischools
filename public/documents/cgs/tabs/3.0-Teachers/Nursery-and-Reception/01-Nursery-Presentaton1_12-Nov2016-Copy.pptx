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307" r:id="rId2"/>
    <p:sldId id="298" r:id="rId3"/>
    <p:sldId id="263" r:id="rId4"/>
    <p:sldId id="305" r:id="rId5"/>
    <p:sldId id="301" r:id="rId6"/>
    <p:sldId id="302" r:id="rId7"/>
    <p:sldId id="299" r:id="rId8"/>
    <p:sldId id="300" r:id="rId9"/>
    <p:sldId id="308" r:id="rId10"/>
    <p:sldId id="319" r:id="rId11"/>
    <p:sldId id="327" r:id="rId12"/>
    <p:sldId id="326" r:id="rId13"/>
    <p:sldId id="268" r:id="rId14"/>
    <p:sldId id="272" r:id="rId15"/>
    <p:sldId id="273" r:id="rId16"/>
    <p:sldId id="325" r:id="rId17"/>
    <p:sldId id="276" r:id="rId18"/>
    <p:sldId id="314" r:id="rId19"/>
    <p:sldId id="315" r:id="rId20"/>
    <p:sldId id="316" r:id="rId21"/>
    <p:sldId id="317" r:id="rId22"/>
    <p:sldId id="318" r:id="rId23"/>
    <p:sldId id="267" r:id="rId24"/>
    <p:sldId id="320" r:id="rId25"/>
    <p:sldId id="321" r:id="rId26"/>
    <p:sldId id="322" r:id="rId27"/>
    <p:sldId id="323" r:id="rId28"/>
    <p:sldId id="324" r:id="rId29"/>
    <p:sldId id="310" r:id="rId30"/>
    <p:sldId id="311" r:id="rId31"/>
    <p:sldId id="312" r:id="rId32"/>
    <p:sldId id="313" r:id="rId33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B20E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 autoAdjust="0"/>
    <p:restoredTop sz="94662" autoAdjust="0"/>
  </p:normalViewPr>
  <p:slideViewPr>
    <p:cSldViewPr>
      <p:cViewPr>
        <p:scale>
          <a:sx n="95" d="100"/>
          <a:sy n="95" d="100"/>
        </p:scale>
        <p:origin x="-420" y="6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628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84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GB" smtClean="0"/>
              <a:t>12/11/2016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Rekhaben Shah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2B0A7-260B-4C03-883F-26F5825278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575104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GB" smtClean="0"/>
              <a:t>12/11/2016</a:t>
            </a:r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 smtClean="0"/>
              <a:t>Rekhaben Shah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6D5E2-4D9C-49A1-96A7-10327207A3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775009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Rekhaben Shah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B6D5E2-4D9C-49A1-96A7-10327207A3A1}" type="slidenum">
              <a:rPr lang="en-GB" smtClean="0"/>
              <a:t>1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en-GB" smtClean="0"/>
              <a:t>12/11/2016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104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smtClean="0"/>
              <a:t>Rekhaben Shah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B6D5E2-4D9C-49A1-96A7-10327207A3A1}" type="slidenum">
              <a:rPr lang="en-GB" smtClean="0"/>
              <a:t>30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en-GB" smtClean="0"/>
              <a:t>12/11/2016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67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B6D5E2-4D9C-49A1-96A7-10327207A3A1}" type="slidenum">
              <a:rPr lang="en-GB" smtClean="0"/>
              <a:t>32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Rekhaben Shah</a:t>
            </a:r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r>
              <a:rPr lang="en-GB" smtClean="0"/>
              <a:t>12/11/2016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510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4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900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28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064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53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209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47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91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327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888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6319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13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2804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004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8294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21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FB659-BBB4-4AA3-BC69-1B7398AC6A93}" type="datetimeFigureOut">
              <a:rPr lang="en-GB" smtClean="0"/>
              <a:t>10/11/2016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B848F95-5C78-4360-82F5-4AE54B2CB2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14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pPtF4nTsqH8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Bnr3gmOwzO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youtube.com/watch?v=EsE0_mvxV2U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1.png"/><Relationship Id="rId3" Type="http://schemas.openxmlformats.org/officeDocument/2006/relationships/image" Target="../media/image5.jpeg"/><Relationship Id="rId7" Type="http://schemas.microsoft.com/office/2007/relationships/hdphoto" Target="../media/hdphoto2.wdp"/><Relationship Id="rId12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11" Type="http://schemas.openxmlformats.org/officeDocument/2006/relationships/image" Target="../media/image10.jpeg"/><Relationship Id="rId5" Type="http://schemas.openxmlformats.org/officeDocument/2006/relationships/hyperlink" Target="https://www.bing.com/images/search?q=diwali+sweets+images&amp;id=5F4F6AF1E00CF1FA8D0986103A5D5ADB1D6D10CC&amp;FORM=IQFRBA" TargetMode="External"/><Relationship Id="rId10" Type="http://schemas.openxmlformats.org/officeDocument/2006/relationships/hyperlink" Target="https://www.bing.com/images/search?q=night+time+images+free&amp;id=A728CCFBC7B92DF1D9939ED2897CF99740466783&amp;FORM=IQFRBA" TargetMode="External"/><Relationship Id="rId4" Type="http://schemas.openxmlformats.org/officeDocument/2006/relationships/image" Target="../media/image6.jpeg"/><Relationship Id="rId9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microsoft.com/office/2007/relationships/hdphoto" Target="../media/hdphoto7.wdp"/><Relationship Id="rId3" Type="http://schemas.openxmlformats.org/officeDocument/2006/relationships/hyperlink" Target="https://www.bing.com/images/search?q=Pen+and+Paper&amp;FORM=IRTRRL" TargetMode="External"/><Relationship Id="rId7" Type="http://schemas.openxmlformats.org/officeDocument/2006/relationships/image" Target="../media/image18.jpeg"/><Relationship Id="rId12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ng.com/images/search?q=crow+images+clip+art&amp;id=042B1A66E790A4A10BEA0E46D4D87E509C282183&amp;FORM=IQFRBA" TargetMode="External"/><Relationship Id="rId11" Type="http://schemas.microsoft.com/office/2007/relationships/hdphoto" Target="../media/hdphoto6.wdp"/><Relationship Id="rId5" Type="http://schemas.openxmlformats.org/officeDocument/2006/relationships/image" Target="../media/image17.jpeg"/><Relationship Id="rId10" Type="http://schemas.openxmlformats.org/officeDocument/2006/relationships/image" Target="../media/image19.png"/><Relationship Id="rId4" Type="http://schemas.openxmlformats.org/officeDocument/2006/relationships/image" Target="../media/image16.jpeg"/><Relationship Id="rId9" Type="http://schemas.openxmlformats.org/officeDocument/2006/relationships/hyperlink" Target="https://www.bing.com/images/search?q=scissors+images+clipart&amp;id=EDE326EF13499B53719404B0C13D33D088450F8C&amp;FORM=IQFRBA" TargetMode="External"/><Relationship Id="rId14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microsoft.com/office/2007/relationships/hdphoto" Target="../media/hdphoto8.wdp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3688" y="1988840"/>
            <a:ext cx="6600451" cy="2262781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C00000"/>
                </a:solidFill>
              </a:rPr>
              <a:t>Training to Primary Level Teachers of Gujarati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3688" y="4437112"/>
            <a:ext cx="6744467" cy="1584176"/>
          </a:xfrm>
        </p:spPr>
        <p:txBody>
          <a:bodyPr>
            <a:normAutofit/>
          </a:bodyPr>
          <a:lstStyle/>
          <a:p>
            <a:endParaRPr lang="en-GB" sz="2400" b="1" dirty="0" smtClean="0">
              <a:solidFill>
                <a:schemeClr val="tx1"/>
              </a:solidFill>
            </a:endParaRPr>
          </a:p>
          <a:p>
            <a:r>
              <a:rPr lang="en-GB" sz="2400" b="1" dirty="0" smtClean="0">
                <a:solidFill>
                  <a:schemeClr val="tx1"/>
                </a:solidFill>
              </a:rPr>
              <a:t>Saturday </a:t>
            </a:r>
            <a:r>
              <a:rPr lang="en-GB" sz="2400" b="1" dirty="0">
                <a:solidFill>
                  <a:schemeClr val="tx1"/>
                </a:solidFill>
              </a:rPr>
              <a:t>12</a:t>
            </a:r>
            <a:r>
              <a:rPr lang="en-GB" sz="2400" b="1" baseline="30000" dirty="0">
                <a:solidFill>
                  <a:schemeClr val="tx1"/>
                </a:solidFill>
              </a:rPr>
              <a:t>th</a:t>
            </a:r>
            <a:r>
              <a:rPr lang="en-GB" sz="2400" b="1" dirty="0">
                <a:solidFill>
                  <a:schemeClr val="tx1"/>
                </a:solidFill>
              </a:rPr>
              <a:t> November 2016</a:t>
            </a:r>
          </a:p>
          <a:p>
            <a:r>
              <a:rPr lang="en-GB" sz="2400" b="1" dirty="0" err="1">
                <a:solidFill>
                  <a:schemeClr val="tx1"/>
                </a:solidFill>
              </a:rPr>
              <a:t>Rekhaben</a:t>
            </a:r>
            <a:r>
              <a:rPr lang="en-GB" sz="2400" b="1" dirty="0">
                <a:solidFill>
                  <a:schemeClr val="tx1"/>
                </a:solidFill>
              </a:rPr>
              <a:t> Shah</a:t>
            </a:r>
          </a:p>
        </p:txBody>
      </p:sp>
    </p:spTree>
    <p:extLst>
      <p:ext uri="{BB962C8B-B14F-4D97-AF65-F5344CB8AC3E}">
        <p14:creationId xmlns:p14="http://schemas.microsoft.com/office/powerpoint/2010/main" val="1971818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404664"/>
            <a:ext cx="6589199" cy="1280890"/>
          </a:xfrm>
        </p:spPr>
        <p:txBody>
          <a:bodyPr/>
          <a:lstStyle/>
          <a:p>
            <a:r>
              <a:rPr lang="en-GB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Session 1</a:t>
            </a:r>
            <a:br>
              <a:rPr lang="en-GB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GB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Training 4 to 6 year olds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9672" y="1916832"/>
            <a:ext cx="7056784" cy="4176464"/>
          </a:xfrm>
        </p:spPr>
        <p:txBody>
          <a:bodyPr>
            <a:normAutofit fontScale="77500" lnSpcReduction="20000"/>
          </a:bodyPr>
          <a:lstStyle/>
          <a:p>
            <a:pPr marL="625475" indent="-6254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3500" b="1" dirty="0">
                <a:solidFill>
                  <a:schemeClr val="tx1"/>
                </a:solidFill>
                <a:latin typeface="+mj-lt"/>
              </a:rPr>
              <a:t>Developing listening and speaking skills through music and songs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GB" sz="2300" b="1" dirty="0">
              <a:solidFill>
                <a:schemeClr val="tx1"/>
              </a:solidFill>
              <a:latin typeface="+mj-lt"/>
            </a:endParaRPr>
          </a:p>
          <a:p>
            <a:pPr marL="625475" indent="-6254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3500" b="1" dirty="0">
                <a:solidFill>
                  <a:schemeClr val="tx1"/>
                </a:solidFill>
                <a:latin typeface="+mj-lt"/>
              </a:rPr>
              <a:t>Recognising and naming letters of the alphabet and numbers orally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n-GB" sz="2300" b="1" dirty="0">
              <a:solidFill>
                <a:schemeClr val="tx1"/>
              </a:solidFill>
              <a:latin typeface="+mj-lt"/>
            </a:endParaRPr>
          </a:p>
          <a:p>
            <a:pPr marL="625475" indent="-625475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GB" sz="3500" b="1" dirty="0">
                <a:solidFill>
                  <a:schemeClr val="tx1"/>
                </a:solidFill>
                <a:latin typeface="+mj-lt"/>
              </a:rPr>
              <a:t>Developing simple words and sentences orally</a:t>
            </a:r>
          </a:p>
          <a:p>
            <a:pPr marL="0" indent="0">
              <a:buNone/>
            </a:pP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1328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cisl.doomby.com/medias/album/final-kindergarten-logo-2006-1ozfr0v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525" y="919259"/>
            <a:ext cx="6874915" cy="5101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911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712" y="2492896"/>
            <a:ext cx="6626697" cy="2880320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Aft>
                <a:spcPts val="500"/>
              </a:spcAft>
            </a:pPr>
            <a:r>
              <a:rPr lang="en-GB" sz="4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Developing listening </a:t>
            </a:r>
            <a:r>
              <a:rPr lang="en-GB" sz="4200" b="1" dirty="0" smtClean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and </a:t>
            </a:r>
            <a:r>
              <a:rPr lang="en-GB" sz="42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speaking skills through music and songs</a:t>
            </a:r>
          </a:p>
        </p:txBody>
      </p:sp>
    </p:spTree>
    <p:extLst>
      <p:ext uri="{BB962C8B-B14F-4D97-AF65-F5344CB8AC3E}">
        <p14:creationId xmlns:p14="http://schemas.microsoft.com/office/powerpoint/2010/main" val="340698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624110"/>
            <a:ext cx="6554688" cy="788666"/>
          </a:xfrm>
        </p:spPr>
        <p:txBody>
          <a:bodyPr>
            <a:normAutofit/>
          </a:bodyPr>
          <a:lstStyle/>
          <a:p>
            <a:r>
              <a:rPr lang="en-GB" sz="40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Action Songs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608" y="1628800"/>
            <a:ext cx="7848871" cy="3672408"/>
          </a:xfrm>
        </p:spPr>
        <p:txBody>
          <a:bodyPr>
            <a:noAutofit/>
          </a:bodyPr>
          <a:lstStyle/>
          <a:p>
            <a:r>
              <a:rPr lang="en-GB" sz="2500" b="1" dirty="0">
                <a:solidFill>
                  <a:schemeClr val="tx1"/>
                </a:solidFill>
              </a:rPr>
              <a:t>Bus </a:t>
            </a:r>
            <a:r>
              <a:rPr lang="en-GB" sz="2500" b="1" dirty="0" err="1">
                <a:solidFill>
                  <a:schemeClr val="tx1"/>
                </a:solidFill>
              </a:rPr>
              <a:t>na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paida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gol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gol</a:t>
            </a:r>
            <a:r>
              <a:rPr lang="en-GB" sz="2500" b="1" dirty="0">
                <a:solidFill>
                  <a:schemeClr val="tx1"/>
                </a:solidFill>
              </a:rPr>
              <a:t> jai, </a:t>
            </a:r>
            <a:r>
              <a:rPr lang="en-GB" sz="2500" b="1" dirty="0" err="1">
                <a:solidFill>
                  <a:schemeClr val="tx1"/>
                </a:solidFill>
              </a:rPr>
              <a:t>gol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gol</a:t>
            </a:r>
            <a:r>
              <a:rPr lang="en-GB" sz="2500" b="1" dirty="0">
                <a:solidFill>
                  <a:schemeClr val="tx1"/>
                </a:solidFill>
              </a:rPr>
              <a:t> jai, </a:t>
            </a:r>
            <a:r>
              <a:rPr lang="en-GB" sz="2500" b="1" dirty="0" err="1">
                <a:solidFill>
                  <a:schemeClr val="tx1"/>
                </a:solidFill>
              </a:rPr>
              <a:t>gol</a:t>
            </a:r>
            <a:r>
              <a:rPr lang="en-GB" sz="2500" b="1" dirty="0">
                <a:solidFill>
                  <a:schemeClr val="tx1"/>
                </a:solidFill>
              </a:rPr>
              <a:t>, </a:t>
            </a:r>
            <a:r>
              <a:rPr lang="en-GB" sz="2500" b="1" dirty="0" err="1">
                <a:solidFill>
                  <a:schemeClr val="tx1"/>
                </a:solidFill>
              </a:rPr>
              <a:t>gol</a:t>
            </a:r>
            <a:r>
              <a:rPr lang="en-GB" sz="2500" b="1" dirty="0">
                <a:solidFill>
                  <a:schemeClr val="tx1"/>
                </a:solidFill>
              </a:rPr>
              <a:t> jai</a:t>
            </a:r>
          </a:p>
          <a:p>
            <a:r>
              <a:rPr lang="en-GB" sz="2500" b="1" dirty="0" err="1">
                <a:solidFill>
                  <a:schemeClr val="tx1"/>
                </a:solidFill>
              </a:rPr>
              <a:t>Taara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dhima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dhima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aavo</a:t>
            </a:r>
            <a:r>
              <a:rPr lang="en-GB" sz="2500" b="1" dirty="0">
                <a:solidFill>
                  <a:schemeClr val="tx1"/>
                </a:solidFill>
              </a:rPr>
              <a:t>………….</a:t>
            </a:r>
          </a:p>
          <a:p>
            <a:r>
              <a:rPr lang="en-GB" sz="2500" b="1" dirty="0" err="1">
                <a:solidFill>
                  <a:schemeClr val="tx1"/>
                </a:solidFill>
              </a:rPr>
              <a:t>Ek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jambu</a:t>
            </a:r>
            <a:r>
              <a:rPr lang="en-GB" sz="2500" b="1" dirty="0">
                <a:solidFill>
                  <a:schemeClr val="tx1"/>
                </a:solidFill>
              </a:rPr>
              <a:t>, Be </a:t>
            </a:r>
            <a:r>
              <a:rPr lang="en-GB" sz="2500" b="1" dirty="0" err="1">
                <a:solidFill>
                  <a:schemeClr val="tx1"/>
                </a:solidFill>
              </a:rPr>
              <a:t>jambu</a:t>
            </a:r>
            <a:r>
              <a:rPr lang="en-GB" sz="2500" b="1" dirty="0">
                <a:solidFill>
                  <a:schemeClr val="tx1"/>
                </a:solidFill>
              </a:rPr>
              <a:t>, </a:t>
            </a:r>
            <a:r>
              <a:rPr lang="en-GB" sz="2500" b="1" dirty="0" err="1">
                <a:solidFill>
                  <a:schemeClr val="tx1"/>
                </a:solidFill>
              </a:rPr>
              <a:t>tran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jambu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khadha</a:t>
            </a:r>
            <a:r>
              <a:rPr lang="en-GB" sz="2500" b="1" dirty="0">
                <a:solidFill>
                  <a:schemeClr val="tx1"/>
                </a:solidFill>
              </a:rPr>
              <a:t>……</a:t>
            </a:r>
          </a:p>
          <a:p>
            <a:r>
              <a:rPr lang="en-GB" sz="2500" b="1" dirty="0" err="1">
                <a:solidFill>
                  <a:schemeClr val="tx1"/>
                </a:solidFill>
              </a:rPr>
              <a:t>Pata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uper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gaadi</a:t>
            </a:r>
            <a:r>
              <a:rPr lang="en-GB" sz="2500" b="1" dirty="0">
                <a:solidFill>
                  <a:schemeClr val="tx1"/>
                </a:solidFill>
              </a:rPr>
              <a:t>, </a:t>
            </a:r>
            <a:r>
              <a:rPr lang="en-GB" sz="2500" b="1" dirty="0" err="1">
                <a:solidFill>
                  <a:schemeClr val="tx1"/>
                </a:solidFill>
              </a:rPr>
              <a:t>dode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doto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kadhi</a:t>
            </a:r>
            <a:r>
              <a:rPr lang="en-GB" sz="2500" b="1" dirty="0">
                <a:solidFill>
                  <a:schemeClr val="tx1"/>
                </a:solidFill>
              </a:rPr>
              <a:t>….</a:t>
            </a:r>
          </a:p>
          <a:p>
            <a:r>
              <a:rPr lang="en-GB" sz="2500" b="1" dirty="0" err="1">
                <a:solidFill>
                  <a:schemeClr val="tx1"/>
                </a:solidFill>
              </a:rPr>
              <a:t>Jambubhai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na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khetarma</a:t>
            </a:r>
            <a:r>
              <a:rPr lang="en-GB" sz="2500" b="1" dirty="0">
                <a:solidFill>
                  <a:schemeClr val="tx1"/>
                </a:solidFill>
              </a:rPr>
              <a:t>………..</a:t>
            </a:r>
          </a:p>
          <a:p>
            <a:r>
              <a:rPr lang="en-GB" sz="2500" b="1" dirty="0">
                <a:solidFill>
                  <a:schemeClr val="tx1"/>
                </a:solidFill>
              </a:rPr>
              <a:t>Me </a:t>
            </a:r>
            <a:r>
              <a:rPr lang="en-GB" sz="2500" b="1" dirty="0" err="1">
                <a:solidFill>
                  <a:schemeClr val="tx1"/>
                </a:solidFill>
              </a:rPr>
              <a:t>ek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biladi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padi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chhe</a:t>
            </a:r>
            <a:r>
              <a:rPr lang="en-GB" sz="2500" b="1" dirty="0">
                <a:solidFill>
                  <a:schemeClr val="tx1"/>
                </a:solidFill>
              </a:rPr>
              <a:t>………….</a:t>
            </a:r>
          </a:p>
          <a:p>
            <a:r>
              <a:rPr lang="en-GB" sz="2500" b="1" dirty="0" err="1">
                <a:solidFill>
                  <a:schemeClr val="tx1"/>
                </a:solidFill>
              </a:rPr>
              <a:t>Chakki</a:t>
            </a:r>
            <a:r>
              <a:rPr lang="en-GB" sz="2500" b="1" dirty="0">
                <a:solidFill>
                  <a:schemeClr val="tx1"/>
                </a:solidFill>
              </a:rPr>
              <a:t> ben </a:t>
            </a:r>
            <a:r>
              <a:rPr lang="en-GB" sz="2500" b="1" dirty="0" err="1">
                <a:solidFill>
                  <a:schemeClr val="tx1"/>
                </a:solidFill>
              </a:rPr>
              <a:t>chakki</a:t>
            </a:r>
            <a:r>
              <a:rPr lang="en-GB" sz="2500" b="1" dirty="0">
                <a:solidFill>
                  <a:schemeClr val="tx1"/>
                </a:solidFill>
              </a:rPr>
              <a:t> ben, </a:t>
            </a:r>
            <a:r>
              <a:rPr lang="en-GB" sz="2500" b="1" dirty="0" err="1">
                <a:solidFill>
                  <a:schemeClr val="tx1"/>
                </a:solidFill>
              </a:rPr>
              <a:t>mari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saathe</a:t>
            </a:r>
            <a:r>
              <a:rPr lang="en-GB" sz="2500" b="1" dirty="0">
                <a:solidFill>
                  <a:schemeClr val="tx1"/>
                </a:solidFill>
              </a:rPr>
              <a:t> </a:t>
            </a:r>
            <a:r>
              <a:rPr lang="en-GB" sz="2500" b="1" dirty="0" err="1">
                <a:solidFill>
                  <a:schemeClr val="tx1"/>
                </a:solidFill>
              </a:rPr>
              <a:t>ramva</a:t>
            </a:r>
            <a:r>
              <a:rPr lang="en-GB" sz="2500" b="1" dirty="0" smtClean="0">
                <a:solidFill>
                  <a:schemeClr val="tx1"/>
                </a:solidFill>
              </a:rPr>
              <a:t>…..</a:t>
            </a:r>
            <a:endParaRPr lang="en-GB" sz="2500" dirty="0"/>
          </a:p>
        </p:txBody>
      </p:sp>
      <p:sp>
        <p:nvSpPr>
          <p:cNvPr id="4" name="Rectangle 3"/>
          <p:cNvSpPr/>
          <p:nvPr/>
        </p:nvSpPr>
        <p:spPr>
          <a:xfrm>
            <a:off x="1403648" y="5631631"/>
            <a:ext cx="73448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hlinkClick r:id="rId2"/>
              </a:rPr>
              <a:t>http://www.youtube.com/watch?v=pPtF4nTsqH8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568305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80" y="624110"/>
            <a:ext cx="6842721" cy="1004690"/>
          </a:xfrm>
        </p:spPr>
        <p:txBody>
          <a:bodyPr>
            <a:noAutofit/>
          </a:bodyPr>
          <a:lstStyle/>
          <a:p>
            <a:r>
              <a:rPr lang="en-GB" sz="40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Teaching Parts of the Body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1700808"/>
            <a:ext cx="7488831" cy="3600400"/>
          </a:xfrm>
        </p:spPr>
        <p:txBody>
          <a:bodyPr>
            <a:normAutofit/>
          </a:bodyPr>
          <a:lstStyle/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Mathu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Khabha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,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Gothun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ane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pug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Gothun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ane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pug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Naak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ane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kaan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ane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aankh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ane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modhu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,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Mathu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……………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2700" b="1" dirty="0">
                <a:solidFill>
                  <a:schemeClr val="tx1"/>
                </a:solidFill>
                <a:latin typeface="+mj-lt"/>
              </a:rPr>
              <a:t>Or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2700" b="1" dirty="0">
                <a:solidFill>
                  <a:schemeClr val="tx1"/>
                </a:solidFill>
                <a:latin typeface="+mj-lt"/>
              </a:rPr>
              <a:t>Nani </a:t>
            </a:r>
            <a:r>
              <a:rPr lang="en-GB" sz="2700" b="1" dirty="0" err="1">
                <a:solidFill>
                  <a:schemeClr val="tx1"/>
                </a:solidFill>
                <a:latin typeface="+mj-lt"/>
              </a:rPr>
              <a:t>maari</a:t>
            </a:r>
            <a:r>
              <a:rPr lang="en-GB" sz="2700" b="1" dirty="0">
                <a:solidFill>
                  <a:schemeClr val="tx1"/>
                </a:solidFill>
                <a:latin typeface="+mj-lt"/>
              </a:rPr>
              <a:t> ankh………..</a:t>
            </a:r>
          </a:p>
          <a:p>
            <a:pPr marL="0" indent="0">
              <a:buNone/>
            </a:pPr>
            <a:endParaRPr lang="en-GB" dirty="0">
              <a:latin typeface="+mj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75656" y="5518393"/>
            <a:ext cx="71287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b="1" dirty="0">
                <a:solidFill>
                  <a:srgbClr val="0000CC"/>
                </a:solidFill>
                <a:hlinkClick r:id="rId2"/>
              </a:rPr>
              <a:t>http://www.youtube.com/watch?v=Bnr3gmOwzOY</a:t>
            </a:r>
            <a:endParaRPr lang="en-GB" sz="22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80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620688"/>
            <a:ext cx="6589199" cy="1280890"/>
          </a:xfrm>
        </p:spPr>
        <p:txBody>
          <a:bodyPr>
            <a:normAutofit/>
          </a:bodyPr>
          <a:lstStyle/>
          <a:p>
            <a:r>
              <a:rPr lang="en-GB" sz="40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Gujarati Teaching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600" b="1" dirty="0">
                <a:solidFill>
                  <a:schemeClr val="tx1"/>
                </a:solidFill>
                <a:latin typeface="+mj-lt"/>
              </a:rPr>
              <a:t>Nursery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endParaRPr lang="en-GB" sz="3600" b="1" dirty="0">
              <a:solidFill>
                <a:schemeClr val="tx1"/>
              </a:solidFill>
              <a:latin typeface="+mj-lt"/>
            </a:endParaRP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600" b="1" dirty="0">
                <a:solidFill>
                  <a:schemeClr val="tx1"/>
                </a:solidFill>
                <a:latin typeface="+mj-lt"/>
              </a:rPr>
              <a:t>Reception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endParaRPr lang="en-GB" sz="3600" b="1" dirty="0">
              <a:solidFill>
                <a:schemeClr val="tx1"/>
              </a:solidFill>
              <a:latin typeface="+mj-lt"/>
            </a:endParaRP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600" b="1" dirty="0">
                <a:solidFill>
                  <a:schemeClr val="tx1"/>
                </a:solidFill>
                <a:latin typeface="+mj-lt"/>
              </a:rPr>
              <a:t>Infants</a:t>
            </a:r>
          </a:p>
          <a:p>
            <a:pPr marL="0" indent="0">
              <a:buNone/>
            </a:pPr>
            <a:endParaRPr lang="en-GB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218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404664"/>
            <a:ext cx="6554688" cy="788666"/>
          </a:xfrm>
        </p:spPr>
        <p:txBody>
          <a:bodyPr>
            <a:normAutofit/>
          </a:bodyPr>
          <a:lstStyle/>
          <a:p>
            <a:r>
              <a:rPr lang="en-GB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Should be Taught?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624" y="1268760"/>
            <a:ext cx="3888431" cy="4968552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sz="4400" b="1" u="sng" dirty="0">
                <a:solidFill>
                  <a:srgbClr val="C00000"/>
                </a:solidFill>
              </a:rPr>
              <a:t>For 4-5 year olds</a:t>
            </a:r>
          </a:p>
          <a:p>
            <a:r>
              <a:rPr lang="en-GB" sz="4200" b="1" dirty="0">
                <a:solidFill>
                  <a:schemeClr val="tx1"/>
                </a:solidFill>
              </a:rPr>
              <a:t>Simple rhymes, later use CDs</a:t>
            </a:r>
          </a:p>
          <a:p>
            <a:r>
              <a:rPr lang="en-GB" sz="4200" b="1" dirty="0">
                <a:solidFill>
                  <a:schemeClr val="tx1"/>
                </a:solidFill>
              </a:rPr>
              <a:t>Numbers </a:t>
            </a:r>
            <a:r>
              <a:rPr lang="en-GB" sz="4200" b="1" dirty="0" smtClean="0">
                <a:solidFill>
                  <a:schemeClr val="tx1"/>
                </a:solidFill>
              </a:rPr>
              <a:t>1-10</a:t>
            </a:r>
            <a:endParaRPr lang="en-GB" sz="4200" b="1" dirty="0">
              <a:solidFill>
                <a:schemeClr val="tx1"/>
              </a:solidFill>
            </a:endParaRPr>
          </a:p>
          <a:p>
            <a:r>
              <a:rPr lang="en-GB" sz="4200" b="1" dirty="0">
                <a:solidFill>
                  <a:schemeClr val="tx1"/>
                </a:solidFill>
              </a:rPr>
              <a:t>Recognise instructions</a:t>
            </a:r>
          </a:p>
          <a:p>
            <a:r>
              <a:rPr lang="en-GB" sz="4200" b="1" dirty="0">
                <a:solidFill>
                  <a:schemeClr val="tx1"/>
                </a:solidFill>
              </a:rPr>
              <a:t>Family relations</a:t>
            </a:r>
          </a:p>
          <a:p>
            <a:r>
              <a:rPr lang="en-GB" sz="4200" b="1" dirty="0">
                <a:solidFill>
                  <a:schemeClr val="tx1"/>
                </a:solidFill>
              </a:rPr>
              <a:t>Common animals, </a:t>
            </a:r>
            <a:endParaRPr lang="en-GB" sz="4200" b="1" dirty="0" smtClean="0">
              <a:solidFill>
                <a:schemeClr val="tx1"/>
              </a:solidFill>
            </a:endParaRPr>
          </a:p>
          <a:p>
            <a:r>
              <a:rPr lang="en-GB" sz="4200" b="1" dirty="0" smtClean="0">
                <a:solidFill>
                  <a:schemeClr val="tx1"/>
                </a:solidFill>
              </a:rPr>
              <a:t>pictures</a:t>
            </a:r>
            <a:r>
              <a:rPr lang="en-GB" sz="4200" b="1" dirty="0">
                <a:solidFill>
                  <a:schemeClr val="tx1"/>
                </a:solidFill>
              </a:rPr>
              <a:t>, colouring</a:t>
            </a:r>
          </a:p>
          <a:p>
            <a:r>
              <a:rPr lang="en-GB" sz="4200" b="1" dirty="0">
                <a:solidFill>
                  <a:schemeClr val="tx1"/>
                </a:solidFill>
              </a:rPr>
              <a:t>Common fruits</a:t>
            </a:r>
          </a:p>
          <a:p>
            <a:r>
              <a:rPr lang="en-GB" sz="4200" b="1" dirty="0">
                <a:solidFill>
                  <a:schemeClr val="tx1"/>
                </a:solidFill>
              </a:rPr>
              <a:t>Alphabet speaking and recognition, simple words formed using the letters</a:t>
            </a:r>
          </a:p>
          <a:p>
            <a:r>
              <a:rPr lang="en-GB" sz="4200" b="1" dirty="0">
                <a:solidFill>
                  <a:schemeClr val="tx1"/>
                </a:solidFill>
              </a:rPr>
              <a:t>Simple stories</a:t>
            </a:r>
          </a:p>
          <a:p>
            <a:r>
              <a:rPr lang="en-GB" sz="4200" b="1" dirty="0">
                <a:solidFill>
                  <a:schemeClr val="tx1"/>
                </a:solidFill>
              </a:rPr>
              <a:t>Team </a:t>
            </a:r>
            <a:r>
              <a:rPr lang="en-GB" sz="4200" b="1" dirty="0" smtClean="0">
                <a:solidFill>
                  <a:schemeClr val="tx1"/>
                </a:solidFill>
              </a:rPr>
              <a:t>games</a:t>
            </a:r>
            <a:endParaRPr lang="en-GB" sz="4200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4048" y="1228568"/>
            <a:ext cx="3816423" cy="51527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100" b="1" u="sng" dirty="0">
                <a:solidFill>
                  <a:srgbClr val="C00000"/>
                </a:solidFill>
              </a:rPr>
              <a:t>For 5-6 year olds</a:t>
            </a:r>
          </a:p>
          <a:p>
            <a:r>
              <a:rPr lang="en-GB" sz="1900" b="1" dirty="0">
                <a:solidFill>
                  <a:schemeClr val="tx1"/>
                </a:solidFill>
              </a:rPr>
              <a:t>Songs using CDs</a:t>
            </a:r>
          </a:p>
          <a:p>
            <a:r>
              <a:rPr lang="en-GB" sz="1900" b="1" dirty="0">
                <a:solidFill>
                  <a:schemeClr val="tx1"/>
                </a:solidFill>
              </a:rPr>
              <a:t>Written numbers 1-10</a:t>
            </a:r>
          </a:p>
          <a:p>
            <a:r>
              <a:rPr lang="en-GB" sz="1900" b="1" dirty="0">
                <a:solidFill>
                  <a:schemeClr val="tx1"/>
                </a:solidFill>
              </a:rPr>
              <a:t>Simple sums, worksheets </a:t>
            </a:r>
            <a:r>
              <a:rPr lang="en-GB" sz="1900" b="1" dirty="0" smtClean="0">
                <a:solidFill>
                  <a:schemeClr val="tx1"/>
                </a:solidFill>
              </a:rPr>
              <a:t/>
            </a:r>
            <a:br>
              <a:rPr lang="en-GB" sz="1900" b="1" dirty="0" smtClean="0">
                <a:solidFill>
                  <a:schemeClr val="tx1"/>
                </a:solidFill>
              </a:rPr>
            </a:br>
            <a:r>
              <a:rPr lang="en-GB" sz="1900" b="1" dirty="0" smtClean="0">
                <a:solidFill>
                  <a:schemeClr val="tx1"/>
                </a:solidFill>
              </a:rPr>
              <a:t>on </a:t>
            </a:r>
            <a:r>
              <a:rPr lang="en-GB" sz="1900" b="1" dirty="0">
                <a:solidFill>
                  <a:schemeClr val="tx1"/>
                </a:solidFill>
              </a:rPr>
              <a:t>counting</a:t>
            </a:r>
          </a:p>
          <a:p>
            <a:r>
              <a:rPr lang="en-GB" sz="1900" b="1" dirty="0">
                <a:solidFill>
                  <a:schemeClr val="tx1"/>
                </a:solidFill>
              </a:rPr>
              <a:t>Parts of the body</a:t>
            </a:r>
          </a:p>
          <a:p>
            <a:r>
              <a:rPr lang="en-GB" sz="1900" b="1" dirty="0">
                <a:solidFill>
                  <a:schemeClr val="tx1"/>
                </a:solidFill>
              </a:rPr>
              <a:t>Alphabet writing and </a:t>
            </a:r>
            <a:r>
              <a:rPr lang="en-GB" sz="1900" b="1" dirty="0" smtClean="0">
                <a:solidFill>
                  <a:schemeClr val="tx1"/>
                </a:solidFill>
              </a:rPr>
              <a:t/>
            </a:r>
            <a:br>
              <a:rPr lang="en-GB" sz="1900" b="1" dirty="0" smtClean="0">
                <a:solidFill>
                  <a:schemeClr val="tx1"/>
                </a:solidFill>
              </a:rPr>
            </a:br>
            <a:r>
              <a:rPr lang="en-GB" sz="1900" b="1" dirty="0" smtClean="0">
                <a:solidFill>
                  <a:schemeClr val="tx1"/>
                </a:solidFill>
              </a:rPr>
              <a:t>words</a:t>
            </a:r>
            <a:r>
              <a:rPr lang="en-GB" sz="1900" b="1" dirty="0">
                <a:solidFill>
                  <a:schemeClr val="tx1"/>
                </a:solidFill>
              </a:rPr>
              <a:t>, attention to the phonetic sounds</a:t>
            </a:r>
          </a:p>
          <a:p>
            <a:r>
              <a:rPr lang="en-GB" sz="1900" b="1" dirty="0">
                <a:solidFill>
                  <a:schemeClr val="tx1"/>
                </a:solidFill>
              </a:rPr>
              <a:t>Extended family</a:t>
            </a:r>
          </a:p>
          <a:p>
            <a:r>
              <a:rPr lang="en-GB" sz="1900" b="1" dirty="0">
                <a:solidFill>
                  <a:schemeClr val="tx1"/>
                </a:solidFill>
              </a:rPr>
              <a:t>Simple questions and answers</a:t>
            </a:r>
          </a:p>
          <a:p>
            <a:r>
              <a:rPr lang="en-GB" sz="1900" b="1" dirty="0">
                <a:solidFill>
                  <a:schemeClr val="tx1"/>
                </a:solidFill>
              </a:rPr>
              <a:t>Fruits, Vegetables, Animals, Days of the week (Oral)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58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712" y="2780928"/>
            <a:ext cx="6552728" cy="244827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40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Recognising and naming letters of the alphabet and numbers orally</a:t>
            </a:r>
          </a:p>
          <a:p>
            <a:endParaRPr lang="en-GB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2094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5816" y="404868"/>
            <a:ext cx="6589200" cy="1280890"/>
          </a:xfrm>
        </p:spPr>
        <p:txBody>
          <a:bodyPr>
            <a:normAutofit/>
          </a:bodyPr>
          <a:lstStyle/>
          <a:p>
            <a:r>
              <a:rPr lang="gu-IN" sz="6000" b="1" dirty="0">
                <a:solidFill>
                  <a:srgbClr val="FF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ફ</a:t>
            </a:r>
            <a:endParaRPr lang="en-GB" sz="6000" b="1" dirty="0">
              <a:solidFill>
                <a:srgbClr val="FF0000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pic>
        <p:nvPicPr>
          <p:cNvPr id="4" name="Picture 3" descr="http://www.bestcoloringpagesforkids.com/wp-content/uploads/2013/06/Fruit-Coloring-Pages-Printable.jpg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340768"/>
            <a:ext cx="4752528" cy="42707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7092280" y="2564904"/>
            <a:ext cx="187583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gu-IN" sz="9600" b="1" dirty="0"/>
              <a:t>ફળ</a:t>
            </a:r>
            <a:endParaRPr lang="en-GB" sz="9600" b="1" dirty="0"/>
          </a:p>
        </p:txBody>
      </p:sp>
      <p:sp>
        <p:nvSpPr>
          <p:cNvPr id="5" name="Rectangle 4"/>
          <p:cNvSpPr/>
          <p:nvPr/>
        </p:nvSpPr>
        <p:spPr>
          <a:xfrm>
            <a:off x="1475656" y="5805264"/>
            <a:ext cx="7200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200" b="1" dirty="0">
                <a:hlinkClick r:id="rId4"/>
              </a:rPr>
              <a:t>http://www.youtube.com/watch?v=EsE0_mvxV2U</a:t>
            </a:r>
            <a:endParaRPr lang="en-GB" sz="2200" b="1" dirty="0"/>
          </a:p>
        </p:txBody>
      </p:sp>
    </p:spTree>
    <p:extLst>
      <p:ext uri="{BB962C8B-B14F-4D97-AF65-F5344CB8AC3E}">
        <p14:creationId xmlns:p14="http://schemas.microsoft.com/office/powerpoint/2010/main" val="3153100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previews.123rf.com/images/nataliahubbert/nataliahubbert1506/nataliahubbert150600114/41659283-Familia-set-1-Foto-de-archiv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692696"/>
            <a:ext cx="5760640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154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473" y="3140968"/>
            <a:ext cx="6589199" cy="1280890"/>
          </a:xfrm>
        </p:spPr>
        <p:txBody>
          <a:bodyPr>
            <a:normAutofit/>
          </a:bodyPr>
          <a:lstStyle/>
          <a:p>
            <a:r>
              <a:rPr lang="en-GB" sz="4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DIWALI</a:t>
            </a:r>
          </a:p>
        </p:txBody>
      </p:sp>
      <p:pic>
        <p:nvPicPr>
          <p:cNvPr id="11" name="Picture 10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6" t="14685" r="5313" b="41958"/>
          <a:stretch/>
        </p:blipFill>
        <p:spPr bwMode="auto">
          <a:xfrm>
            <a:off x="5479245" y="657904"/>
            <a:ext cx="3024336" cy="93404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8" descr="Pictu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5" r="19151" b="9656"/>
          <a:stretch/>
        </p:blipFill>
        <p:spPr bwMode="auto">
          <a:xfrm>
            <a:off x="2123729" y="694311"/>
            <a:ext cx="1944216" cy="1726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angoli acrostic poem printabl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01" t="59997" r="1062" b="8465"/>
          <a:stretch/>
        </p:blipFill>
        <p:spPr bwMode="auto">
          <a:xfrm>
            <a:off x="2261280" y="2780928"/>
            <a:ext cx="1734656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Image result for diwali sweets">
            <a:hlinkClick r:id="rId5" tooltip="Search images of diwali sweets"/>
          </p:cNvPr>
          <p:cNvPicPr/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1" t="-238" r="7142" b="22864"/>
          <a:stretch/>
        </p:blipFill>
        <p:spPr bwMode="auto">
          <a:xfrm>
            <a:off x="2225565" y="4797152"/>
            <a:ext cx="1914387" cy="17281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Picture 15" descr="Rangoli design 11"/>
          <p:cNvPicPr/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1" t="12935" r="6084" b="24743"/>
          <a:stretch/>
        </p:blipFill>
        <p:spPr bwMode="auto">
          <a:xfrm>
            <a:off x="4499992" y="4725144"/>
            <a:ext cx="1944216" cy="1789438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pic>
        <p:nvPicPr>
          <p:cNvPr id="17" name="Picture 16" descr="Firework Rockets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4653136"/>
            <a:ext cx="1728192" cy="1850060"/>
          </a:xfrm>
          <a:prstGeom prst="rect">
            <a:avLst/>
          </a:prstGeom>
          <a:noFill/>
          <a:extLst/>
        </p:spPr>
      </p:pic>
      <p:pic>
        <p:nvPicPr>
          <p:cNvPr id="10" name="emb90CF67DFA" descr="Image result of night time images free">
            <a:hlinkClick r:id="rId10" tooltip="&quot;Search images of night time images free&quot;"/>
          </p:cNvPr>
          <p:cNvPicPr>
            <a:picLocks noGrp="1"/>
          </p:cNvPicPr>
          <p:nvPr>
            <p:ph idx="1"/>
          </p:nvPr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04248" y="2780928"/>
            <a:ext cx="2160240" cy="1728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/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628800"/>
            <a:ext cx="2424454" cy="1584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3871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1.bp.blogspot.com/_XuTQI-8Rm2M/TQnSqiZuZCI/AAAAAAAAFco/VIe5hNERv7I/s1600/Colors+Flashcards+ball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4" b="9185"/>
          <a:stretch/>
        </p:blipFill>
        <p:spPr bwMode="auto">
          <a:xfrm>
            <a:off x="1835696" y="775855"/>
            <a:ext cx="5889879" cy="60533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893756" y="135410"/>
            <a:ext cx="6589200" cy="128089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6000" b="1" dirty="0" smtClean="0">
                <a:solidFill>
                  <a:srgbClr val="FF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  Colours</a:t>
            </a:r>
            <a:endParaRPr lang="en-GB" sz="6000" b="1" dirty="0">
              <a:solidFill>
                <a:srgbClr val="FF0000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56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bestcoloringpagesforkids.com/wp-content/uploads/2013/06/Fruit-Coloring-Pages-Printable.jpg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439" y="692696"/>
            <a:ext cx="6163945" cy="5229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930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ttp://www.coloringlab.com/images/coloring-pages-for-kids-to-print/coloring-pages-for-kids-to-print-4.jpg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834" y="1700808"/>
            <a:ext cx="5803518" cy="331236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u-IN" sz="7200" dirty="0">
                <a:solidFill>
                  <a:srgbClr val="FF0000"/>
                </a:solidFill>
              </a:rPr>
              <a:t>કાચબો</a:t>
            </a:r>
            <a:endParaRPr lang="en-GB" sz="7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734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72200" y="1268760"/>
            <a:ext cx="231345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gu-IN" sz="7200" dirty="0">
                <a:solidFill>
                  <a:srgbClr val="FF0000"/>
                </a:solidFill>
              </a:rPr>
              <a:t>સસલું</a:t>
            </a:r>
            <a:endParaRPr lang="en-GB" sz="7200" dirty="0">
              <a:solidFill>
                <a:srgbClr val="FF0000"/>
              </a:solidFill>
            </a:endParaRPr>
          </a:p>
        </p:txBody>
      </p:sp>
      <p:pic>
        <p:nvPicPr>
          <p:cNvPr id="2050" name="Picture 2" descr="http://azcoloring.com/coloring/8ix/5nK/8ix5nKBi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913" y="476672"/>
            <a:ext cx="4508500" cy="6013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838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6016" y="2204864"/>
            <a:ext cx="1296144" cy="1800200"/>
          </a:xfrm>
        </p:spPr>
        <p:txBody>
          <a:bodyPr>
            <a:noAutofit/>
          </a:bodyPr>
          <a:lstStyle/>
          <a:p>
            <a:r>
              <a:rPr lang="gu-IN" sz="10000" dirty="0">
                <a:solidFill>
                  <a:srgbClr val="FF0000"/>
                </a:solidFill>
              </a:rPr>
              <a:t>ક</a:t>
            </a:r>
            <a:endParaRPr lang="en-GB" sz="10000" dirty="0">
              <a:solidFill>
                <a:srgbClr val="FF0000"/>
              </a:solidFill>
            </a:endParaRPr>
          </a:p>
        </p:txBody>
      </p:sp>
      <p:pic>
        <p:nvPicPr>
          <p:cNvPr id="4" name="Content Placeholder 3" descr="https://www.bing.com/th?id=OIP.M323369391c3b7be7f0774237fc49cce2H0&amp;pid=3.1&amp;cb=&amp;w=300&amp;h=300&amp;p=0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15721"/>
            <a:ext cx="2448272" cy="189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Pen and Paper">
            <a:hlinkClick r:id="rId3" tooltip="&quot;Pen and Paper&quot;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383" y="271558"/>
            <a:ext cx="2749049" cy="1728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https://www.bing.com/th?id=OIP.M7625fe307d437ce6f84d7aef8a7dfdaeH0&amp;pid=3.1&amp;cb=&amp;w=300&amp;h=300&amp;p=0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580" y="2204864"/>
            <a:ext cx="2730372" cy="2232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emb80051EDDA" descr="Image result for crow images clip art">
            <a:hlinkClick r:id="rId6" tooltip="&quot;Search images of crow images clip art&quot;"/>
          </p:cNvPr>
          <p:cNvPicPr/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558" y="4365104"/>
            <a:ext cx="2088232" cy="2045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emb80A2CF159" descr="Image result for scissors images clipart">
            <a:hlinkClick r:id="rId9" tooltip="&quot;Search images of scissors images clipart&quot;"/>
          </p:cNvPr>
          <p:cNvPicPr/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90" y="2421822"/>
            <a:ext cx="1924642" cy="165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https://www.bing.com/th?id=OIP.Mbb24dc5fc7861dce2007571c4991a8c2o0&amp;pid=3.1&amp;cb=&amp;w=300&amp;h=300&amp;p=0"/>
          <p:cNvPicPr/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519" y="4869160"/>
            <a:ext cx="2037393" cy="1656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https://www.bing.com/th?id=OIP.M5f404d23ea3d39d1a9bbed87efd2a4f0H0&amp;pid=3.1&amp;cb=&amp;w=300&amp;h=300&amp;p=0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365104"/>
            <a:ext cx="1741048" cy="21328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165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AppData\Local\Microsoft\Windows\INetCache\IE\7225MZ2Q\tap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620688"/>
            <a:ext cx="2554584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:\Users\User\AppData\Local\Microsoft\Windows\INetCache\IE\CGF0NG7P\Silent-Prayer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349904" y="1207196"/>
            <a:ext cx="2182535" cy="193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 descr="C:\Users\User\AppData\Local\Microsoft\Windows\INetCache\IE\HJP3Q8DI\Care-for-Your-Nose-Piercing-Step-9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646" y="4509120"/>
            <a:ext cx="2019487" cy="163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:\Users\User\AppData\Local\Microsoft\Windows\INetCache\IE\CGF0NG7P\nail-moon[1]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820" y="3794503"/>
            <a:ext cx="2016224" cy="246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167528" y="1207196"/>
            <a:ext cx="19775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gu-IN" sz="10000" b="1" dirty="0">
                <a:solidFill>
                  <a:srgbClr val="FF0000"/>
                </a:solidFill>
              </a:rPr>
              <a:t>ન</a:t>
            </a:r>
            <a:endParaRPr lang="en-GB" sz="10000" b="1" dirty="0">
              <a:solidFill>
                <a:srgbClr val="FF0000"/>
              </a:solidFill>
            </a:endParaRPr>
          </a:p>
        </p:txBody>
      </p:sp>
      <p:pic>
        <p:nvPicPr>
          <p:cNvPr id="6146" name="Picture 2" descr="http://us.123rf.com/450wm/flint01/flint011607/flint01160700009/60218029-grandfather-hugging-her-cute-granddaughter-isolated-on-white-background.jpg?ver=6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195" y="3711368"/>
            <a:ext cx="2545432" cy="254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315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AppData\Local\Microsoft\Windows\INetCache\IE\CGF0NG7P\alligator-clip-art-322641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806" y="2210746"/>
            <a:ext cx="1559712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User\AppData\Local\Microsoft\Windows\INetCache\IE\7225MZ2Q\3279170336_588e2aeab2_z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1031437"/>
            <a:ext cx="3129139" cy="2346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User\AppData\Local\Microsoft\Windows\INetCache\IE\CGF0NG7P\mumanddaughter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580" y="3721451"/>
            <a:ext cx="2144679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7" name="Picture 5" descr="C:\Users\User\AppData\Local\Microsoft\Windows\INetCache\IE\HJP3Q8DI\large-Happy-fish-0-9684[1]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03008" y="4346435"/>
            <a:ext cx="2736304" cy="175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User\AppData\Local\Microsoft\Windows\INetCache\IE\7225MZ2Q\4002891340_5d7152068e_z[1]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151" y="476672"/>
            <a:ext cx="2112234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142591" y="2566501"/>
            <a:ext cx="136815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gu-IN" sz="10000" b="1" dirty="0">
                <a:solidFill>
                  <a:srgbClr val="FF0000"/>
                </a:solidFill>
              </a:rPr>
              <a:t>મ</a:t>
            </a:r>
            <a:endParaRPr lang="en-GB" sz="100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User\AppData\Local\Microsoft\Windows\INetCache\IE\7FCX43J3\111485189[1]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64"/>
          <a:stretch/>
        </p:blipFill>
        <p:spPr bwMode="auto">
          <a:xfrm>
            <a:off x="4832594" y="4425802"/>
            <a:ext cx="1639051" cy="1432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280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570239"/>
            <a:ext cx="2376264" cy="1280890"/>
          </a:xfrm>
        </p:spPr>
        <p:txBody>
          <a:bodyPr>
            <a:noAutofit/>
          </a:bodyPr>
          <a:lstStyle/>
          <a:p>
            <a:pPr algn="ctr"/>
            <a:r>
              <a:rPr lang="gu-IN" sz="10000" b="1" dirty="0">
                <a:solidFill>
                  <a:srgbClr val="FF0000"/>
                </a:solidFill>
                <a:latin typeface="Shruti" panose="020B0502040204020203" pitchFamily="34" charset="0"/>
                <a:cs typeface="Shruti" panose="020B0502040204020203" pitchFamily="34" charset="0"/>
              </a:rPr>
              <a:t>ળ</a:t>
            </a:r>
            <a:endParaRPr lang="en-GB" sz="10000" b="1" dirty="0">
              <a:solidFill>
                <a:srgbClr val="FF0000"/>
              </a:solidFill>
              <a:latin typeface="Shruti" panose="020B0502040204020203" pitchFamily="34" charset="0"/>
              <a:cs typeface="Shruti" panose="020B0502040204020203" pitchFamily="34" charset="0"/>
            </a:endParaRPr>
          </a:p>
        </p:txBody>
      </p:sp>
      <p:pic>
        <p:nvPicPr>
          <p:cNvPr id="4098" name="Picture 2" descr="C:\Users\User\AppData\Local\Microsoft\Windows\INetCache\IE\7225MZ2Q\tap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829513"/>
            <a:ext cx="3996520" cy="439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580112" y="2564904"/>
            <a:ext cx="339479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gu-IN" sz="10000" b="1" dirty="0"/>
              <a:t>ન​ળ</a:t>
            </a:r>
            <a:endParaRPr lang="en-GB" sz="10000" b="1" dirty="0"/>
          </a:p>
        </p:txBody>
      </p:sp>
    </p:spTree>
    <p:extLst>
      <p:ext uri="{BB962C8B-B14F-4D97-AF65-F5344CB8AC3E}">
        <p14:creationId xmlns:p14="http://schemas.microsoft.com/office/powerpoint/2010/main" val="893742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11960" y="476672"/>
            <a:ext cx="1237839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gu-IN" sz="10000" b="1" dirty="0">
                <a:solidFill>
                  <a:srgbClr val="FF0000"/>
                </a:solidFill>
              </a:rPr>
              <a:t>ન</a:t>
            </a:r>
            <a:r>
              <a:rPr lang="gu-IN" dirty="0"/>
              <a:t> </a:t>
            </a:r>
            <a:endParaRPr lang="en-GB" dirty="0"/>
          </a:p>
        </p:txBody>
      </p:sp>
      <p:pic>
        <p:nvPicPr>
          <p:cNvPr id="3074" name="Picture 2" descr="C:\Users\User\AppData\Local\Microsoft\Windows\INetCache\IE\CGF0NG7P\Silent-Prayer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107888"/>
            <a:ext cx="3384376" cy="3142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24128" y="3244334"/>
            <a:ext cx="259228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gu-IN" sz="10000" dirty="0" smtClean="0"/>
              <a:t>નમ</a:t>
            </a:r>
            <a:endParaRPr lang="en-GB" sz="10000" dirty="0"/>
          </a:p>
        </p:txBody>
      </p:sp>
    </p:spTree>
    <p:extLst>
      <p:ext uri="{BB962C8B-B14F-4D97-AF65-F5344CB8AC3E}">
        <p14:creationId xmlns:p14="http://schemas.microsoft.com/office/powerpoint/2010/main" val="570347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194302" y="548680"/>
            <a:ext cx="915635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gu-IN" sz="10000" b="1" dirty="0">
                <a:solidFill>
                  <a:srgbClr val="FF0000"/>
                </a:solidFill>
              </a:rPr>
              <a:t>ર</a:t>
            </a:r>
            <a:endParaRPr lang="en-GB" sz="100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228184" y="2499068"/>
            <a:ext cx="244827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gu-IN" sz="10000" b="1" dirty="0"/>
              <a:t>રમ</a:t>
            </a:r>
            <a:endParaRPr lang="en-GB" sz="10000" b="1" dirty="0"/>
          </a:p>
        </p:txBody>
      </p:sp>
      <p:pic>
        <p:nvPicPr>
          <p:cNvPr id="3074" name="Picture 2" descr="https://images.designtrends.com/wp-content/uploads/2016/03/04140002/Boys-Playing-Football-Clipar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51" r="16455"/>
          <a:stretch/>
        </p:blipFill>
        <p:spPr bwMode="auto">
          <a:xfrm>
            <a:off x="1648712" y="1988840"/>
            <a:ext cx="4634281" cy="452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8437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i.ytimg.com/vi/TrYfsj_Cw84/hqdefault.jp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3" y="692696"/>
            <a:ext cx="7008779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401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6644578"/>
              </p:ext>
            </p:extLst>
          </p:nvPr>
        </p:nvGraphicFramePr>
        <p:xfrm>
          <a:off x="2051722" y="1916832"/>
          <a:ext cx="6435718" cy="43924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0923"/>
                <a:gridCol w="780923"/>
                <a:gridCol w="608730"/>
                <a:gridCol w="608730"/>
                <a:gridCol w="609402"/>
                <a:gridCol w="609402"/>
                <a:gridCol w="609402"/>
                <a:gridCol w="609402"/>
                <a:gridCol w="609402"/>
                <a:gridCol w="609402"/>
              </a:tblGrid>
              <a:tr h="1393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7200" dirty="0">
                          <a:effectLst/>
                        </a:rPr>
                        <a:t>૧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7200">
                          <a:effectLst/>
                        </a:rPr>
                        <a:t>૧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1393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7200">
                          <a:effectLst/>
                        </a:rPr>
                        <a:t>૧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13932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7200">
                          <a:effectLst/>
                        </a:rPr>
                        <a:t>૧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212852">
                <a:tc gridSpan="10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56" y="291517"/>
            <a:ext cx="1817402" cy="140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143" y="233039"/>
            <a:ext cx="1462833" cy="146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4684057" y="291517"/>
            <a:ext cx="1421467" cy="143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1" y="291516"/>
            <a:ext cx="1935081" cy="129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33525" y="6911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532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523791"/>
              </p:ext>
            </p:extLst>
          </p:nvPr>
        </p:nvGraphicFramePr>
        <p:xfrm>
          <a:off x="1907704" y="1695871"/>
          <a:ext cx="6192690" cy="35684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1433"/>
                <a:gridCol w="751433"/>
                <a:gridCol w="585742"/>
                <a:gridCol w="585742"/>
                <a:gridCol w="586390"/>
                <a:gridCol w="586390"/>
                <a:gridCol w="586390"/>
                <a:gridCol w="586390"/>
                <a:gridCol w="586390"/>
                <a:gridCol w="586390"/>
              </a:tblGrid>
              <a:tr h="11209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૨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૨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r>
                        <a:rPr lang="gu-IN" sz="1100" dirty="0" smtClean="0">
                          <a:effectLst/>
                        </a:rPr>
                        <a:t>૨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11209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૨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11209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૨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205511">
                <a:tc gridSpan="10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221" y="232522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7" y="260648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146968" y="5330622"/>
            <a:ext cx="1350235" cy="136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491" y="5527333"/>
            <a:ext cx="1746618" cy="116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33525" y="6911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321" y="260648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898221" y="5384459"/>
            <a:ext cx="1243424" cy="125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94" y="5487308"/>
            <a:ext cx="1806656" cy="1204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0197" y="182277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011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068031"/>
              </p:ext>
            </p:extLst>
          </p:nvPr>
        </p:nvGraphicFramePr>
        <p:xfrm>
          <a:off x="1835697" y="1628801"/>
          <a:ext cx="6471309" cy="37527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91972"/>
                <a:gridCol w="791972"/>
                <a:gridCol w="617342"/>
                <a:gridCol w="617342"/>
                <a:gridCol w="618025"/>
                <a:gridCol w="618025"/>
                <a:gridCol w="618025"/>
                <a:gridCol w="618025"/>
                <a:gridCol w="618025"/>
                <a:gridCol w="562556"/>
              </a:tblGrid>
              <a:tr h="11788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૩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૩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11788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૩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11788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૩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216129">
                <a:tc gridSpan="10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44" y="260648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557" y="184447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697436" y="5415174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4419" y="5569296"/>
            <a:ext cx="1571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33525" y="6911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408" y="260647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453058" y="5415174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089" y="5579979"/>
            <a:ext cx="1571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028" y="222547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645" y="260648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2170" y="184446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940708" y="5381594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0220" y="5569296"/>
            <a:ext cx="1571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406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13250"/>
              </p:ext>
            </p:extLst>
          </p:nvPr>
        </p:nvGraphicFramePr>
        <p:xfrm>
          <a:off x="1344984" y="1916833"/>
          <a:ext cx="6184190" cy="35909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0402"/>
                <a:gridCol w="750402"/>
                <a:gridCol w="584938"/>
                <a:gridCol w="584938"/>
                <a:gridCol w="585585"/>
                <a:gridCol w="585585"/>
                <a:gridCol w="585585"/>
                <a:gridCol w="585585"/>
                <a:gridCol w="585585"/>
                <a:gridCol w="585585"/>
              </a:tblGrid>
              <a:tr h="11280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Shruti" panose="020B0502040204020203" pitchFamily="34" charset="0"/>
                          <a:ea typeface="Calibri"/>
                          <a:cs typeface="Shruti" panose="020B0502040204020203" pitchFamily="34" charset="0"/>
                        </a:rPr>
                        <a:t>૪</a:t>
                      </a:r>
                      <a:endParaRPr lang="en-GB" sz="6000" dirty="0">
                        <a:effectLst/>
                        <a:latin typeface="Shruti" panose="020B0502040204020203" pitchFamily="34" charset="0"/>
                        <a:ea typeface="Calibri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Shruti" panose="020B0502040204020203" pitchFamily="34" charset="0"/>
                          <a:ea typeface="Calibri"/>
                          <a:cs typeface="Shruti" panose="020B0502040204020203" pitchFamily="34" charset="0"/>
                        </a:rPr>
                        <a:t>૪</a:t>
                      </a:r>
                      <a:endParaRPr lang="en-GB" sz="6000" dirty="0">
                        <a:effectLst/>
                        <a:latin typeface="Shruti" panose="020B0502040204020203" pitchFamily="34" charset="0"/>
                        <a:ea typeface="Calibri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11280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Shruti" panose="020B0502040204020203" pitchFamily="34" charset="0"/>
                          <a:ea typeface="Calibri"/>
                          <a:cs typeface="Shruti" panose="020B0502040204020203" pitchFamily="34" charset="0"/>
                        </a:rPr>
                        <a:t>૪</a:t>
                      </a:r>
                      <a:endParaRPr lang="en-GB" sz="6000" dirty="0">
                        <a:effectLst/>
                        <a:latin typeface="Shruti" panose="020B0502040204020203" pitchFamily="34" charset="0"/>
                        <a:ea typeface="Calibri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11280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Shruti" panose="020B0502040204020203" pitchFamily="34" charset="0"/>
                          <a:ea typeface="Calibri"/>
                          <a:cs typeface="Shruti" panose="020B0502040204020203" pitchFamily="34" charset="0"/>
                        </a:rPr>
                        <a:t>૪</a:t>
                      </a:r>
                      <a:endParaRPr lang="en-GB" sz="6000" dirty="0">
                        <a:effectLst/>
                        <a:latin typeface="Shruti" panose="020B0502040204020203" pitchFamily="34" charset="0"/>
                        <a:ea typeface="Calibri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206807">
                <a:tc gridSpan="10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77" y="361192"/>
            <a:ext cx="1727234" cy="133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257" y="1667832"/>
            <a:ext cx="1358947" cy="135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64998" y="3107457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5621120"/>
            <a:ext cx="1571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33525" y="6911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455" y="361192"/>
            <a:ext cx="1727234" cy="1334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63885" y="1916832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579979"/>
            <a:ext cx="1571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090" y="3026779"/>
            <a:ext cx="1410910" cy="141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3997" y="361192"/>
            <a:ext cx="1748209" cy="135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524" y="361193"/>
            <a:ext cx="1334680" cy="133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12827" y="4378671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5579979"/>
            <a:ext cx="1571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647" y="361192"/>
            <a:ext cx="1776412" cy="137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090" y="4298082"/>
            <a:ext cx="1410910" cy="1410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12827" y="5569295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 descr="orange-871282749123hSB3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512" y="5579979"/>
            <a:ext cx="1571625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616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706439"/>
              </p:ext>
            </p:extLst>
          </p:nvPr>
        </p:nvGraphicFramePr>
        <p:xfrm>
          <a:off x="1534160" y="1873980"/>
          <a:ext cx="6075680" cy="33474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7235"/>
                <a:gridCol w="737235"/>
                <a:gridCol w="574675"/>
                <a:gridCol w="574675"/>
                <a:gridCol w="575310"/>
                <a:gridCol w="575310"/>
                <a:gridCol w="575310"/>
                <a:gridCol w="575310"/>
                <a:gridCol w="575310"/>
                <a:gridCol w="575310"/>
              </a:tblGrid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Shruti" panose="020B0502040204020203" pitchFamily="34" charset="0"/>
                          <a:ea typeface="Calibri"/>
                          <a:cs typeface="Shruti" panose="020B0502040204020203" pitchFamily="34" charset="0"/>
                        </a:rPr>
                        <a:t>૫</a:t>
                      </a:r>
                      <a:endParaRPr lang="en-GB" sz="6000" dirty="0">
                        <a:effectLst/>
                        <a:latin typeface="Shruti" panose="020B0502040204020203" pitchFamily="34" charset="0"/>
                        <a:ea typeface="Calibri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Shruti" panose="020B0502040204020203" pitchFamily="34" charset="0"/>
                          <a:ea typeface="Calibri"/>
                          <a:cs typeface="Shruti" panose="020B0502040204020203" pitchFamily="34" charset="0"/>
                        </a:rPr>
                        <a:t>૫</a:t>
                      </a:r>
                      <a:endParaRPr lang="en-GB" sz="6000" dirty="0">
                        <a:effectLst/>
                        <a:latin typeface="Shruti" panose="020B0502040204020203" pitchFamily="34" charset="0"/>
                        <a:ea typeface="Calibri"/>
                        <a:cs typeface="Shruti" panose="020B0502040204020203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3321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૫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gu-IN" sz="6000" dirty="0" smtClean="0">
                          <a:effectLst/>
                          <a:latin typeface="+mn-lt"/>
                          <a:ea typeface="Calibri"/>
                          <a:cs typeface="+mn-cs"/>
                        </a:rPr>
                        <a:t>૫</a:t>
                      </a:r>
                      <a:endParaRPr lang="en-GB" sz="60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 </a:t>
                      </a:r>
                      <a:endParaRPr lang="en-GB" sz="110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</a:tr>
              <a:tr h="43180">
                <a:tc gridSpan="10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effectLst/>
                        </a:rPr>
                        <a:t> </a:t>
                      </a:r>
                      <a:endParaRPr lang="en-GB" sz="1100" dirty="0">
                        <a:effectLst/>
                        <a:latin typeface="Calibri"/>
                        <a:ea typeface="Calibri"/>
                        <a:cs typeface="Shruti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29" y="260648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565" y="2095984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51330" y="2825212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1533525" y="6911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057" y="260647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211966" y="1510196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3" descr="orange-871282749123hSB3[1]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1" r="18502"/>
          <a:stretch/>
        </p:blipFill>
        <p:spPr bwMode="auto">
          <a:xfrm>
            <a:off x="2592501" y="5524554"/>
            <a:ext cx="1103086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4622" y="3233302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413" y="260646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8449" y="1032154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95717" y="4048249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547" y="260645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352" y="4415185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51331" y="5478245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" descr="loto-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225" y="260648"/>
            <a:ext cx="1466850" cy="113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5" descr="f5c0ef4f-1df2-4529-93ac-33115db28adc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H="1" flipV="1">
            <a:off x="1376817" y="5478244"/>
            <a:ext cx="118110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3" descr="orange-871282749123hSB3[1]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1" r="18502"/>
          <a:stretch/>
        </p:blipFill>
        <p:spPr bwMode="auto">
          <a:xfrm>
            <a:off x="3857622" y="5577368"/>
            <a:ext cx="1103086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3" descr="orange-871282749123hSB3[1]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1" r="18502"/>
          <a:stretch/>
        </p:blipFill>
        <p:spPr bwMode="auto">
          <a:xfrm>
            <a:off x="5101429" y="5549681"/>
            <a:ext cx="1103086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3" descr="orange-871282749123hSB3[1]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1" r="18502"/>
          <a:stretch/>
        </p:blipFill>
        <p:spPr bwMode="auto">
          <a:xfrm>
            <a:off x="6242723" y="5512609"/>
            <a:ext cx="1103086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3" descr="orange-871282749123hSB3[1]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1" r="18502"/>
          <a:stretch/>
        </p:blipFill>
        <p:spPr bwMode="auto">
          <a:xfrm>
            <a:off x="7443392" y="5549681"/>
            <a:ext cx="1103086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4" descr="Red_apple.svg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7738" y="0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8165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450524" y="2636912"/>
            <a:ext cx="2993684" cy="16561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600" b="1" dirty="0"/>
              <a:t>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6640" y="908720"/>
            <a:ext cx="2077527" cy="8113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Flashcards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16216" y="1484784"/>
            <a:ext cx="2160240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Create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0232" y="2780928"/>
            <a:ext cx="2016224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Stories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660232" y="4077072"/>
            <a:ext cx="1872208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Games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38854" y="5157192"/>
            <a:ext cx="2093585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39952" y="5157192"/>
            <a:ext cx="1944216" cy="8640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Internet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7624" y="5049180"/>
            <a:ext cx="2592288" cy="9721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Clipart/Images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7624" y="4077072"/>
            <a:ext cx="2088232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Worksheets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1600" y="2780928"/>
            <a:ext cx="2304256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White Boards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5656" y="1484784"/>
            <a:ext cx="2232248" cy="93610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500" b="1" dirty="0">
                <a:solidFill>
                  <a:srgbClr val="0000CC"/>
                </a:solidFill>
              </a:rPr>
              <a:t>CDs/Videos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4932040" y="1700808"/>
            <a:ext cx="10705" cy="10081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4932040" y="4149080"/>
            <a:ext cx="10705" cy="10081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6" idx="1"/>
          </p:cNvCxnSpPr>
          <p:nvPr/>
        </p:nvCxnSpPr>
        <p:spPr>
          <a:xfrm flipV="1">
            <a:off x="5641415" y="1844824"/>
            <a:ext cx="874801" cy="9361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8" idx="1"/>
          </p:cNvCxnSpPr>
          <p:nvPr/>
        </p:nvCxnSpPr>
        <p:spPr>
          <a:xfrm>
            <a:off x="5826787" y="4163474"/>
            <a:ext cx="833445" cy="20163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244254" y="4293096"/>
            <a:ext cx="1600917" cy="8640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7" idx="1"/>
          </p:cNvCxnSpPr>
          <p:nvPr/>
        </p:nvCxnSpPr>
        <p:spPr>
          <a:xfrm>
            <a:off x="6217479" y="3068960"/>
            <a:ext cx="442753" cy="7200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>
            <a:off x="3424514" y="4163474"/>
            <a:ext cx="715438" cy="91018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endCxn id="13" idx="3"/>
          </p:cNvCxnSpPr>
          <p:nvPr/>
        </p:nvCxnSpPr>
        <p:spPr>
          <a:xfrm flipH="1" flipV="1">
            <a:off x="3275856" y="3140968"/>
            <a:ext cx="349336" cy="8039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3563888" y="2420888"/>
            <a:ext cx="576064" cy="4320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2" idx="3"/>
          </p:cNvCxnSpPr>
          <p:nvPr/>
        </p:nvCxnSpPr>
        <p:spPr>
          <a:xfrm flipH="1">
            <a:off x="3275856" y="3861048"/>
            <a:ext cx="432048" cy="5040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485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5" y="624110"/>
            <a:ext cx="6626696" cy="932682"/>
          </a:xfrm>
        </p:spPr>
        <p:txBody>
          <a:bodyPr>
            <a:normAutofit/>
          </a:bodyPr>
          <a:lstStyle/>
          <a:p>
            <a:r>
              <a:rPr lang="en-GB" sz="40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Lesson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697" y="1700808"/>
            <a:ext cx="6698704" cy="4464496"/>
          </a:xfrm>
        </p:spPr>
        <p:txBody>
          <a:bodyPr>
            <a:normAutofit/>
          </a:bodyPr>
          <a:lstStyle/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100" b="1" dirty="0">
                <a:solidFill>
                  <a:schemeClr val="tx1"/>
                </a:solidFill>
                <a:latin typeface="+mj-lt"/>
              </a:rPr>
              <a:t>Number of students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100" b="1" dirty="0">
                <a:solidFill>
                  <a:schemeClr val="tx1"/>
                </a:solidFill>
                <a:latin typeface="+mj-lt"/>
              </a:rPr>
              <a:t>Helper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100" b="1" dirty="0">
                <a:solidFill>
                  <a:schemeClr val="tx1"/>
                </a:solidFill>
                <a:latin typeface="+mj-lt"/>
              </a:rPr>
              <a:t>Age group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100" b="1" dirty="0">
                <a:solidFill>
                  <a:schemeClr val="tx1"/>
                </a:solidFill>
                <a:latin typeface="+mj-lt"/>
              </a:rPr>
              <a:t>New words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100" b="1" dirty="0">
                <a:solidFill>
                  <a:schemeClr val="tx1"/>
                </a:solidFill>
                <a:latin typeface="+mj-lt"/>
              </a:rPr>
              <a:t>Re-</a:t>
            </a:r>
            <a:r>
              <a:rPr lang="en-GB" sz="3100" b="1" dirty="0" err="1">
                <a:solidFill>
                  <a:schemeClr val="tx1"/>
                </a:solidFill>
                <a:latin typeface="+mj-lt"/>
              </a:rPr>
              <a:t>inforce</a:t>
            </a:r>
            <a:endParaRPr lang="en-GB" sz="3100" b="1" dirty="0">
              <a:solidFill>
                <a:schemeClr val="tx1"/>
              </a:solidFill>
              <a:latin typeface="+mj-lt"/>
            </a:endParaRP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100" b="1" dirty="0">
                <a:solidFill>
                  <a:schemeClr val="tx1"/>
                </a:solidFill>
                <a:latin typeface="+mj-lt"/>
              </a:rPr>
              <a:t>Variation</a:t>
            </a:r>
          </a:p>
          <a:p>
            <a:pPr marL="625475" indent="-625475">
              <a:buFont typeface="Wingdings" panose="05000000000000000000" pitchFamily="2" charset="2"/>
              <a:buChar char="Ø"/>
            </a:pPr>
            <a:r>
              <a:rPr lang="en-GB" sz="3100" b="1" dirty="0">
                <a:solidFill>
                  <a:schemeClr val="tx1"/>
                </a:solidFill>
                <a:latin typeface="+mj-lt"/>
              </a:rPr>
              <a:t>Different </a:t>
            </a:r>
            <a:r>
              <a:rPr lang="en-GB" sz="3100" b="1" dirty="0" smtClean="0">
                <a:solidFill>
                  <a:schemeClr val="tx1"/>
                </a:solidFill>
                <a:latin typeface="+mj-lt"/>
              </a:rPr>
              <a:t>resources</a:t>
            </a:r>
            <a:endParaRPr lang="en-GB" sz="31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3152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620688"/>
            <a:ext cx="6589199" cy="1280890"/>
          </a:xfrm>
        </p:spPr>
        <p:txBody>
          <a:bodyPr>
            <a:noAutofit/>
          </a:bodyPr>
          <a:lstStyle/>
          <a:p>
            <a:r>
              <a:rPr lang="en-GB" sz="40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Are the Resources Accurate and Precise?</a:t>
            </a:r>
          </a:p>
        </p:txBody>
      </p:sp>
      <p:pic>
        <p:nvPicPr>
          <p:cNvPr id="5" name="Content Placeholder 3" descr="Image result for gujarati activity pictures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55776" y="2420888"/>
            <a:ext cx="4032448" cy="34273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39374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5696" y="476672"/>
            <a:ext cx="6805223" cy="1728192"/>
          </a:xfrm>
        </p:spPr>
        <p:txBody>
          <a:bodyPr>
            <a:normAutofit fontScale="90000"/>
          </a:bodyPr>
          <a:lstStyle/>
          <a:p>
            <a:r>
              <a:rPr lang="en-GB" sz="34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Successful early learning occurs when both</a:t>
            </a:r>
            <a:r>
              <a:rPr lang="en-GB" sz="3700" b="1" dirty="0">
                <a:ln w="0"/>
                <a:solidFill>
                  <a:srgbClr val="B20E8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GB" sz="3700" b="1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teachers</a:t>
            </a:r>
            <a:r>
              <a:rPr lang="en-GB" sz="3700" b="1" dirty="0">
                <a:ln w="0"/>
                <a:solidFill>
                  <a:srgbClr val="B20E8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GB" sz="34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and </a:t>
            </a:r>
            <a:r>
              <a:rPr lang="en-GB" sz="3400" b="1" dirty="0">
                <a:ln w="0"/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children</a:t>
            </a:r>
            <a:r>
              <a:rPr lang="en-GB" sz="34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are actively engaged!</a:t>
            </a:r>
          </a:p>
        </p:txBody>
      </p:sp>
      <p:pic>
        <p:nvPicPr>
          <p:cNvPr id="5122" name="Picture 2" descr="http://school.discoveryeducation.com/clipart/images/reading-teacher-color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159822"/>
            <a:ext cx="3960440" cy="4437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39722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701</TotalTime>
  <Words>317</Words>
  <Application>Microsoft Office PowerPoint</Application>
  <PresentationFormat>On-screen Show (4:3)</PresentationFormat>
  <Paragraphs>257</Paragraphs>
  <Slides>32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Wisp</vt:lpstr>
      <vt:lpstr>Training to Primary Level Teachers of Gujarati</vt:lpstr>
      <vt:lpstr>Session 1 Training 4 to 6 year olds</vt:lpstr>
      <vt:lpstr>PowerPoint Presentation</vt:lpstr>
      <vt:lpstr>PowerPoint Presentation</vt:lpstr>
      <vt:lpstr>Action Songs</vt:lpstr>
      <vt:lpstr>Teaching Parts of the Body</vt:lpstr>
      <vt:lpstr>Gujarati Teaching Skills</vt:lpstr>
      <vt:lpstr>What Should be Taught?</vt:lpstr>
      <vt:lpstr>PowerPoint Presentation</vt:lpstr>
      <vt:lpstr>ફ</vt:lpstr>
      <vt:lpstr>PowerPoint Presentation</vt:lpstr>
      <vt:lpstr>DIWALI</vt:lpstr>
      <vt:lpstr>PowerPoint Presentation</vt:lpstr>
      <vt:lpstr>PowerPoint Presentation</vt:lpstr>
      <vt:lpstr>કાચબો</vt:lpstr>
      <vt:lpstr>PowerPoint Presentation</vt:lpstr>
      <vt:lpstr>ક</vt:lpstr>
      <vt:lpstr>PowerPoint Presentation</vt:lpstr>
      <vt:lpstr>PowerPoint Presentation</vt:lpstr>
      <vt:lpstr>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Lesson Planning</vt:lpstr>
      <vt:lpstr>Are the Resources Accurate and Precise?</vt:lpstr>
      <vt:lpstr>Successful early learning occurs when both teachers and children are actively engaged!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Resources</dc:title>
  <dc:creator>rekha</dc:creator>
  <cp:lastModifiedBy>rekha</cp:lastModifiedBy>
  <cp:revision>74</cp:revision>
  <cp:lastPrinted>2016-11-08T22:12:36Z</cp:lastPrinted>
  <dcterms:created xsi:type="dcterms:W3CDTF">2016-10-05T23:10:08Z</dcterms:created>
  <dcterms:modified xsi:type="dcterms:W3CDTF">2016-11-10T10:48:46Z</dcterms:modified>
</cp:coreProperties>
</file>