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4" r:id="rId3"/>
    <p:sldId id="265" r:id="rId4"/>
    <p:sldId id="266" r:id="rId5"/>
    <p:sldId id="260" r:id="rId6"/>
    <p:sldId id="259" r:id="rId7"/>
    <p:sldId id="257" r:id="rId8"/>
    <p:sldId id="258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61" r:id="rId22"/>
    <p:sldId id="262" r:id="rId23"/>
    <p:sldId id="267" r:id="rId24"/>
    <p:sldId id="263" r:id="rId25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BC6FE-9E88-4201-B6D4-74CD0CC5537C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0BABB-1A18-4BD8-A156-6715B7B4A2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228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9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07260-CBD5-4176-99A9-1075BFD9A502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1" y="4714876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9" y="9428164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46416-80FE-44B6-A0F4-20438F023E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93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6416-80FE-44B6-A0F4-20438F023EEA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466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9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62985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10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07081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11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65955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12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64150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13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92631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14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02930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15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80440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16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75854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17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8847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18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14211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19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28183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1152" indent="-30813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2543" indent="-24650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25559" indent="-24650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18576" indent="-24650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1159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04609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697627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190643" indent="-2465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20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22824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5E40E57-8E75-4E7B-BD6B-382935DFAD2E}" type="datetimeFigureOut">
              <a:rPr lang="en-GB" smtClean="0"/>
              <a:t>31/08/2017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0094F54-6F8E-4EA5-A14E-3FAA1B6B4251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608" y="404664"/>
            <a:ext cx="7848872" cy="475252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b="1" dirty="0" smtClean="0">
                <a:solidFill>
                  <a:srgbClr val="C00000"/>
                </a:solidFill>
              </a:rPr>
              <a:t>Consortium of Gujarati Schools</a:t>
            </a:r>
            <a:br>
              <a:rPr lang="en-GB" b="1" dirty="0" smtClean="0">
                <a:solidFill>
                  <a:srgbClr val="C00000"/>
                </a:solidFill>
              </a:rPr>
            </a:br>
            <a:r>
              <a:rPr lang="en-GB" b="1" dirty="0" smtClean="0">
                <a:solidFill>
                  <a:srgbClr val="C00000"/>
                </a:solidFill>
              </a:rPr>
              <a:t/>
            </a:r>
            <a:br>
              <a:rPr lang="en-GB" b="1" dirty="0" smtClean="0">
                <a:solidFill>
                  <a:srgbClr val="C00000"/>
                </a:solidFill>
              </a:rPr>
            </a:br>
            <a:r>
              <a:rPr lang="en-GB" sz="4000" dirty="0" smtClean="0">
                <a:solidFill>
                  <a:srgbClr val="C00000"/>
                </a:solidFill>
              </a:rPr>
              <a:t>Meeting of Heads and Co-ordinators</a:t>
            </a:r>
            <a:br>
              <a:rPr lang="en-GB" sz="4000" dirty="0" smtClean="0">
                <a:solidFill>
                  <a:srgbClr val="C00000"/>
                </a:solidFill>
              </a:rPr>
            </a:br>
            <a:r>
              <a:rPr lang="en-GB" sz="2700" dirty="0" smtClean="0">
                <a:solidFill>
                  <a:srgbClr val="C00000"/>
                </a:solidFill>
              </a:rPr>
              <a:t/>
            </a:r>
            <a:br>
              <a:rPr lang="en-GB" sz="2700" dirty="0" smtClean="0">
                <a:solidFill>
                  <a:srgbClr val="C00000"/>
                </a:solidFill>
              </a:rPr>
            </a:br>
            <a:r>
              <a:rPr lang="en-GB" sz="3100" dirty="0" smtClean="0">
                <a:solidFill>
                  <a:srgbClr val="C00000"/>
                </a:solidFill>
              </a:rPr>
              <a:t>2</a:t>
            </a:r>
            <a:r>
              <a:rPr lang="en-GB" sz="3100" baseline="30000" dirty="0" smtClean="0">
                <a:solidFill>
                  <a:srgbClr val="C00000"/>
                </a:solidFill>
              </a:rPr>
              <a:t>nd</a:t>
            </a:r>
            <a:r>
              <a:rPr lang="en-GB" sz="3100" dirty="0" smtClean="0">
                <a:solidFill>
                  <a:srgbClr val="C00000"/>
                </a:solidFill>
              </a:rPr>
              <a:t> September 2017</a:t>
            </a:r>
            <a:br>
              <a:rPr lang="en-GB" sz="3100" dirty="0" smtClean="0">
                <a:solidFill>
                  <a:srgbClr val="C00000"/>
                </a:solidFill>
              </a:rPr>
            </a:br>
            <a:r>
              <a:rPr lang="en-GB" dirty="0"/>
              <a:t/>
            </a:r>
            <a:br>
              <a:rPr lang="en-GB" dirty="0"/>
            </a:br>
            <a:r>
              <a:rPr lang="en-GB" sz="3100" dirty="0" smtClean="0"/>
              <a:t/>
            </a:r>
            <a:br>
              <a:rPr lang="en-GB" sz="3100" dirty="0" smtClean="0"/>
            </a:br>
            <a:endParaRPr lang="en-GB" sz="31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616" y="3501008"/>
            <a:ext cx="7560840" cy="2376264"/>
          </a:xfrm>
        </p:spPr>
        <p:txBody>
          <a:bodyPr>
            <a:normAutofit fontScale="25000" lnSpcReduction="20000"/>
          </a:bodyPr>
          <a:lstStyle/>
          <a:p>
            <a:endParaRPr lang="en-GB" dirty="0" smtClean="0"/>
          </a:p>
          <a:p>
            <a:pPr algn="ctr"/>
            <a:endParaRPr lang="en-GB" sz="4300" b="1" u="sng" dirty="0" smtClean="0">
              <a:solidFill>
                <a:srgbClr val="FF0000"/>
              </a:solidFill>
            </a:endParaRPr>
          </a:p>
          <a:p>
            <a:pPr algn="ctr"/>
            <a:endParaRPr lang="en-GB" sz="9000" b="1" u="sng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GB" sz="90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GB" sz="5200" b="1" u="sng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GB" sz="3300" b="1" u="sng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400" b="1" dirty="0" smtClean="0">
                <a:solidFill>
                  <a:srgbClr val="FF0000"/>
                </a:solidFill>
              </a:rPr>
              <a:t>	</a:t>
            </a:r>
            <a:r>
              <a:rPr lang="en-GB" sz="2400" b="1" dirty="0" smtClean="0">
                <a:solidFill>
                  <a:srgbClr val="FF0000"/>
                </a:solidFill>
              </a:rPr>
              <a:t>	</a:t>
            </a:r>
            <a:r>
              <a:rPr lang="en-GB" sz="8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Jayant Tanna</a:t>
            </a:r>
          </a:p>
          <a:p>
            <a:pPr algn="r"/>
            <a:r>
              <a:rPr lang="en-GB" sz="8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Vijya </a:t>
            </a:r>
            <a:r>
              <a:rPr lang="en-GB" sz="8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Bhanderi</a:t>
            </a:r>
            <a:endParaRPr lang="en-GB" sz="8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90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GCSE Gujarati Results 2010-17</a:t>
            </a:r>
            <a:endParaRPr lang="en-GB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854440"/>
              </p:ext>
            </p:extLst>
          </p:nvPr>
        </p:nvGraphicFramePr>
        <p:xfrm>
          <a:off x="1259632" y="1412776"/>
          <a:ext cx="7499348" cy="43690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9665"/>
                <a:gridCol w="426230"/>
                <a:gridCol w="426230"/>
                <a:gridCol w="426230"/>
                <a:gridCol w="426230"/>
                <a:gridCol w="426230"/>
                <a:gridCol w="426230"/>
                <a:gridCol w="426230"/>
                <a:gridCol w="426230"/>
                <a:gridCol w="578867"/>
                <a:gridCol w="518388"/>
                <a:gridCol w="495349"/>
                <a:gridCol w="440630"/>
                <a:gridCol w="495349"/>
                <a:gridCol w="440630"/>
                <a:gridCol w="440630"/>
              </a:tblGrid>
              <a:tr h="268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A*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A*+A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A*- C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A.P.S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 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2010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175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233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737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257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34.9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90.6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212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636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38.5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90.4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6.03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208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126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239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37.6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573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90.2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2013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173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592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229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38.7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89.7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178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249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39.8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559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89.4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6.06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179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565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38.1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494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87.4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5.99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214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37.6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86.0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5.96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518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196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37.8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86.9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5.88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3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Totals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4959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1875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37.8</a:t>
                      </a:r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4410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88.9</a:t>
                      </a:r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en-GB" sz="10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634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37.9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566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6.02</a:t>
                      </a:r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385492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2010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2013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737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636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635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592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625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565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651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518</a:t>
                      </a:r>
                      <a:endParaRPr lang="en-GB" sz="13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37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Level Gujarati Results 2010-17</a:t>
            </a:r>
            <a:endParaRPr lang="en-GB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788169"/>
              </p:ext>
            </p:extLst>
          </p:nvPr>
        </p:nvGraphicFramePr>
        <p:xfrm>
          <a:off x="1403648" y="1340768"/>
          <a:ext cx="6616699" cy="4231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6594"/>
                <a:gridCol w="545054"/>
                <a:gridCol w="545054"/>
                <a:gridCol w="545054"/>
                <a:gridCol w="545054"/>
                <a:gridCol w="545054"/>
                <a:gridCol w="735189"/>
                <a:gridCol w="636952"/>
                <a:gridCol w="636952"/>
                <a:gridCol w="522871"/>
                <a:gridCol w="522871"/>
              </a:tblGrid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A+ 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A.P.S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3.92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3.78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3.83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3.83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3.64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3.38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3.76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4.05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3.73</a:t>
                      </a: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38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Level Gujarati Results 2010-17</a:t>
            </a:r>
            <a:endParaRPr lang="en-GB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558085"/>
              </p:ext>
            </p:extLst>
          </p:nvPr>
        </p:nvGraphicFramePr>
        <p:xfrm>
          <a:off x="1259632" y="1412776"/>
          <a:ext cx="7315200" cy="4324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80"/>
                <a:gridCol w="576064"/>
                <a:gridCol w="532656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95275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A*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A*-B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APS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2010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77.3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8.64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72.7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8.42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52.6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7.05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2013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8.27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73.7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7.89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8.63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68.4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7.89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78.9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8.63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162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116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71.6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en-GB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70.4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8.11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2010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2011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2013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2014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Numbers</a:t>
                      </a:r>
                      <a:endParaRPr lang="en-GB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GB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GB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98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areas to </a:t>
            </a:r>
            <a:r>
              <a:rPr lang="en-GB" sz="4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for 2018 GCSE, AS and A Levels</a:t>
            </a:r>
            <a:endParaRPr lang="en-GB" sz="4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68BD49"/>
              </a:buClr>
            </a:pPr>
            <a:endParaRPr lang="en-GB" altLang="en-US" b="1" dirty="0">
              <a:solidFill>
                <a:srgbClr val="FF0000"/>
              </a:solidFill>
            </a:endParaRPr>
          </a:p>
          <a:p>
            <a:pPr>
              <a:buClr>
                <a:srgbClr val="68BD49"/>
              </a:buClr>
            </a:pPr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Who decides what during qualifications reform?</a:t>
            </a:r>
          </a:p>
          <a:p>
            <a:pPr marL="457200" indent="-457200"/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68BD49"/>
              </a:buClr>
            </a:pPr>
            <a:r>
              <a:rPr lang="en-GB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GB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are the key changes to GCSE and A level Gujarati?</a:t>
            </a:r>
          </a:p>
          <a:p>
            <a:pPr>
              <a:buClr>
                <a:srgbClr val="68BD49"/>
              </a:buClr>
            </a:pPr>
            <a:endParaRPr lang="en-GB" alt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31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28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Responsibilities during qualifications reform</a:t>
            </a:r>
            <a:endParaRPr lang="en-GB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447800"/>
            <a:ext cx="7746064" cy="4800600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225"/>
              </a:spcBef>
              <a:buClr>
                <a:srgbClr val="86BE3D"/>
              </a:buClr>
              <a:defRPr/>
            </a:pPr>
            <a:r>
              <a:rPr lang="en-GB" altLang="en-US" sz="1800" b="1" u="sng" dirty="0">
                <a:latin typeface="Arial" charset="0"/>
              </a:rPr>
              <a:t>Ministerial </a:t>
            </a:r>
            <a:r>
              <a:rPr lang="en-GB" altLang="en-US" sz="1800" b="1" u="sng" dirty="0" smtClean="0">
                <a:latin typeface="Arial" charset="0"/>
              </a:rPr>
              <a:t>responsibilities and DfE:</a:t>
            </a:r>
            <a:endParaRPr lang="en-GB" altLang="en-US" sz="1800" b="1" u="sng" dirty="0">
              <a:latin typeface="Arial" charset="0"/>
            </a:endParaRPr>
          </a:p>
          <a:p>
            <a:pPr>
              <a:buClr>
                <a:srgbClr val="68BD49"/>
              </a:buClr>
            </a:pPr>
            <a:r>
              <a:rPr lang="en-GB" altLang="en-US" sz="1800" dirty="0" smtClean="0"/>
              <a:t>Overall policy on qualifications – purposes, priorities, link to wider policy agenda</a:t>
            </a:r>
          </a:p>
          <a:p>
            <a:pPr>
              <a:buClr>
                <a:srgbClr val="68BD49"/>
              </a:buClr>
            </a:pPr>
            <a:r>
              <a:rPr lang="en-GB" altLang="en-US" sz="1800" dirty="0" smtClean="0"/>
              <a:t>How curriculum is developed and subject content for qualifications</a:t>
            </a:r>
          </a:p>
          <a:p>
            <a:pPr lvl="3">
              <a:buClr>
                <a:srgbClr val="68BD49"/>
              </a:buClr>
            </a:pPr>
            <a:endParaRPr lang="en-GB" altLang="en-US" sz="1800" b="1" dirty="0" smtClean="0"/>
          </a:p>
          <a:p>
            <a:pPr marL="285750" lvl="2" indent="-285750">
              <a:spcBef>
                <a:spcPts val="225"/>
              </a:spcBef>
              <a:buClr>
                <a:srgbClr val="86BE3D"/>
              </a:buClr>
              <a:defRPr/>
            </a:pPr>
            <a:r>
              <a:rPr lang="en-GB" altLang="en-US" sz="1800" b="1" u="sng" dirty="0" err="1">
                <a:latin typeface="Arial" charset="0"/>
              </a:rPr>
              <a:t>Ofqual’s</a:t>
            </a:r>
            <a:r>
              <a:rPr lang="en-GB" altLang="en-US" sz="1800" b="1" u="sng" dirty="0">
                <a:latin typeface="Arial" charset="0"/>
              </a:rPr>
              <a:t> responsibilities:</a:t>
            </a:r>
          </a:p>
          <a:p>
            <a:pPr>
              <a:buClr>
                <a:srgbClr val="68BD49"/>
              </a:buClr>
            </a:pPr>
            <a:r>
              <a:rPr lang="en-GB" altLang="en-US" sz="1800" dirty="0" smtClean="0"/>
              <a:t>Regulatory oversight of the qualifications system</a:t>
            </a:r>
          </a:p>
          <a:p>
            <a:pPr lvl="2">
              <a:buClr>
                <a:srgbClr val="68BD49"/>
              </a:buClr>
            </a:pPr>
            <a:r>
              <a:rPr lang="en-GB" altLang="en-US" sz="1800" dirty="0" smtClean="0"/>
              <a:t>Standards of qualifications</a:t>
            </a:r>
          </a:p>
          <a:p>
            <a:pPr lvl="2">
              <a:buClr>
                <a:srgbClr val="68BD49"/>
              </a:buClr>
            </a:pPr>
            <a:r>
              <a:rPr lang="en-GB" altLang="en-US" sz="1800" dirty="0" smtClean="0"/>
              <a:t>Efficiency and value for money of qualifications</a:t>
            </a:r>
          </a:p>
          <a:p>
            <a:pPr>
              <a:buClr>
                <a:srgbClr val="68BD49"/>
              </a:buClr>
            </a:pPr>
            <a:r>
              <a:rPr lang="en-GB" altLang="en-US" sz="1800" dirty="0" smtClean="0"/>
              <a:t>In reform: develop subject level conditions and guidance around assessment format including assessment objectives </a:t>
            </a:r>
          </a:p>
          <a:p>
            <a:pPr>
              <a:buClr>
                <a:srgbClr val="68BD49"/>
              </a:buClr>
            </a:pPr>
            <a:endParaRPr lang="en-GB" altLang="en-US" sz="1800" b="1" dirty="0" smtClean="0"/>
          </a:p>
          <a:p>
            <a:pPr marL="285750" lvl="2" indent="-285750">
              <a:spcBef>
                <a:spcPts val="225"/>
              </a:spcBef>
              <a:buClr>
                <a:srgbClr val="86BE3D"/>
              </a:buClr>
              <a:defRPr/>
            </a:pPr>
            <a:r>
              <a:rPr lang="en-GB" altLang="en-US" sz="1800" b="1" u="sng" dirty="0">
                <a:latin typeface="Arial" charset="0"/>
              </a:rPr>
              <a:t>Exam Boards:</a:t>
            </a:r>
          </a:p>
          <a:p>
            <a:pPr>
              <a:buClr>
                <a:srgbClr val="68BD49"/>
              </a:buClr>
            </a:pPr>
            <a:r>
              <a:rPr lang="en-GB" altLang="en-US" sz="1800" dirty="0" smtClean="0"/>
              <a:t>Design and deliver qualifications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461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changes to Gujarati GCSEs</a:t>
            </a:r>
            <a:endParaRPr lang="en-GB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447800"/>
            <a:ext cx="7704856" cy="4800600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buClr>
                <a:srgbClr val="68BD49"/>
              </a:buClr>
              <a:defRPr/>
            </a:pPr>
            <a:r>
              <a:rPr lang="en-GB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New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and more challenging content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			    developed by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the DfE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68BD49"/>
              </a:buClr>
              <a:buNone/>
              <a:defRPr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>
              <a:buClr>
                <a:srgbClr val="68BD49"/>
              </a:buClr>
              <a:defRPr/>
            </a:pPr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All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exams at the end of the course</a:t>
            </a:r>
          </a:p>
          <a:p>
            <a:pPr marL="457200" indent="-457200">
              <a:buClr>
                <a:srgbClr val="68BD49"/>
              </a:buClr>
              <a:defRPr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68BD49"/>
              </a:buClr>
              <a:defRPr/>
            </a:pPr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Mainly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exam - Non-exam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assessment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		    only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where necessary</a:t>
            </a:r>
          </a:p>
          <a:p>
            <a:pPr marL="457200" indent="-457200">
              <a:spcBef>
                <a:spcPts val="0"/>
              </a:spcBef>
              <a:buClr>
                <a:srgbClr val="68BD49"/>
              </a:buClr>
              <a:defRPr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68BD49"/>
              </a:buClr>
              <a:defRPr/>
            </a:pPr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Tiering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Foundation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and higher tier permitted</a:t>
            </a:r>
            <a:b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only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languages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, maths and science</a:t>
            </a:r>
          </a:p>
          <a:p>
            <a:pPr>
              <a:buClr>
                <a:srgbClr val="68BD49"/>
              </a:buClr>
              <a:defRPr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68BD49"/>
              </a:buClr>
              <a:defRPr/>
            </a:pPr>
            <a:r>
              <a:rPr lang="en-GB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Grading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New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numbered scale (9 to 1 plus U), 9 is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		    the highest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standard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pass’ set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at grade 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4,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	    ‘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strong </a:t>
            </a:r>
            <a:r>
              <a:rPr lang="en-GB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pass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’ set at grade 5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306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changes to </a:t>
            </a:r>
            <a:r>
              <a:rPr lang="en-GB" altLang="en-US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en-GB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altLang="en-US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altLang="en-US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GCSE grading structure </a:t>
            </a:r>
            <a:endParaRPr 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600200"/>
            <a:ext cx="7488832" cy="4781128"/>
          </a:xfrm>
        </p:spPr>
        <p:txBody>
          <a:bodyPr>
            <a:normAutofit/>
          </a:bodyPr>
          <a:lstStyle/>
          <a:p>
            <a:pPr marL="82296" indent="0" defTabSz="685800">
              <a:buNone/>
              <a:defRPr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</a:rPr>
              <a:t>             </a:t>
            </a:r>
          </a:p>
          <a:p>
            <a:pPr defTabSz="685800">
              <a:defRPr/>
            </a:pPr>
            <a:endParaRPr lang="en-US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685800">
              <a:defRPr/>
            </a:pPr>
            <a:endParaRPr lang="en-US" dirty="0" smtClean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685800">
              <a:defRPr/>
            </a:pPr>
            <a:endParaRPr lang="en-US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82296" indent="0" defTabSz="685800">
              <a:buNone/>
              <a:defRPr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</a:rPr>
              <a:t>   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41682"/>
              </p:ext>
            </p:extLst>
          </p:nvPr>
        </p:nvGraphicFramePr>
        <p:xfrm>
          <a:off x="3563888" y="2204864"/>
          <a:ext cx="1828800" cy="31222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9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8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A*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spc="-150" dirty="0" smtClean="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endParaRPr lang="en-GB" sz="1800" b="1" i="0" u="none" strike="noStrike" spc="-150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spc="-150" dirty="0" smtClean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GB" sz="1800" b="0" i="0" u="none" strike="noStrike" spc="-150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spc="-150" dirty="0" smtClean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GB" sz="1800" b="1" i="0" u="none" strike="noStrike" spc="-150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6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 smtClean="0">
                          <a:effectLst/>
                        </a:rPr>
                        <a:t>B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5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endParaRPr lang="en-GB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GB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3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D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2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E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F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GB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GB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endParaRPr lang="en-GB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 dirty="0">
                          <a:effectLst/>
                        </a:rPr>
                        <a:t>U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 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U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331640" y="2492896"/>
            <a:ext cx="208823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</a:t>
            </a:r>
          </a:p>
          <a:p>
            <a:r>
              <a:rPr lang="en-US" sz="1400" b="1" dirty="0"/>
              <a:t> </a:t>
            </a:r>
            <a:r>
              <a:rPr lang="en-US" sz="1400" b="1" dirty="0" smtClean="0"/>
              <a:t>   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Grade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 and above </a:t>
            </a:r>
            <a:r>
              <a:rPr lang="en-US" b="1" dirty="0"/>
              <a:t>	</a:t>
            </a:r>
            <a:endParaRPr lang="en-GB" b="1" dirty="0"/>
          </a:p>
        </p:txBody>
      </p:sp>
      <p:sp>
        <p:nvSpPr>
          <p:cNvPr id="7" name="Rectangle 6"/>
          <p:cNvSpPr/>
          <p:nvPr/>
        </p:nvSpPr>
        <p:spPr>
          <a:xfrm>
            <a:off x="5364088" y="2495391"/>
            <a:ext cx="12904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r>
              <a:rPr lang="en-US" sz="1400" dirty="0" smtClean="0"/>
              <a:t>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and above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3628" y="3006565"/>
            <a:ext cx="193354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smtClean="0"/>
              <a:t>   </a:t>
            </a:r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Grade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4 and above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14763" y="3083510"/>
            <a:ext cx="1247457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endParaRPr lang="en-US" dirty="0" smtClean="0"/>
          </a:p>
          <a:p>
            <a:endParaRPr lang="en-US" sz="1400" dirty="0"/>
          </a:p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and above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19672" y="3861048"/>
            <a:ext cx="1784463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 </a:t>
            </a:r>
          </a:p>
          <a:p>
            <a:endParaRPr lang="en-GB" sz="1400" dirty="0"/>
          </a:p>
          <a:p>
            <a:endParaRPr lang="en-GB" sz="1400" dirty="0" smtClean="0"/>
          </a:p>
          <a:p>
            <a:endParaRPr lang="en-GB" sz="1400" dirty="0"/>
          </a:p>
          <a:p>
            <a:r>
              <a:rPr lang="en-GB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Grade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1 and above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4764" y="3933056"/>
            <a:ext cx="1257075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 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GB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and above</a:t>
            </a:r>
          </a:p>
        </p:txBody>
      </p:sp>
    </p:spTree>
    <p:extLst>
      <p:ext uri="{BB962C8B-B14F-4D97-AF65-F5344CB8AC3E}">
        <p14:creationId xmlns:p14="http://schemas.microsoft.com/office/powerpoint/2010/main" val="405130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Meeting - 2 September 2017</a:t>
            </a:r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9</a:t>
            </a:fld>
            <a:endParaRPr lang="en-GB" dirty="0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GCSE </a:t>
            </a:r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Gujarati – Overview</a:t>
            </a:r>
            <a:endParaRPr lang="en-GB" sz="3500" dirty="0" smtClean="0">
              <a:solidFill>
                <a:srgbClr val="C00000"/>
              </a:solidFill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609" y="1124744"/>
            <a:ext cx="7824962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Fully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structure i.e. an examination at end of the course only, no course work, etc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..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New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9-1 grading scale, with 9 the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top grade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last available assessment for the current GCSEs by OCR will be June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irst assessment for the new Pearson Edexcel GCSEs will be in May/June 2020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First teaching of the two-year GCSE in Gujarati will start in September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2018.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6049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CGS Meeting - 2 September 2017</a:t>
            </a:r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10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GCSE </a:t>
            </a:r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Gujarati </a:t>
            </a:r>
            <a:r>
              <a:rPr lang="en-GB" sz="3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– Overview</a:t>
            </a:r>
            <a:endParaRPr lang="en-GB" sz="3500" dirty="0" smtClean="0">
              <a:solidFill>
                <a:srgbClr val="C00000"/>
              </a:solidFill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608" y="1066800"/>
            <a:ext cx="7537686" cy="4953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5000"/>
              </a:lnSpc>
              <a:spcAft>
                <a:spcPts val="300"/>
              </a:spcAf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25% assessment weightings per skill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listening, speaking, reading and writing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endParaRPr lang="en-GB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4 skills assessed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separately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Speaking assessments to be completed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 April/May and all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others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in May/June in any single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Two tiers – Foundation and Higher. </a:t>
            </a: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300"/>
              </a:spcAft>
            </a:pP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Students must be entered for a single tier across all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papers – no mixed entry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Dictionaries are not allowed during any of the assessments</a:t>
            </a: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9173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11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GCSE </a:t>
            </a:r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Gujarati – Delivery Model</a:t>
            </a:r>
            <a:endParaRPr lang="en-GB" sz="3500" dirty="0" smtClean="0">
              <a:solidFill>
                <a:srgbClr val="C00000"/>
              </a:solidFill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7" y="927652"/>
            <a:ext cx="7632848" cy="5111199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</a:pP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editable Course Planner and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suggested Schemes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of Work covering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the two-year course to be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available on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Edexcel’s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GCSE 2018 Gujarati webpage. </a:t>
            </a: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5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Three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12-week terms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 the first year with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n average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of two hours a week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– or 72 hours suggested. </a:t>
            </a:r>
            <a:endParaRPr lang="en-GB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500"/>
              </a:spcAft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800"/>
              </a:spcAft>
            </a:pP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Two 12 week terms in final year followed by a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focused revision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summer term 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making 120 hours teaching over the two years.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4274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12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Themes</a:t>
            </a:r>
            <a:endParaRPr lang="en-GB" sz="3500" dirty="0" smtClean="0">
              <a:solidFill>
                <a:srgbClr val="C00000"/>
              </a:solidFill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7" y="1066800"/>
            <a:ext cx="7560840" cy="4953000"/>
          </a:xfrm>
        </p:spPr>
        <p:txBody>
          <a:bodyPr>
            <a:normAutofit/>
          </a:bodyPr>
          <a:lstStyle/>
          <a:p>
            <a:pPr marL="715963" indent="-358775">
              <a:spcAft>
                <a:spcPts val="600"/>
              </a:spcAft>
              <a:buNone/>
              <a:tabLst>
                <a:tab pos="893763" algn="l"/>
              </a:tabLs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Five main themes:</a:t>
            </a:r>
          </a:p>
          <a:p>
            <a:pPr marL="893763" indent="-536575">
              <a:spcAft>
                <a:spcPts val="600"/>
              </a:spcAft>
              <a:tabLst>
                <a:tab pos="893763" algn="l"/>
              </a:tabLst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Identity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and culture</a:t>
            </a:r>
          </a:p>
          <a:p>
            <a:pPr marL="893763" indent="-536575">
              <a:spcAft>
                <a:spcPts val="600"/>
              </a:spcAft>
              <a:tabLst>
                <a:tab pos="893763" algn="l"/>
              </a:tabLst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Local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area, holiday and travel</a:t>
            </a:r>
          </a:p>
          <a:p>
            <a:pPr marL="893763" indent="-536575">
              <a:spcAft>
                <a:spcPts val="600"/>
              </a:spcAft>
              <a:tabLst>
                <a:tab pos="893763" algn="l"/>
              </a:tabLst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School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3763" indent="-536575">
              <a:spcAft>
                <a:spcPts val="600"/>
              </a:spcAft>
              <a:tabLst>
                <a:tab pos="893763" algn="l"/>
              </a:tabLst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Future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aspirations, study and work</a:t>
            </a:r>
          </a:p>
          <a:p>
            <a:pPr marL="893763" indent="-536575">
              <a:tabLst>
                <a:tab pos="893763" algn="l"/>
              </a:tabLst>
            </a:pP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International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and global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dimension</a:t>
            </a:r>
            <a:endParaRPr lang="en-GB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181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13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Overview </a:t>
            </a:r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– Listening &amp; Understanding</a:t>
            </a:r>
            <a:endParaRPr lang="en-GB" sz="3500" dirty="0" smtClean="0">
              <a:solidFill>
                <a:srgbClr val="C00000"/>
              </a:solidFill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530850"/>
              </p:ext>
            </p:extLst>
          </p:nvPr>
        </p:nvGraphicFramePr>
        <p:xfrm>
          <a:off x="1121020" y="1339899"/>
          <a:ext cx="7632848" cy="4671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79622"/>
                <a:gridCol w="1942907"/>
                <a:gridCol w="1804128"/>
                <a:gridCol w="2706191"/>
              </a:tblGrid>
              <a:tr h="7245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 of assessment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of assessment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</a:tr>
              <a:tr h="191666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1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25% </a:t>
                      </a:r>
                    </a:p>
                    <a:p>
                      <a:pPr marL="0" marR="0" defTabSz="107315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marks </a:t>
                      </a:r>
                      <a:endParaRPr lang="en-GB" sz="21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Listening and </a:t>
                      </a: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 = 35 </a:t>
                      </a: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minutes including </a:t>
                      </a: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</a:t>
                      </a: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minutes’ reading time 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Multiple-choice and short-answer </a:t>
                      </a:r>
                      <a:br>
                        <a:rPr lang="en-GB" sz="2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2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open-response questions.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majority of the questions will be set </a:t>
                      </a:r>
                      <a:br>
                        <a:rPr lang="en-GB" sz="2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2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English with two questions set in Gujarati.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</a:tr>
              <a:tr h="191666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= 45 </a:t>
                      </a: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minutes including </a:t>
                      </a: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</a:t>
                      </a: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minutes’ reading time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21020" y="33062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7443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14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28600"/>
            <a:ext cx="7776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Listening </a:t>
            </a:r>
            <a:r>
              <a:rPr lang="en-GB" sz="3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&amp; </a:t>
            </a:r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Understanding</a:t>
            </a:r>
            <a:endParaRPr lang="en-GB" sz="3500" dirty="0" smtClean="0">
              <a:solidFill>
                <a:srgbClr val="C00000"/>
              </a:solidFill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625" y="1047749"/>
            <a:ext cx="7560840" cy="4953000"/>
          </a:xfrm>
        </p:spPr>
        <p:txBody>
          <a:bodyPr>
            <a:normAutofit/>
          </a:bodyPr>
          <a:lstStyle/>
          <a:p>
            <a:pPr lvl="0">
              <a:spcAft>
                <a:spcPts val="800"/>
              </a:spcAft>
            </a:pPr>
            <a:endParaRPr lang="en-GB" sz="2400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800"/>
              </a:spcAft>
            </a:pP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Four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of the questions will be common to both tiers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(the last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two questions of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Foundation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tier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the first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two questions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Higher tier)</a:t>
            </a:r>
          </a:p>
          <a:p>
            <a:pPr lvl="0">
              <a:spcAft>
                <a:spcPts val="800"/>
              </a:spcAft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listening audio files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will be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available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 the  website when all is finalised.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2351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15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5433" y="218728"/>
            <a:ext cx="8593137" cy="685800"/>
          </a:xfrm>
        </p:spPr>
        <p:txBody>
          <a:bodyPr/>
          <a:lstStyle/>
          <a:p>
            <a:pPr eaLnBrk="1" hangingPunct="1"/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Overview </a:t>
            </a:r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 Speaking</a:t>
            </a:r>
            <a:endParaRPr lang="en-GB" sz="3500" dirty="0" smtClean="0">
              <a:solidFill>
                <a:srgbClr val="C00000"/>
              </a:solidFill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850110"/>
              </p:ext>
            </p:extLst>
          </p:nvPr>
        </p:nvGraphicFramePr>
        <p:xfrm>
          <a:off x="1043608" y="914400"/>
          <a:ext cx="7650624" cy="49548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51920"/>
                <a:gridCol w="1391023"/>
                <a:gridCol w="2364738"/>
                <a:gridCol w="2642943"/>
              </a:tblGrid>
              <a:tr h="710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 of assessment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of assessment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</a:tr>
              <a:tr h="128153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300"/>
                        </a:spcAft>
                      </a:pPr>
                      <a:r>
                        <a:rPr lang="en-GB" sz="23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</a:t>
                      </a: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300"/>
                        </a:spcAft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r>
                        <a:rPr lang="en-GB" sz="23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</a:t>
                      </a:r>
                    </a:p>
                    <a:p>
                      <a:pPr marL="0" marR="0" defTabSz="107315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300"/>
                        </a:spcAft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 </a:t>
                      </a:r>
                      <a:r>
                        <a:rPr lang="en-GB" sz="23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marks </a:t>
                      </a: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Speaking</a:t>
                      </a: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 = 7-9 </a:t>
                      </a:r>
                      <a:r>
                        <a:rPr lang="en-GB" sz="23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minutes </a:t>
                      </a: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(plus 12</a:t>
                      </a:r>
                      <a:r>
                        <a:rPr lang="en-GB" sz="23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minutes preparation)</a:t>
                      </a: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  <a:tc rowSpan="2">
                  <a:txBody>
                    <a:bodyPr/>
                    <a:lstStyle/>
                    <a:p>
                      <a:pPr marL="0" indent="0">
                        <a:spcBef>
                          <a:spcPts val="800"/>
                        </a:spcBef>
                        <a:spcAft>
                          <a:spcPts val="300"/>
                        </a:spcAft>
                        <a:tabLst>
                          <a:tab pos="536575" algn="l"/>
                        </a:tabLst>
                      </a:pP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Students will be assessed through </a:t>
                      </a:r>
                      <a:b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 tasks: </a:t>
                      </a:r>
                    </a:p>
                    <a:p>
                      <a:pPr marL="0" lvl="0" indent="0">
                        <a:spcBef>
                          <a:spcPts val="80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  <a:tabLst>
                          <a:tab pos="536575" algn="l"/>
                        </a:tabLst>
                      </a:pP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(1) 	a role play </a:t>
                      </a:r>
                    </a:p>
                    <a:p>
                      <a:pPr marL="536575" lvl="0" indent="-536575">
                        <a:spcBef>
                          <a:spcPts val="80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  <a:tabLst>
                          <a:tab pos="536575" algn="l"/>
                        </a:tabLst>
                      </a:pP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 	questions based </a:t>
                      </a:r>
                      <a:b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 a picture stimuli </a:t>
                      </a:r>
                    </a:p>
                    <a:p>
                      <a:pPr marL="0" indent="0"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  <a:tabLst>
                          <a:tab pos="536575" algn="l"/>
                        </a:tabLst>
                      </a:pP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(3)	a conversation. </a:t>
                      </a: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</a:tr>
              <a:tr h="274830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= 10-12 minutes (plus 12</a:t>
                      </a:r>
                      <a:r>
                        <a:rPr lang="en-GB" sz="23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minutes preparation)</a:t>
                      </a: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144000" marB="14400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21020" y="33062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971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16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3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Speaking </a:t>
            </a:r>
            <a:r>
              <a:rPr lang="en-GB" sz="3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– Both Tiers</a:t>
            </a:r>
            <a:endParaRPr lang="en-GB" sz="3400" dirty="0" smtClean="0">
              <a:solidFill>
                <a:srgbClr val="C00000"/>
              </a:solidFill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6" y="1219201"/>
            <a:ext cx="7465678" cy="3657600"/>
          </a:xfrm>
        </p:spPr>
        <p:txBody>
          <a:bodyPr/>
          <a:lstStyle/>
          <a:p>
            <a:pPr marL="357188" indent="-357188">
              <a:spcAft>
                <a:spcPts val="800"/>
              </a:spcAft>
              <a:tabLst>
                <a:tab pos="357188" algn="l"/>
              </a:tabLst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assessments are conducted by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teachers (examiners)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one session within a prescribed assessment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window.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7188" indent="-357188">
              <a:spcAft>
                <a:spcPts val="800"/>
              </a:spcAft>
              <a:tabLst>
                <a:tab pos="357188" algn="l"/>
              </a:tabLst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7188" indent="-357188">
              <a:spcAft>
                <a:spcPts val="800"/>
              </a:spcAft>
              <a:tabLst>
                <a:tab pos="357188" algn="l"/>
              </a:tabLst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recordings are then submitted to Pearson for external marking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728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17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Overview </a:t>
            </a:r>
            <a:r>
              <a:rPr lang="en-GB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– Reading &amp; understanding</a:t>
            </a:r>
            <a:endParaRPr lang="en-GB" sz="3000" dirty="0" smtClean="0">
              <a:solidFill>
                <a:srgbClr val="C00000"/>
              </a:solidFill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139038"/>
              </p:ext>
            </p:extLst>
          </p:nvPr>
        </p:nvGraphicFramePr>
        <p:xfrm>
          <a:off x="1121020" y="980744"/>
          <a:ext cx="7747550" cy="4837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6562"/>
                <a:gridCol w="1814741"/>
                <a:gridCol w="1675146"/>
                <a:gridCol w="3071101"/>
              </a:tblGrid>
              <a:tr h="7400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 of assessment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of assessment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</a:tr>
              <a:tr h="110701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</a:t>
                      </a: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25% </a:t>
                      </a:r>
                    </a:p>
                    <a:p>
                      <a:pPr marL="0" marR="0" defTabSz="107315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marks </a:t>
                      </a:r>
                      <a:endParaRPr lang="en-GB" sz="21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Reading </a:t>
                      </a: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</a:t>
                      </a: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 = </a:t>
                      </a:r>
                      <a:b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minutes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  <a:tc rowSpan="2">
                  <a:txBody>
                    <a:bodyPr/>
                    <a:lstStyle/>
                    <a:p>
                      <a:r>
                        <a:rPr lang="en-GB" sz="22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Question types will comprise both multiple-choice and short-answer open-response questions, and one translation into English question. </a:t>
                      </a:r>
                    </a:p>
                    <a:p>
                      <a:r>
                        <a:rPr lang="en-GB" sz="22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There will be 3 questions set</a:t>
                      </a:r>
                      <a:r>
                        <a:rPr lang="en-GB" sz="2200" b="0" kern="1200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2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 Gujarati. </a:t>
                      </a:r>
                      <a:br>
                        <a:rPr lang="en-GB" sz="22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22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Students must answer all questions.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</a:tr>
              <a:tr h="297441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= 1 hour </a:t>
                      </a:r>
                      <a:b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2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minutes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21020" y="33062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2616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18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Overview </a:t>
            </a:r>
            <a:r>
              <a:rPr lang="en-GB" sz="3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 Writing</a:t>
            </a:r>
            <a:endParaRPr lang="en-GB" sz="3500" dirty="0" smtClean="0">
              <a:solidFill>
                <a:srgbClr val="C00000"/>
              </a:solidFill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43598"/>
              </p:ext>
            </p:extLst>
          </p:nvPr>
        </p:nvGraphicFramePr>
        <p:xfrm>
          <a:off x="1043609" y="1172817"/>
          <a:ext cx="7590439" cy="49493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0882"/>
                <a:gridCol w="1162500"/>
                <a:gridCol w="1549703"/>
                <a:gridCol w="3647354"/>
              </a:tblGrid>
              <a:tr h="7437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Length of assessment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of assessment</a:t>
                      </a:r>
                      <a:endParaRPr lang="en-GB" sz="22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 anchor="ctr">
                    <a:solidFill>
                      <a:srgbClr val="99CCFF"/>
                    </a:solidFill>
                  </a:tcPr>
                </a:tc>
              </a:tr>
              <a:tr h="193573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Paper 4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25% </a:t>
                      </a:r>
                    </a:p>
                    <a:p>
                      <a:pPr marL="0" marR="0" defTabSz="107315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 marks</a:t>
                      </a: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Writing</a:t>
                      </a:r>
                      <a:endParaRPr lang="en-GB" sz="2300" b="0" dirty="0" smtClean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 = 1 hour </a:t>
                      </a:r>
                      <a:b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 minutes</a:t>
                      </a:r>
                      <a:endParaRPr lang="en-GB" sz="2300" b="0" dirty="0" smtClean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Three open-response questions (</a:t>
                      </a:r>
                      <a:r>
                        <a:rPr lang="en-GB" sz="23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includes one crossover task)</a:t>
                      </a:r>
                      <a:br>
                        <a:rPr lang="en-GB" sz="23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 one translation into Gujarati question.</a:t>
                      </a: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144000"/>
                </a:tc>
              </a:tr>
              <a:tr h="1935734">
                <a:tc vMerge="1">
                  <a:txBody>
                    <a:bodyPr/>
                    <a:lstStyle/>
                    <a:p>
                      <a:pPr marL="0" marR="0" defTabSz="107315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endParaRPr lang="en-GB" sz="2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3025" marR="73025" marT="36000" marB="36000"/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endParaRPr lang="en-GB" sz="2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73025" marR="73025" marT="36000" marB="36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 = 1 hour </a:t>
                      </a:r>
                      <a:b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3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  minutes</a:t>
                      </a:r>
                      <a:endParaRPr lang="en-GB" sz="2300" b="0" dirty="0" smtClean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36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Two open-response questions (</a:t>
                      </a:r>
                      <a:r>
                        <a:rPr lang="en-GB" sz="23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includes one crossover task)</a:t>
                      </a:r>
                      <a:br>
                        <a:rPr lang="en-GB" sz="23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GB" sz="2300" b="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 one translation into Gujarati question</a:t>
                      </a:r>
                      <a:endParaRPr lang="en-GB" sz="23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7408" marR="67408" marT="36000" marB="14400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21020" y="33062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25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19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3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Writing </a:t>
            </a:r>
            <a:r>
              <a:rPr lang="en-GB" sz="3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– Register &amp; Style</a:t>
            </a:r>
            <a:endParaRPr lang="en-GB" sz="3400" dirty="0" smtClean="0">
              <a:solidFill>
                <a:srgbClr val="C00000"/>
              </a:solidFill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6" y="1152526"/>
            <a:ext cx="7395338" cy="4953000"/>
          </a:xfrm>
        </p:spPr>
        <p:txBody>
          <a:bodyPr/>
          <a:lstStyle/>
          <a:p>
            <a:pPr marL="0" indent="0">
              <a:buNone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Register and style definition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>
              <a:buAutoNum type="arabicParenR"/>
            </a:pPr>
            <a:r>
              <a:rPr lang="en-GB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Informal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register and style – </a:t>
            </a:r>
            <a:endParaRPr lang="en-GB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arenR"/>
            </a:pP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Examples of informal style include colloquial, conversational language that students would use with friends. </a:t>
            </a:r>
            <a:endParaRPr lang="en-GB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also requires use of the informal structure when using, for example, verbs, personal pronouns and possessive adjectives.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8353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10"/>
          </p:nvPr>
        </p:nvSpPr>
        <p:spPr>
          <a:xfrm>
            <a:off x="457200" y="6292850"/>
            <a:ext cx="2590800" cy="2603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/>
              <a:t>Vijyaben Bhanderi</a:t>
            </a:r>
            <a:endParaRPr lang="en-GB" dirty="0" smtClean="0"/>
          </a:p>
        </p:txBody>
      </p:sp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49112" y="6305551"/>
            <a:ext cx="2895600" cy="2635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CGS Meeting - 2 September 2017</a:t>
            </a:r>
            <a:endParaRPr lang="en-GB" dirty="0" smtClean="0"/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97614"/>
            <a:ext cx="21336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Slide </a:t>
            </a:r>
            <a:fld id="{0791107B-2345-4607-ADE7-C5725CF4E4E6}" type="slidenum">
              <a:rPr lang="en-GB" smtClean="0"/>
              <a:pPr eaLnBrk="1" hangingPunct="1"/>
              <a:t>20</a:t>
            </a:fld>
            <a:endParaRPr lang="en-GB" smtClean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98879" y="228600"/>
            <a:ext cx="8593137" cy="685800"/>
          </a:xfrm>
        </p:spPr>
        <p:txBody>
          <a:bodyPr/>
          <a:lstStyle/>
          <a:p>
            <a:pPr eaLnBrk="1" hangingPunct="1"/>
            <a:r>
              <a:rPr lang="en-GB" sz="3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	Writing </a:t>
            </a:r>
            <a:r>
              <a:rPr lang="en-GB" sz="3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– Register &amp; Style</a:t>
            </a:r>
            <a:endParaRPr lang="en-GB" sz="3400" dirty="0" smtClean="0">
              <a:solidFill>
                <a:srgbClr val="C00000"/>
              </a:solidFill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608" y="1052736"/>
            <a:ext cx="7416824" cy="50405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Register </a:t>
            </a:r>
            <a:r>
              <a:rPr lang="en-GB" sz="3000" b="1" dirty="0">
                <a:latin typeface="Arial" panose="020B0604020202020204" pitchFamily="34" charset="0"/>
                <a:cs typeface="Arial" panose="020B0604020202020204" pitchFamily="34" charset="0"/>
              </a:rPr>
              <a:t>and style definition</a:t>
            </a:r>
            <a:r>
              <a:rPr lang="en-GB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2) Formal </a:t>
            </a:r>
            <a:r>
              <a:rPr lang="en-GB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register and style – </a:t>
            </a:r>
            <a:endParaRPr lang="en-GB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Examples of formal style includes, for example, avoidance of slang, over-familiar language, exaggeration, ‘text-speak’, inappropriate colloquialisms or writing in a conversational style. </a:t>
            </a:r>
            <a:endParaRPr lang="en-GB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Formal register and style require the use </a:t>
            </a:r>
            <a:br>
              <a:rPr lang="en-GB" sz="2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of the formal structure when using, for example, verbs, personal pronouns and possessive adjectives.</a:t>
            </a:r>
          </a:p>
          <a:p>
            <a:pPr marL="0" indent="0">
              <a:buNone/>
            </a:pPr>
            <a:endParaRPr lang="en-GB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275432" y="61722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661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b="1" dirty="0" smtClean="0">
                <a:solidFill>
                  <a:srgbClr val="00B050"/>
                </a:solidFill>
              </a:rPr>
              <a:t/>
            </a:r>
            <a:br>
              <a:rPr lang="en-GB" sz="4000" b="1" dirty="0" smtClean="0">
                <a:solidFill>
                  <a:srgbClr val="00B050"/>
                </a:solidFill>
              </a:rPr>
            </a:br>
            <a:r>
              <a:rPr lang="en-GB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</a:t>
            </a:r>
            <a:r>
              <a:rPr lang="en-GB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Gujarati AS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 levels will look </a:t>
            </a:r>
            <a:r>
              <a:rPr lang="en-GB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(1)</a:t>
            </a:r>
            <a:r>
              <a:rPr lang="en-GB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412776"/>
            <a:ext cx="749808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 smtClean="0">
                <a:solidFill>
                  <a:srgbClr val="FF0000"/>
                </a:solidFill>
              </a:rPr>
              <a:t>	</a:t>
            </a:r>
          </a:p>
          <a:p>
            <a:pPr marL="514350" indent="-514350"/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AS and A levels will be decoupled – this means that AS results will no longer count towards an A level, in the way they do now</a:t>
            </a:r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/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/>
            <a:r>
              <a:rPr lang="en-GB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and A levels will be assessed at the end of the course. AS assessments will typically take place after 1 year’s study and A levels after 2. The courses will no longer be divided into modules and there will be no exams in January.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276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6880808" cy="1143000"/>
          </a:xfrm>
        </p:spPr>
        <p:txBody>
          <a:bodyPr>
            <a:normAutofit fontScale="90000"/>
          </a:bodyPr>
          <a:lstStyle/>
          <a:p>
            <a:r>
              <a:rPr lang="en-GB" sz="3200" b="1" dirty="0" smtClean="0">
                <a:solidFill>
                  <a:srgbClr val="00B050"/>
                </a:solidFill>
              </a:rPr>
              <a:t/>
            </a:r>
            <a:br>
              <a:rPr lang="en-GB" sz="3200" b="1" dirty="0" smtClean="0">
                <a:solidFill>
                  <a:srgbClr val="00B050"/>
                </a:solidFill>
              </a:rPr>
            </a:br>
            <a:r>
              <a:rPr lang="en-GB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new Gujarati AS and A levels will look like(2)</a:t>
            </a:r>
            <a:br>
              <a:rPr lang="en-GB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340768"/>
            <a:ext cx="7653536" cy="452596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endParaRPr lang="en-GB" sz="2400" dirty="0" smtClean="0">
              <a:solidFill>
                <a:srgbClr val="FF0000"/>
              </a:solidFill>
            </a:endParaRPr>
          </a:p>
          <a:p>
            <a:pPr marL="457200" indent="-457200"/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Assessment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will be by examinations in Listening, Reading and Writing.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Students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will not be required to demonstrate speaking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marL="457200" indent="-457200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/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Instead, students will be required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to apply language skills (listening, reading, and writing) in combination, responding to spoken and written sources addressing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common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subject matter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/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new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emphasis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will be on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culture and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society, past and present, of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country or countries where the language is </a:t>
            </a:r>
            <a:r>
              <a:rPr lang="en-GB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spoken – together with a requirement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for critical analysis and evaluation </a:t>
            </a:r>
          </a:p>
        </p:txBody>
      </p:sp>
    </p:spTree>
    <p:extLst>
      <p:ext uri="{BB962C8B-B14F-4D97-AF65-F5344CB8AC3E}">
        <p14:creationId xmlns:p14="http://schemas.microsoft.com/office/powerpoint/2010/main" val="298595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9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examples of new </a:t>
            </a:r>
            <a:r>
              <a:rPr lang="en-GB" sz="29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at AS and A </a:t>
            </a:r>
            <a:r>
              <a:rPr lang="en-GB" sz="29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endParaRPr lang="en-GB" sz="29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At AS level, students study one work, either a literary work or a film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At A level,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students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to study two works,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either a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literary work and a film, or two literary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works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list of literary works must include a range from at least two of the following genres: novels, series of short stories, plays, selections of poems, life writing (such as autobiography, biography, letters and journals)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list of films must include feature length films and can include selections of short films organised by theme or director </a:t>
            </a:r>
          </a:p>
          <a:p>
            <a:pPr marL="82296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38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Table</a:t>
            </a:r>
            <a:endParaRPr lang="en-GB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421361"/>
              </p:ext>
            </p:extLst>
          </p:nvPr>
        </p:nvGraphicFramePr>
        <p:xfrm>
          <a:off x="1187624" y="1772816"/>
          <a:ext cx="7433320" cy="1728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4296"/>
                <a:gridCol w="360040"/>
                <a:gridCol w="1944216"/>
                <a:gridCol w="216024"/>
                <a:gridCol w="2248744"/>
              </a:tblGrid>
              <a:tr h="93920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AS and A Levels to </a:t>
                      </a:r>
                      <a:r>
                        <a:rPr lang="en-GB" sz="18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 taught </a:t>
                      </a:r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</a:t>
                      </a:r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 results will be issued in 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A level results  will be issued in</a:t>
                      </a:r>
                      <a:endParaRPr lang="en-GB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88986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September 2018</a:t>
                      </a:r>
                      <a:endParaRPr lang="en-GB" sz="2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September 2019?</a:t>
                      </a:r>
                      <a:endParaRPr lang="en-GB" sz="2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0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Summer 2020</a:t>
                      </a:r>
                      <a:endParaRPr lang="en-GB" sz="2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89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510</TotalTime>
  <Words>1535</Words>
  <Application>Microsoft Office PowerPoint</Application>
  <PresentationFormat>On-screen Show (4:3)</PresentationFormat>
  <Paragraphs>768</Paragraphs>
  <Slides>24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Solstice</vt:lpstr>
      <vt:lpstr>       Consortium of Gujarati Schools  Meeting of Heads and Co-ordinators  2nd September 2017   </vt:lpstr>
      <vt:lpstr>GCSE Gujarati Results 2010-17</vt:lpstr>
      <vt:lpstr>AS Level Gujarati Results 2010-17</vt:lpstr>
      <vt:lpstr>A Level Gujarati Results 2010-17</vt:lpstr>
      <vt:lpstr>Key areas to consider for 2018 GCSE, AS and A Levels</vt:lpstr>
      <vt:lpstr>Responsibilities during qualifications reform</vt:lpstr>
      <vt:lpstr>Key changes to Gujarati GCSEs</vt:lpstr>
      <vt:lpstr>Key changes to assessment:  New GCSE grading structure </vt:lpstr>
      <vt:lpstr> GCSE Gujarati – Overview</vt:lpstr>
      <vt:lpstr> GCSE Gujarati – Overview</vt:lpstr>
      <vt:lpstr> GCSE Gujarati – Delivery Model</vt:lpstr>
      <vt:lpstr> Themes</vt:lpstr>
      <vt:lpstr> Overview – Listening &amp; Understanding</vt:lpstr>
      <vt:lpstr>Listening &amp; Understanding</vt:lpstr>
      <vt:lpstr> Overview - Speaking</vt:lpstr>
      <vt:lpstr> Speaking – Both Tiers</vt:lpstr>
      <vt:lpstr> Overview – Reading &amp; understanding</vt:lpstr>
      <vt:lpstr> Overview - Writing</vt:lpstr>
      <vt:lpstr> Writing – Register &amp; Style</vt:lpstr>
      <vt:lpstr> Writing – Register &amp; Style</vt:lpstr>
      <vt:lpstr> What new Gujarati AS and A levels will look like (1) </vt:lpstr>
      <vt:lpstr> What new Gujarati AS and A levels will look like(2) </vt:lpstr>
      <vt:lpstr>Some examples of new Content at AS and A Level</vt:lpstr>
      <vt:lpstr>Time Table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GCSE and A/AS levels for first teaching 2018</dc:title>
  <dc:creator>Jayant</dc:creator>
  <cp:lastModifiedBy>Jayant</cp:lastModifiedBy>
  <cp:revision>46</cp:revision>
  <cp:lastPrinted>2017-08-30T22:02:22Z</cp:lastPrinted>
  <dcterms:created xsi:type="dcterms:W3CDTF">2017-08-24T21:36:40Z</dcterms:created>
  <dcterms:modified xsi:type="dcterms:W3CDTF">2017-09-01T01:14:59Z</dcterms:modified>
</cp:coreProperties>
</file>