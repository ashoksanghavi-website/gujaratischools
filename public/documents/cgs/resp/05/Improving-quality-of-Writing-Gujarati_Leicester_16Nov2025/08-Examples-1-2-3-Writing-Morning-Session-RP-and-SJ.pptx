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  <p:sldMasterId id="2147483741" r:id="rId2"/>
  </p:sldMasterIdLst>
  <p:notesMasterIdLst>
    <p:notesMasterId r:id="rId8"/>
  </p:notesMasterIdLst>
  <p:handoutMasterIdLst>
    <p:handoutMasterId r:id="rId9"/>
  </p:handoutMasterIdLst>
  <p:sldIdLst>
    <p:sldId id="339" r:id="rId3"/>
    <p:sldId id="341" r:id="rId4"/>
    <p:sldId id="340" r:id="rId5"/>
    <p:sldId id="342" r:id="rId6"/>
    <p:sldId id="346" r:id="rId7"/>
  </p:sldIdLst>
  <p:sldSz cx="9906000" cy="6858000" type="A4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6600"/>
    <a:srgbClr val="FFFFCC"/>
    <a:srgbClr val="CC0066"/>
    <a:srgbClr val="FFCC99"/>
    <a:srgbClr val="990099"/>
    <a:srgbClr val="99CCFF"/>
    <a:srgbClr val="CC3300"/>
    <a:srgbClr val="993366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5" autoAdjust="0"/>
    <p:restoredTop sz="94698" autoAdjust="0"/>
  </p:normalViewPr>
  <p:slideViewPr>
    <p:cSldViewPr>
      <p:cViewPr varScale="1">
        <p:scale>
          <a:sx n="97" d="100"/>
          <a:sy n="97" d="100"/>
        </p:scale>
        <p:origin x="533" y="8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2100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25450" y="9613106"/>
            <a:ext cx="3498573" cy="39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GB" dirty="0" err="1"/>
              <a:t>Vijyaben</a:t>
            </a:r>
            <a:r>
              <a:rPr lang="en-GB" dirty="0"/>
              <a:t> Bhanderi - 2 September 2017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85D13-FA76-4F98-AEC4-7A8343525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1827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705" y="1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60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355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17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514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GB"/>
              <a:t>Vijyaben Bhanderi - 2 September 2017</a:t>
            </a:r>
          </a:p>
        </p:txBody>
      </p:sp>
      <p:sp>
        <p:nvSpPr>
          <p:cNvPr id="717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705" y="9720514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B0313B38-AAAC-4BDD-B22B-694F0AEA0C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665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</a:t>
            </a:fld>
            <a:endParaRPr lang="en-GB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025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2</a:t>
            </a:fld>
            <a:endParaRPr lang="en-GB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695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3</a:t>
            </a:fld>
            <a:endParaRPr lang="en-GB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298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4</a:t>
            </a:fld>
            <a:endParaRPr lang="en-GB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22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70548" indent="-29636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85460" indent="-237092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59643" indent="-237092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133826" indent="-237092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60801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2193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56378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30560" indent="-23709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5</a:t>
            </a:fld>
            <a:endParaRPr lang="en-GB" dirty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407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ujaratischools.org/" TargetMode="External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ujaratischools.org/" TargetMode="External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D69B983E-33CF-4AE5-A5FD-472CC1D5F1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9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503055"/>
            <a:ext cx="8915400" cy="4525963"/>
          </a:xfrm>
        </p:spPr>
        <p:txBody>
          <a:bodyPr/>
          <a:lstStyle>
            <a:lvl1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6" descr="Consortium of Gujarati Schools">
            <a:hlinkClick r:id="rId2"/>
          </p:cNvPr>
          <p:cNvPicPr/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0" t="8900" r="2240" b="7119"/>
          <a:stretch/>
        </p:blipFill>
        <p:spPr bwMode="auto">
          <a:xfrm>
            <a:off x="3581400" y="168825"/>
            <a:ext cx="2743200" cy="5937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Line 5"/>
          <p:cNvSpPr>
            <a:spLocks noChangeShapeType="1"/>
          </p:cNvSpPr>
          <p:nvPr userDrawn="1"/>
        </p:nvSpPr>
        <p:spPr bwMode="auto">
          <a:xfrm>
            <a:off x="298384" y="6273795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1" name="Line 5"/>
          <p:cNvSpPr>
            <a:spLocks noChangeShapeType="1"/>
          </p:cNvSpPr>
          <p:nvPr userDrawn="1"/>
        </p:nvSpPr>
        <p:spPr bwMode="auto">
          <a:xfrm>
            <a:off x="298384" y="126609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7315200" y="6415830"/>
            <a:ext cx="2095500" cy="261937"/>
          </a:xfrm>
        </p:spPr>
        <p:txBody>
          <a:bodyPr/>
          <a:lstStyle/>
          <a:p>
            <a:pPr>
              <a:defRPr/>
            </a:pPr>
            <a:r>
              <a:rPr lang="en-GB"/>
              <a:t>Slide </a:t>
            </a:r>
            <a:fld id="{7144AD7A-C59A-4C48-9326-BE4650446C2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4296507" y="6419872"/>
            <a:ext cx="24107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200" dirty="0"/>
              <a:t>CGS Training – September 2025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495300" y="6425342"/>
            <a:ext cx="272106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200" dirty="0" err="1"/>
              <a:t>Ritaben</a:t>
            </a:r>
            <a:r>
              <a:rPr lang="en-GB" sz="1200" baseline="0" dirty="0"/>
              <a:t> Kamdar &amp; </a:t>
            </a:r>
            <a:r>
              <a:rPr lang="en-GB" sz="1200" baseline="0" dirty="0" err="1"/>
              <a:t>Vijyaben</a:t>
            </a:r>
            <a:r>
              <a:rPr lang="en-GB" sz="1200" baseline="0" dirty="0"/>
              <a:t> Bhanderi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0899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4CAF7E54-7F90-4693-B097-837E67F8B6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88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7B5D5BD1-6F70-46AF-9CA6-7181ABAB0E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45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5E0D91EB-0CEC-4271-834E-F7EEF13FE6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32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0F94C785-0396-43F2-8822-3E349AE55A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67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8228507B-26FF-4296-971B-6519A7D70B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16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C461B3A7-6C8D-41C4-BE5C-189DA8EB01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346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2459A50D-3D2B-413F-B1A9-0F0512D99D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18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DA1B3472-1B82-45A0-BBAE-85B8AFF11C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93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7BB27663-34A9-4107-BD98-8FE5C858DA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139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95300" y="1600200"/>
            <a:ext cx="8915400" cy="4525963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9EC72EAD-4B54-4A01-A8FE-B6644F8F58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6762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99300" y="6387498"/>
            <a:ext cx="2311400" cy="261937"/>
          </a:xfrm>
          <a:ln/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GB" dirty="0"/>
              <a:t>Slide </a:t>
            </a:r>
            <a:fld id="{4669B3B8-B01E-4E02-9F6B-5846F54739F4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Line 5"/>
          <p:cNvSpPr>
            <a:spLocks noChangeShapeType="1"/>
          </p:cNvSpPr>
          <p:nvPr userDrawn="1"/>
        </p:nvSpPr>
        <p:spPr bwMode="auto">
          <a:xfrm>
            <a:off x="298384" y="132666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9" name="Line 5"/>
          <p:cNvSpPr>
            <a:spLocks noChangeShapeType="1"/>
          </p:cNvSpPr>
          <p:nvPr userDrawn="1"/>
        </p:nvSpPr>
        <p:spPr bwMode="auto">
          <a:xfrm>
            <a:off x="298384" y="627576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dirty="0"/>
          </a:p>
        </p:txBody>
      </p:sp>
      <p:pic>
        <p:nvPicPr>
          <p:cNvPr id="7" name="Picture 6" descr="Consortium of Gujarati Schools">
            <a:hlinkClick r:id="rId2"/>
          </p:cNvPr>
          <p:cNvPicPr/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0" t="8900" r="2240" b="7119"/>
          <a:stretch/>
        </p:blipFill>
        <p:spPr bwMode="auto">
          <a:xfrm>
            <a:off x="265169" y="248507"/>
            <a:ext cx="2743200" cy="5937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4296507" y="6372982"/>
            <a:ext cx="24107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200" dirty="0"/>
              <a:t>CGS Training – September 2025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495300" y="6378452"/>
            <a:ext cx="264687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1200" dirty="0"/>
              <a:t>Rekhaben Patel &amp; </a:t>
            </a:r>
            <a:r>
              <a:rPr lang="en-GB" sz="1200" dirty="0" err="1"/>
              <a:t>Shobhaben</a:t>
            </a:r>
            <a:r>
              <a:rPr lang="en-GB" sz="1200" dirty="0"/>
              <a:t> Joshi</a:t>
            </a:r>
          </a:p>
        </p:txBody>
      </p:sp>
    </p:spTree>
    <p:extLst>
      <p:ext uri="{BB962C8B-B14F-4D97-AF65-F5344CB8AC3E}">
        <p14:creationId xmlns:p14="http://schemas.microsoft.com/office/powerpoint/2010/main" val="18161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Slide </a:t>
            </a:r>
            <a:fld id="{7144AD7A-C59A-4C48-9326-BE4650446C2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892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397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3352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77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195762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825625"/>
            <a:ext cx="4195763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45301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6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6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236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7612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04778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3330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40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49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40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3634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3123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9775" y="365125"/>
            <a:ext cx="213518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56337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E48DA-C189-40F2-AEC5-DC531A5D3472}" type="datetimeFigureOut">
              <a:rPr lang="en-GB" smtClean="0"/>
              <a:t>02/09/2025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5C4CD-174F-4073-8435-EBE4540D356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657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546850"/>
            <a:ext cx="28067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11538" y="6559550"/>
            <a:ext cx="313690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GB"/>
              <a:t>CGS Training - September 2025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551613"/>
            <a:ext cx="231140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r>
              <a:rPr lang="en-GB"/>
              <a:t>Slide </a:t>
            </a:r>
            <a:fld id="{7144AD7A-C59A-4C48-9326-BE4650446C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0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7479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 err="1"/>
              <a:t>Ritaben</a:t>
            </a:r>
            <a:r>
              <a:rPr lang="en-GB" dirty="0"/>
              <a:t> Kamdar &amp; </a:t>
            </a:r>
            <a:r>
              <a:rPr lang="en-GB" dirty="0" err="1"/>
              <a:t>Vijyaben</a:t>
            </a:r>
            <a:r>
              <a:rPr lang="en-GB" dirty="0"/>
              <a:t> Bhanderi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33800" y="6356350"/>
            <a:ext cx="289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CGS Training – September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5C4CD-174F-4073-8435-EBE4540D356C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555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06347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Slide </a:t>
            </a:r>
            <a:fld id="{0791107B-2345-4607-ADE7-C5725CF4E4E6}" type="slidenum">
              <a:rPr lang="en-GB" smtClean="0"/>
              <a:pPr eaLnBrk="1" hangingPunct="1"/>
              <a:t>1</a:t>
            </a:fld>
            <a:endParaRPr lang="en-GB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0" y="1447800"/>
            <a:ext cx="9067800" cy="4343400"/>
          </a:xfrm>
        </p:spPr>
        <p:txBody>
          <a:bodyPr/>
          <a:lstStyle/>
          <a:p>
            <a:pPr marL="0" indent="0" algn="ctr">
              <a:spcBef>
                <a:spcPts val="0"/>
              </a:spcBef>
              <a:buNone/>
            </a:pPr>
            <a:endParaRPr lang="en-GB" sz="2000" b="1" dirty="0" smtClean="0">
              <a:solidFill>
                <a:srgbClr val="0000CC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600" b="1" dirty="0" smtClean="0">
                <a:solidFill>
                  <a:srgbClr val="0000CC"/>
                </a:solidFill>
              </a:rPr>
              <a:t>GCSE Paper 4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600" b="1" dirty="0" smtClean="0">
                <a:solidFill>
                  <a:srgbClr val="0000CC"/>
                </a:solidFill>
              </a:rPr>
              <a:t> </a:t>
            </a:r>
            <a:r>
              <a:rPr lang="en-GB" sz="2600" b="1" dirty="0">
                <a:solidFill>
                  <a:srgbClr val="006600"/>
                </a:solidFill>
              </a:rPr>
              <a:t>Practice marking of Sample </a:t>
            </a:r>
            <a:r>
              <a:rPr lang="en-GB" sz="2600" b="1" dirty="0" smtClean="0">
                <a:solidFill>
                  <a:srgbClr val="006600"/>
                </a:solidFill>
              </a:rPr>
              <a:t>Responses</a:t>
            </a:r>
          </a:p>
          <a:p>
            <a:pPr marL="0" indent="0" algn="ctr">
              <a:spcBef>
                <a:spcPts val="0"/>
              </a:spcBef>
              <a:buNone/>
            </a:pPr>
            <a:endParaRPr lang="en-GB" sz="2600" b="1" dirty="0">
              <a:solidFill>
                <a:srgbClr val="006600"/>
              </a:solidFill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700" b="1" dirty="0">
                <a:solidFill>
                  <a:srgbClr val="C00000"/>
                </a:solidFill>
              </a:rPr>
              <a:t>The aim of this activity is to </a:t>
            </a:r>
            <a:endParaRPr lang="en-GB" sz="2700" b="1" dirty="0" smtClean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700" b="1" dirty="0" smtClean="0">
                <a:solidFill>
                  <a:srgbClr val="0000CC"/>
                </a:solidFill>
              </a:rPr>
              <a:t>consider </a:t>
            </a:r>
            <a:r>
              <a:rPr lang="en-GB" sz="2700" b="1" dirty="0">
                <a:solidFill>
                  <a:srgbClr val="0000CC"/>
                </a:solidFill>
              </a:rPr>
              <a:t>and apply the assessment criteria </a:t>
            </a:r>
            <a:r>
              <a:rPr lang="en-GB" sz="2700" b="1" dirty="0" smtClean="0">
                <a:solidFill>
                  <a:srgbClr val="0000CC"/>
                </a:solidFill>
              </a:rPr>
              <a:t/>
            </a:r>
            <a:br>
              <a:rPr lang="en-GB" sz="2700" b="1" dirty="0" smtClean="0">
                <a:solidFill>
                  <a:srgbClr val="0000CC"/>
                </a:solidFill>
              </a:rPr>
            </a:br>
            <a:r>
              <a:rPr lang="en-GB" sz="2700" b="1" dirty="0" smtClean="0">
                <a:solidFill>
                  <a:srgbClr val="0000CC"/>
                </a:solidFill>
              </a:rPr>
              <a:t>of </a:t>
            </a:r>
            <a:r>
              <a:rPr lang="en-GB" sz="2700" b="1" dirty="0">
                <a:solidFill>
                  <a:srgbClr val="0000CC"/>
                </a:solidFill>
              </a:rPr>
              <a:t>the GCSE specification for </a:t>
            </a:r>
            <a:r>
              <a:rPr lang="en-GB" sz="2700" b="1" dirty="0" smtClean="0">
                <a:solidFill>
                  <a:srgbClr val="0000CC"/>
                </a:solidFill>
              </a:rPr>
              <a:t>Paper 4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GB" sz="2700" b="1" dirty="0" smtClean="0">
                <a:solidFill>
                  <a:srgbClr val="0000CC"/>
                </a:solidFill>
              </a:rPr>
              <a:t>Writing </a:t>
            </a:r>
            <a:r>
              <a:rPr lang="en-GB" sz="2700" b="1" dirty="0">
                <a:solidFill>
                  <a:srgbClr val="0000CC"/>
                </a:solidFill>
              </a:rPr>
              <a:t>in the Gujarati</a:t>
            </a:r>
            <a:r>
              <a:rPr lang="en-GB" sz="2700" b="1" dirty="0">
                <a:solidFill>
                  <a:srgbClr val="006600"/>
                </a:solidFill>
              </a:rPr>
              <a:t>. 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  <a:tabLst>
                <a:tab pos="447675" algn="l"/>
              </a:tabLst>
            </a:pPr>
            <a:endParaRPr lang="en-GB" b="1" dirty="0">
              <a:solidFill>
                <a:srgbClr val="006600"/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5992" y="832947"/>
            <a:ext cx="7474016" cy="3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eaLnBrk="1" hangingPunct="1"/>
            <a:r>
              <a:rPr lang="en-GB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GCSE Writing – Morning Session</a:t>
            </a:r>
            <a:endParaRPr lang="en-GB" kern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352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06347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Slide </a:t>
            </a:r>
            <a:fld id="{0791107B-2345-4607-ADE7-C5725CF4E4E6}" type="slidenum">
              <a:rPr lang="en-GB" smtClean="0"/>
              <a:pPr eaLnBrk="1" hangingPunct="1"/>
              <a:t>2</a:t>
            </a:fld>
            <a:endParaRPr lang="en-GB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8420100" cy="3200400"/>
          </a:xfrm>
        </p:spPr>
        <p:txBody>
          <a:bodyPr/>
          <a:lstStyle/>
          <a:p>
            <a:pPr>
              <a:spcBef>
                <a:spcPts val="0"/>
              </a:spcBef>
              <a:tabLst>
                <a:tab pos="449263" algn="l"/>
              </a:tabLst>
            </a:pPr>
            <a:r>
              <a:rPr lang="en-GB" sz="2800" b="1" dirty="0" smtClean="0">
                <a:solidFill>
                  <a:srgbClr val="0000CC"/>
                </a:solidFill>
              </a:rPr>
              <a:t>Teach </a:t>
            </a:r>
            <a:r>
              <a:rPr lang="en-GB" sz="2800" b="1" dirty="0">
                <a:solidFill>
                  <a:srgbClr val="0000CC"/>
                </a:solidFill>
              </a:rPr>
              <a:t>GCSE students to read the Rubrics and prompts for the questions in the </a:t>
            </a:r>
            <a:r>
              <a:rPr lang="en-GB" sz="2800" b="1" dirty="0" smtClean="0">
                <a:solidFill>
                  <a:srgbClr val="0000CC"/>
                </a:solidFill>
              </a:rPr>
              <a:t/>
            </a:r>
            <a:br>
              <a:rPr lang="en-GB" sz="2800" b="1" dirty="0" smtClean="0">
                <a:solidFill>
                  <a:srgbClr val="0000CC"/>
                </a:solidFill>
              </a:rPr>
            </a:br>
            <a:r>
              <a:rPr lang="en-GB" sz="2800" b="1" dirty="0" smtClean="0">
                <a:solidFill>
                  <a:srgbClr val="0000CC"/>
                </a:solidFill>
              </a:rPr>
              <a:t>writing </a:t>
            </a:r>
            <a:r>
              <a:rPr lang="en-GB" sz="2800" b="1" dirty="0">
                <a:solidFill>
                  <a:srgbClr val="0000CC"/>
                </a:solidFill>
              </a:rPr>
              <a:t>papers</a:t>
            </a:r>
            <a:r>
              <a:rPr lang="en-GB" sz="2800" b="1" dirty="0">
                <a:solidFill>
                  <a:srgbClr val="006600"/>
                </a:solidFill>
              </a:rPr>
              <a:t>. </a:t>
            </a:r>
          </a:p>
          <a:p>
            <a:pPr marL="358775" indent="-358775">
              <a:spcBef>
                <a:spcPts val="0"/>
              </a:spcBef>
              <a:tabLst>
                <a:tab pos="449263" algn="l"/>
              </a:tabLst>
            </a:pPr>
            <a:endParaRPr lang="en-GB" sz="2800" b="1" dirty="0">
              <a:solidFill>
                <a:srgbClr val="006600"/>
              </a:solidFill>
            </a:endParaRPr>
          </a:p>
          <a:p>
            <a:pPr>
              <a:spcBef>
                <a:spcPts val="0"/>
              </a:spcBef>
              <a:tabLst>
                <a:tab pos="449263" algn="l"/>
              </a:tabLst>
            </a:pPr>
            <a:r>
              <a:rPr lang="en-GB" sz="2800" b="1" dirty="0">
                <a:solidFill>
                  <a:srgbClr val="006600"/>
                </a:solidFill>
              </a:rPr>
              <a:t>Make sure you understand the Mark Schemes thoroughly. 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5992" y="793532"/>
            <a:ext cx="7474016" cy="3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eaLnBrk="1" hangingPunct="1"/>
            <a:r>
              <a:rPr lang="en-GB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 4 - </a:t>
            </a:r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need to do</a:t>
            </a:r>
            <a:endParaRPr lang="en-GB" kern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8994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06347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Slide </a:t>
            </a:r>
            <a:fld id="{0791107B-2345-4607-ADE7-C5725CF4E4E6}" type="slidenum">
              <a:rPr lang="en-GB" smtClean="0"/>
              <a:pPr eaLnBrk="1" hangingPunct="1"/>
              <a:t>3</a:t>
            </a:fld>
            <a:endParaRPr lang="en-GB" dirty="0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9130" y="1752600"/>
            <a:ext cx="7391400" cy="35052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000" b="1" dirty="0" smtClean="0">
                <a:solidFill>
                  <a:srgbClr val="0000CC"/>
                </a:solidFill>
              </a:rPr>
              <a:t>Students</a:t>
            </a:r>
            <a:r>
              <a:rPr lang="en-GB" sz="3000" b="1" dirty="0">
                <a:solidFill>
                  <a:srgbClr val="0000CC"/>
                </a:solidFill>
              </a:rPr>
              <a:t>’ work is marked </a:t>
            </a:r>
            <a:r>
              <a:rPr lang="en-GB" sz="3000" b="1" dirty="0" smtClean="0">
                <a:solidFill>
                  <a:srgbClr val="0000CC"/>
                </a:solidFill>
              </a:rPr>
              <a:t>by Pearson </a:t>
            </a:r>
            <a:r>
              <a:rPr lang="en-GB" sz="3000" b="1" dirty="0">
                <a:solidFill>
                  <a:srgbClr val="0000CC"/>
                </a:solidFill>
              </a:rPr>
              <a:t>Associates grids  based on the </a:t>
            </a:r>
            <a:endParaRPr lang="en-GB" sz="3000" b="1" dirty="0" smtClean="0">
              <a:solidFill>
                <a:srgbClr val="0000CC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3000" b="1" dirty="0" smtClean="0">
                <a:solidFill>
                  <a:srgbClr val="006600"/>
                </a:solidFill>
              </a:rPr>
              <a:t>Communication and content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GB" sz="3000" b="1" dirty="0">
                <a:solidFill>
                  <a:srgbClr val="C00000"/>
                </a:solidFill>
              </a:rPr>
              <a:t>L</a:t>
            </a:r>
            <a:r>
              <a:rPr lang="en-GB" sz="3000" b="1" dirty="0" smtClean="0">
                <a:solidFill>
                  <a:srgbClr val="C00000"/>
                </a:solidFill>
              </a:rPr>
              <a:t>inguistic Knowledge </a:t>
            </a:r>
            <a:r>
              <a:rPr lang="en-GB" sz="3000" b="1" dirty="0">
                <a:solidFill>
                  <a:srgbClr val="C00000"/>
                </a:solidFill>
              </a:rPr>
              <a:t>and </a:t>
            </a:r>
            <a:r>
              <a:rPr lang="en-GB" sz="3000" b="1" dirty="0" smtClean="0">
                <a:solidFill>
                  <a:srgbClr val="C00000"/>
                </a:solidFill>
              </a:rPr>
              <a:t>Accuracy</a:t>
            </a:r>
            <a:endParaRPr lang="en-GB" sz="3000" b="1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5992" y="793532"/>
            <a:ext cx="7474016" cy="3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eaLnBrk="1" hangingPunct="1"/>
            <a:r>
              <a:rPr lang="en-GB" sz="3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Criteria</a:t>
            </a:r>
            <a:endParaRPr lang="en-GB" sz="3200" kern="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893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06347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Slide </a:t>
            </a:r>
            <a:fld id="{0791107B-2345-4607-ADE7-C5725CF4E4E6}" type="slidenum">
              <a:rPr lang="en-GB" smtClean="0"/>
              <a:pPr eaLnBrk="1" hangingPunct="1"/>
              <a:t>4</a:t>
            </a:fld>
            <a:endParaRPr lang="en-GB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5992" y="793532"/>
            <a:ext cx="7474016" cy="3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- </a:t>
            </a:r>
            <a:r>
              <a:rPr lang="en-GB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And Responses</a:t>
            </a:r>
            <a:endParaRPr lang="en-GB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984063"/>
              </p:ext>
            </p:extLst>
          </p:nvPr>
        </p:nvGraphicFramePr>
        <p:xfrm>
          <a:off x="685800" y="1676400"/>
          <a:ext cx="8534400" cy="42488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534400">
                  <a:extLst>
                    <a:ext uri="{9D8B030D-6E8A-4147-A177-3AD203B41FA5}">
                      <a16:colId xmlns:a16="http://schemas.microsoft.com/office/drawing/2014/main" val="1625817455"/>
                    </a:ext>
                  </a:extLst>
                </a:gridCol>
              </a:tblGrid>
              <a:tr h="1981200">
                <a:tc>
                  <a:txBody>
                    <a:bodyPr/>
                    <a:lstStyle/>
                    <a:p>
                      <a:pPr marL="87313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</a:t>
                      </a:r>
                      <a:r>
                        <a:rPr lang="en-GB" sz="26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1 - Foundation Tier</a:t>
                      </a:r>
                    </a:p>
                    <a:p>
                      <a:pPr marL="87313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600" dirty="0" smtClean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 </a:t>
                      </a:r>
                      <a:r>
                        <a:rPr lang="en-GB" sz="2600" dirty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2F  </a:t>
                      </a:r>
                    </a:p>
                    <a:p>
                      <a:pPr marL="87313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u="sng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r>
                        <a:rPr lang="en-GB" sz="26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 </a:t>
                      </a:r>
                      <a: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 </a:t>
                      </a:r>
                      <a:r>
                        <a:rPr lang="en-GB" sz="26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points and convey </a:t>
                      </a:r>
                      <a: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information</a:t>
                      </a:r>
                      <a:r>
                        <a:rPr lang="en-GB" sz="26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600" dirty="0">
                        <a:solidFill>
                          <a:srgbClr val="0000C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7278004"/>
                  </a:ext>
                </a:extLst>
              </a:tr>
              <a:tr h="2261348">
                <a:tc>
                  <a:txBody>
                    <a:bodyPr/>
                    <a:lstStyle/>
                    <a:p>
                      <a:pPr marL="87313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600" dirty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</a:t>
                      </a:r>
                      <a:r>
                        <a:rPr lang="en-GB" sz="26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– Foundation &amp;</a:t>
                      </a:r>
                      <a:r>
                        <a:rPr lang="en-GB" sz="2600" baseline="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2600" dirty="0" smtClean="0"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Tier</a:t>
                      </a:r>
                      <a:endParaRPr lang="en-GB" sz="2600" dirty="0">
                        <a:solidFill>
                          <a:srgbClr val="C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7313" marR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2600" dirty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 3(a)/3(b) F – Crossover question1(a)/1(b) H</a:t>
                      </a:r>
                    </a:p>
                    <a:p>
                      <a:pPr marL="87313" marR="0" indent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2600" u="sng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  <a: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</a:t>
                      </a:r>
                      <a:b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</a:t>
                      </a:r>
                      <a:r>
                        <a:rPr lang="en-GB" sz="2600" dirty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convey information, narrate and express opinion, to interest and convince</a:t>
                      </a:r>
                      <a:r>
                        <a:rPr lang="en-GB" sz="2600" dirty="0" smtClean="0">
                          <a:solidFill>
                            <a:srgbClr val="0000C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GB" sz="2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04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689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06347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/>
              <a:t>Slide </a:t>
            </a:r>
            <a:fld id="{0791107B-2345-4607-ADE7-C5725CF4E4E6}" type="slidenum">
              <a:rPr lang="en-GB" smtClean="0"/>
              <a:pPr eaLnBrk="1" hangingPunct="1"/>
              <a:t>5</a:t>
            </a:fld>
            <a:endParaRPr lang="en-GB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215992" y="793532"/>
            <a:ext cx="7474016" cy="33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Gujarati Radhika 2007" pitchFamily="2" charset="0"/>
              </a:defRPr>
            </a:lvl9pPr>
          </a:lstStyle>
          <a:p>
            <a:pPr marL="0" indent="0">
              <a:buNone/>
            </a:pPr>
            <a:r>
              <a:rPr lang="en-GB" b="1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- </a:t>
            </a:r>
            <a:r>
              <a:rPr lang="en-GB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 And Responses</a:t>
            </a:r>
            <a:endParaRPr lang="en-GB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63860"/>
              </p:ext>
            </p:extLst>
          </p:nvPr>
        </p:nvGraphicFramePr>
        <p:xfrm>
          <a:off x="838200" y="1752600"/>
          <a:ext cx="8153400" cy="3581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53400">
                  <a:extLst>
                    <a:ext uri="{9D8B030D-6E8A-4147-A177-3AD203B41FA5}">
                      <a16:colId xmlns:a16="http://schemas.microsoft.com/office/drawing/2014/main" val="1625817455"/>
                    </a:ext>
                  </a:extLst>
                </a:gridCol>
              </a:tblGrid>
              <a:tr h="3581400">
                <a:tc>
                  <a:txBody>
                    <a:bodyPr/>
                    <a:lstStyle/>
                    <a:p>
                      <a:pPr marL="87313" indent="0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GB" sz="2600" b="1" dirty="0" smtClean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3: Questions And Responses</a:t>
                      </a:r>
                      <a:endParaRPr lang="en-GB" sz="2600" dirty="0" smtClean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87313" indent="0">
                        <a:lnSpc>
                          <a:spcPct val="120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GB" sz="2600" b="1" dirty="0" smtClean="0">
                          <a:solidFill>
                            <a:srgbClr val="0066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Higher Tier:  Question 2(a)/2(b) H</a:t>
                      </a:r>
                    </a:p>
                    <a:p>
                      <a:pPr marL="87313" indent="0">
                        <a:lnSpc>
                          <a:spcPct val="120000"/>
                        </a:lnSpc>
                        <a:spcAft>
                          <a:spcPts val="700"/>
                        </a:spcAft>
                        <a:buNone/>
                      </a:pPr>
                      <a:r>
                        <a:rPr lang="en-GB" sz="2600" b="1" u="sng" dirty="0" smtClean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Purpose:</a:t>
                      </a:r>
                      <a:r>
                        <a:rPr lang="en-GB" sz="2600" b="1" dirty="0" smtClean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87313" indent="0">
                        <a:lnSpc>
                          <a:spcPct val="120000"/>
                        </a:lnSpc>
                        <a:spcAft>
                          <a:spcPts val="700"/>
                        </a:spcAft>
                        <a:buNone/>
                      </a:pPr>
                      <a:r>
                        <a:rPr lang="en-GB" sz="2600" b="1" dirty="0" smtClean="0">
                          <a:solidFill>
                            <a:srgbClr val="0000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express and justify opinions, thoughts and points of view and to narrate, inform and interest (2(a)) or convince (2 (b)). </a:t>
                      </a:r>
                      <a:r>
                        <a:rPr lang="en-GB" sz="26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GB" sz="26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304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325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Gujarati Radhika 2007"/>
        <a:ea typeface=""/>
        <a:cs typeface=""/>
      </a:majorFont>
      <a:minorFont>
        <a:latin typeface="Gujarati Radhika 2007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2709</TotalTime>
  <Words>252</Words>
  <Application>Microsoft Office PowerPoint</Application>
  <PresentationFormat>A4 Paper (210x297 mm)</PresentationFormat>
  <Paragraphs>43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Gujarati Radhika 2007</vt:lpstr>
      <vt:lpstr>Default Design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</dc:title>
  <dc:creator>-</dc:creator>
  <cp:lastModifiedBy>Mum</cp:lastModifiedBy>
  <cp:revision>717</cp:revision>
  <cp:lastPrinted>2017-08-26T17:01:56Z</cp:lastPrinted>
  <dcterms:created xsi:type="dcterms:W3CDTF">2006-02-14T11:19:14Z</dcterms:created>
  <dcterms:modified xsi:type="dcterms:W3CDTF">2025-09-02T13:55:22Z</dcterms:modified>
</cp:coreProperties>
</file>